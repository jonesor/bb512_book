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6"/>
    <p:sldId id="275" r:id="rId5"/>
    <p:sldId id="276" r:id="rId4"/>
    <p:sldId id="277" r:id="rId3"/>
    <p:sldId id="278" r:id="rId2"/>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3.xml"/><Relationship Id="rId3" Type="http://schemas.openxmlformats.org/officeDocument/2006/relationships/slide" Target="slides/slide22.xml"/><Relationship Id="rId4" Type="http://schemas.openxmlformats.org/officeDocument/2006/relationships/slide" Target="slides/slide21.xml"/><Relationship Id="rId5" Type="http://schemas.openxmlformats.org/officeDocument/2006/relationships/slide" Target="slides/slide20.xml"/><Relationship Id="rId6" Type="http://schemas.openxmlformats.org/officeDocument/2006/relationships/slide" Target="slides/slide19.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 Guiding question for today. In the exponential and logistic models every individual was identical. Real populations are made of newborns, juveniles, breeders and old individuals that survive and reproduce at very different rates.</a:t>
            </a:r>
          </a:p>
          <a:p>
            <a:r>
              <a:t>Photo: leatherback turtle (*Dermochelys coriacea*) hatchling, carried over from the previous version of the lecture (source and licence to confirm: see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One objective per section. The sea turtles, the resident killer whales and the loggerhead conservation case are the evidence we use to practise them.</a:t>
            </a:r>
          </a:p>
          <a:p>
            <a:r>
              <a:t>Reading: Neal (2004) Chapter 15, section 15.3 "Matrix models" (the course schedule lists "Neal 7", which is the chapter number in the current edition).</a:t>
            </a:r>
          </a:p>
          <a:p>
            <a:r>
              <a:t>Builds on the previous lecture (life tables: l~x~, m~x~, p~x~; same notation as Neal and lecture 05) and on geometric growth (n~t+1~ = λn~t~).</a:t>
            </a:r>
          </a:p>
          <a:p>
            <a:r>
              <a:t>After the lecture: practical "Matrix population modelling" (https://jonesor.github.io/BB512_Book/matrix-population-modelling.html), with "Pre- and post-reproduction census" and "Life Table Response Experiments" as follow-ups.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s) First: what kind of structure does a population have?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Age-based models work well when we know individuals' ages and when age itself is meaningful for the organism: survival and fecundity change predictably as individuals get older. This is the world of the life tables from the previous lecture.</a:t>
            </a:r>
          </a:p>
          <a:p>
            <a:r>
              <a:t>Illustration: Freepik ("person-different-ages-style"), carried over from the previous version; Freepik's free licence requires attribution: check before sharing the slides outside the course.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Leatherback turtle (*Dermochelys coriacea*): hatchling and adult. We cannot tell how old a turtle is by looking at it, and what matters for its survival is how big it is.</a:t>
            </a:r>
          </a:p>
          <a:p>
            <a:r>
              <a:t>Neal (2004, section 15.3) gives more examples: insects pass through stages (egg, larva, pupa, adult) whose duration depends on food, temperature and moisture; in many plants and fish reproduction depends more on size than on age, so a small plant may be a fast-growing juvenile or a stunted "adult"; some organisms reproduce both sexually and clonally, producing offspring in different stages.</a:t>
            </a:r>
          </a:p>
          <a:p>
            <a:r>
              <a:t>Photos carried over from the previous version of the lecture (sources and licences to confirm: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s) We start with age, because it links directly to last lecture's life tables.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The same cohort and the same notation as last lecture's life table (Neal's symbols plus p(x)). x is age at the start of the interval; S(x) the number of females alive at age x; l(x) = S(x)/S(0) survivorship; m(x) female offspring per female of age x; p(x) = l(x+1)/l(x), the probability of surviving from age x to x+1.</a:t>
            </a:r>
          </a:p>
          <a:p>
            <a:r>
              <a:t>Point to the two columns we need: p(x) and m(x). S(x) and l(x) are how we got p(x).</a:t>
            </a:r>
          </a:p>
          <a:p>
            <a:r>
              <a:t>Other books differ: Gotelli calls m(x) b(x) and p(x) g(x) (the previous version of this lecture used Gotelli's letters).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Each circle is an age class at the census; each arrow is what happens over one projection interval (one year). The arrow values are p(x) from the life table.</a:t>
            </a:r>
          </a:p>
          <a:p>
            <a:r>
              <a:t>Census timing matters for the next step. We assume a birth-pulse population (breeding once a year) counted just after breeding, as in Neal section 15.3.1. Nobody survives beyond age 3 here (p(3) = 0).</a:t>
            </a:r>
          </a:p>
          <a:p>
            <a:r>
              <a:t>Figure: scripts/01_leslie_diagram.R (analytical).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This is Neal's Eqn 15.8, F~i~ = m~i~P~i~, written with ages. Neal numbers the age classes i = 1, 2, 3 (class i runs from age i − 1 to i), so his P~1~ is our p~0~ and his F~1~ = m~1~P~1~ is our F~0~ = p~0~m~1~: the same numbers, shifted by one in the label.</a:t>
            </a:r>
          </a:p>
          <a:p>
            <a:r>
              <a:t>Walk through age 0: a newborn counted this census must survive its first year (0.8) to breed at age 1 (2 offspring), so on average it contributes 0.8 × 2 = 1.6 newborns to next year's census.</a:t>
            </a:r>
          </a:p>
          <a:p>
            <a:r>
              <a:t>The previous version of this lecture put m(x) (0, 2, 3, 1) straight into the top row. That delays every birth by a year and ignores parental survival: λ = 1.55 instead of the correct 2.17 (scripts/00_check_numbers.R). The practical "Pre- and post-reproduction census" (https://jonesor.github.io/BB512_Book/pre--and-post-reproduction-census.html) shows a related slip: using the wrong survival term in the fertility for the census type.</a:t>
            </a:r>
          </a:p>
          <a:p>
            <a:r>
              <a:t>With a pre-breeding census the bookkeeping changes (fertility is multiplied by the offspring's first-year survival instead), but done correctly λ is the same.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Every age class that can produce newborns by the next census gets an arrow back to age 0, including age 0 itself (a loop): newborns this year can be parents of next year's newborns.</a:t>
            </a:r>
          </a:p>
          <a:p>
            <a:r>
              <a:t>Age 3 has no outgoing arrows: these individuals have just bred (their newborns came in through the 0.25 arrow from age 2, as F(2) = p(2) m(3)) and will not survive another year.</a:t>
            </a:r>
          </a:p>
          <a:p>
            <a:r>
              <a:t>Figure: scripts/01_leslie_diagram.R (analytical).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Named after P. H. Leslie (1945); Bernardelli and Lewis developed the same idea independently in the 1940s (Neal 15.3).</a:t>
            </a:r>
          </a:p>
          <a:p>
            <a:r>
              <a:t>Rule for every matrix model (also in the practical): the arrow's starting stage gives the COLUMN, the stage it points to gives the ROW. So the column for age 0 reads: 1.6 newborns and 0.8 survivors to age 1.</a:t>
            </a:r>
          </a:p>
          <a:p>
            <a:r>
              <a:t>In an age-based (Leslie) matrix, fertilities sit in the top row and survival on the sub-diagonal (Neal's P~i~: the p(x) values from the life table, as promised in lecture 05); everything else is zero, because nobody can stay the same age or get younger.</a:t>
            </a:r>
          </a:p>
          <a:p>
            <a:r>
              <a:t>The last column is all zeros (age 3 contributes nothing). We could drop it without changing λ; it is kept here to match the diagram.</a:t>
            </a:r>
          </a:p>
          <a:p>
            <a:r>
              <a:t>Check: 6 arrows in the diagram, 6 non-zero cells. λ = 2.17 (very fast growth: an illustrative life table). This is the same cohort as last lecture, and the same answer: λ = e^r^ with r = 0.776 from the Euler–Lotka equation. The raw-m(x) matrix of the previous version (λ = 1.55) disagreed with last lecture's Euler–Lotka result.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Last lecture promised other definitions of generation time. Same cohort as before (R~0~ = Σ l(x)m(x) = 2.9; λ = 2.17 from the Leslie matrix).</a:t>
            </a:r>
          </a:p>
          <a:p>
            <a:r>
              <a:t>1. Cohort generation time (lecture 05): T~c~ = Σ x l(x)m(x) / R~0~ = 4.3 / 2.9 = 1.48 years, the mean age at which a cohort's females have their offspring.</a:t>
            </a:r>
          </a:p>
          <a:p>
            <a:r>
              <a:t>2. The time it takes the population to grow by a factor R~0~ at its long-run rate: T = ln R~0~ / ln λ = 1.065 / 0.776 = 1.37 years. (This is the matrix-model definition; R~0~ can also be calculated from the matrix itself.)</a:t>
            </a:r>
          </a:p>
          <a:p>
            <a:r>
              <a:t>3. The mean age of the mothers of this year's newborns, once the population has its stable age distribution: Ā = Σ x λ^−x^ l(x)m(x) = 1.27 years.</a:t>
            </a:r>
          </a:p>
          <a:p>
            <a:r>
              <a:t>Why they differ: in a growing population each cohort is larger than the one before, so young mothers are over-represented among this year's parents. In a stationary population (λ = 1) the three coincide. This population is growing fast, so the differences are large; for most real populations they are small.</a:t>
            </a:r>
          </a:p>
          <a:p>
            <a:r>
              <a:t>Values: scripts/00_check_numbers.R.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s) The same machinery, but the classes are stages, and individuals can stay put.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A simple three-stage life cycle. 26% of juveniles survive and become adults each year; 12% of adults survive and become post-reproductive (they no longer breed).</a:t>
            </a:r>
          </a:p>
          <a:p>
            <a:r>
              <a:t>Figure: scripts/02_stage_diagram.R (illustrative values from the previous version of the lecture).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 Only adults reproduce in this model. Vocabulary: demographers call this matrix entry fertility (Neal: fertility coefficient); the practical uses the everyday word fecundity for the same thing. As in the age-based model, the fertility value is per individual per projection interval, and includes whatever survival is needed for offspring to be counted at the next census.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The loops are survival without moving on: 14% of juveniles survive and stay juvenile, and so on.</a:t>
            </a:r>
          </a:p>
          <a:p>
            <a:r>
              <a:t>Survival out of a stage is the sum of its non-fertility arrows, and cannot exceed 1: juveniles 0.14 + 0.26 = 0.40, adults 0.32 + 0.12 = 0.44, post-reproductive 0.18. Fertility does not count towards this total, because newborns are added rather than being a fate of the parent.</a:t>
            </a:r>
          </a:p>
          <a:p>
            <a:r>
              <a:t>Other possible transitions (not here): skipping a stage, or moving backwards (shrinking, e.g. plants after damage, or "regression").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Give pairs about 90 seconds. Ask: how many non-zero cells should you have? (7, one per arrow.)</a:t>
            </a:r>
          </a:p>
          <a:p>
            <a:r>
              <a:t>Common errors to look for: transposing the matrix (rows = from), and putting 4.55 in the adult row instead of the juvenile row.</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Stage-classified matrices are often called Lefkovitch matrices (after L. P. Lefkovitch, 1965), to distinguish them from age-based Leslie matrices. The algebra is the same; only the pattern of non-zero cells differs: here there are values on the diagonal (stasis).</a:t>
            </a:r>
          </a:p>
          <a:p>
            <a:r>
              <a:t>Neal's Fig. 15.1 / Table 15.3 show the same structure for a plant (dormant seeds, immature, mature) with both sexual and clonal reproduction.</a:t>
            </a:r>
          </a:p>
          <a:p>
            <a:r>
              <a:t>Interesting aside for discussion: the post-reproductive stage never contributes to future population growth (no arrows leave it except its own loop), so in this model it does not affect λ at all. We will meet the same thing in killer whales. (The practical's example organism has a 'senescent' stage that does still reproduce: different life histories, same rules.)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A matrix population model (MPM) describes a life cycle mathematically. It works for almost any life cycle: animals and plants, age-based, stage-based or a mixture (e.g. stages for juveniles, ages for adults).</a:t>
            </a:r>
          </a:p>
          <a:p>
            <a:r>
              <a:t>To be complete it needs a projection interval (the time step, usually one year), and a census time relative to breeding.</a:t>
            </a:r>
          </a:p>
          <a:p>
            <a:r>
              <a:t>Thousands of published MPMs are collected in the COMPADRE (plants) and COMADRE (animals) databases.</a:t>
            </a:r>
          </a:p>
          <a:p>
            <a:r>
              <a:t>Photos (sea turtle, tree ferns, Atlantic cod) carried over from the previous version of the lecture (sources to confirm: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s) What will the population size and structure be next year, and in the long run?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n~t~ is a column vector: the number of individuals in each stage at time t.</a:t>
            </a:r>
          </a:p>
          <a:p>
            <a:r>
              <a:t>Link back to the geometric growth lecture: there, a single λ multiplied a single number. Here a matrix multiplies a vector. We will see that in the long run the two become the same thing.</a:t>
            </a:r>
          </a:p>
          <a:p>
            <a:r>
              <a:t>Matrix multiplication is not commutative: n~t~ × A is not even defined for a column vector.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Work through the juvenile row together: go along the row of A and down the vector, multiply pairs and add. Most next-year juveniles (227.5 of 241.5) are newborns from adults.</a:t>
            </a:r>
          </a:p>
          <a:p>
            <a:r>
              <a:t>Give students a minute for the other two rows before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Each row tells us how many individuals enter that stage next year, and from where. Total: 170 now, 293.1 next year. Repeat the multiplication with the new vector to project further: R does this with `A %*% n` (the practical uses popdemo::project()).</a:t>
            </a:r>
          </a:p>
          <a:p>
            <a:r>
              <a:t>Fractions of individuals are fine: the model tracks expected numbers.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Context before the model. Resident (fish-eating) killer whales live in stable family groups (pods). Bigg and colleagues began a photo-identification census in 1973: every individual is recognised from its dorsal fin and saddle patch, so births and deaths are known almost exactly. Brault &amp; Caswell (1993, *Ecology* 74: 1444–1454) used the 1973–1987 data for 18 pods of the northern and southern resident populations.</a:t>
            </a:r>
          </a:p>
          <a:p>
            <a:r>
              <a:t>The model follows females only, in four stages: yearlings, juveniles, mature (reproductive) females and post-reproductive females. It is the worked example in Caswell's textbook (Caswell 2001, Example 5.1).</a:t>
            </a:r>
          </a:p>
          <a:p>
            <a:r>
              <a:t>PHOTO PLACEHOLDER: drop in a photograph of resident killer whales (e.g. from Wikimedia Commons; downloads were blocked when the deck was built) and add the credit here.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Yearlings all become juveniles (0.98 survive). Juveniles stay juvenile (0.91) or mature (0.07); mature females stay mature (0.95) or become post-reproductive (0.05); post-reproductive females stay post-reproductive (0.98). Annual survival is very high in every stage.</a:t>
            </a:r>
          </a:p>
          <a:p>
            <a:r>
              <a:t>Fertility: 0.11 female yearlings per mature female per year, roughly one daughter every nine years. The tiny juvenile fertility (0.004) is a bookkeeping detail: a few juveniles mature and give birth within the same year.</a:t>
            </a:r>
          </a:p>
          <a:p>
            <a:r>
              <a:t>Post-reproductive females have no arrow back to yearlings. Ask: what will that mean for their effect on λ? (Answer coming in the hidden elasticity slide, or ask it now.)</a:t>
            </a:r>
          </a:p>
          <a:p>
            <a:r>
              <a:t>Figure: scripts/03_whale_diagram.R (empirical matrix).</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HIDDEN by default to keep to 45 minutes. Left: the matrix written with Neal's symbols (Fig. 15.1, Table 15.3): P = probability of surviving and staying in a stage, G = probability of surviving and growing to the next stage, F = fertility. So G~Y~ is yearlings surviving to become juveniles (column = from, row = to), P~J~ is juveniles staying juvenile, and F~M~ is the fertility of mature females. Crouse et al. use the same letters for the loggerhead. Right: the published values (Brault &amp; Caswell 1993, Eqn 2).</a:t>
            </a:r>
          </a:p>
          <a:p>
            <a:r>
              <a:t>Ask: why is the last column all zeros except the diagonal? (Post-reproductive females only survive; they produce nobody and move nowhere.)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Left: starting with 100 yearlings only; right: 25 in every stage. Early on the two look completely different (transient dynamics): from yearlings, there are no mature females for several years, so births collapse and the yearling line crashes. Eventually the lines become straight and parallel on the log scale: every stage grows at the same constant rate, so the proportions in each stage stop changing. (This is practical question 1: straight on a log scale means exponential growth; parallel means the same rate in every stage.)</a:t>
            </a:r>
          </a:p>
          <a:p>
            <a:r>
              <a:t>How long that takes depends on the life history. Here it is slow: within 5% of the stable structure after about 11 years from the even start, but about 40 years from yearlings only (scripts/00_check_numbers.R). Long-lived species with high survival take decades to settle, so transients matter for real conservation problems, such as recovery after a die-off or a reintroduction.</a:t>
            </a:r>
          </a:p>
          <a:p>
            <a:r>
              <a:t>Figure: scripts/04_whale_projection.R (analytical, no randomness).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Once the stage structure has settled, **A**n~t~ = λn~t~: the matrix model behaves exactly like geometric growth from lecture 3. λ is the largest (dominant) eigenvalue of **A**; R calculates it (eigen(), or popdemo::eigs() in the practical).</a:t>
            </a:r>
          </a:p>
          <a:p>
            <a:r>
              <a:t>Value: 1.0254, as published by Brault &amp; Caswell (1993), who also report a bootstrap 90% confidence interval of 1.018 to 1.032 (scripts/00_check_numbers.R reproduces 1.0254). λ &gt; 1: growth; λ = 1: stable; λ &lt; 1: decline.</a:t>
            </a:r>
          </a:p>
          <a:p>
            <a:r>
              <a:t>In R (as in the practical): popdemo::eigs(A, "lambda").</a:t>
            </a:r>
          </a:p>
          <a:p>
            <a:r>
              <a:t>A projection is not a forecast: λ describes the 1973–1987 vital rates. Since then the Southern Resident population has declined; it was listed as endangered in Canada in 2001 and under the US Endangered Species Act in 2005 (74 whales in July 2025; US Marine Mammal Commission).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Stable stage distribution (SSD): 4% yearlings, 32% juveniles, 32% mature females, 32% post-reproductive females. This is what both projections converged to. It is the eigenvector that goes with λ, scaled to sum to 1. Like λ, it depends only on the matrix, not on the starting population.</a:t>
            </a:r>
          </a:p>
          <a:p>
            <a:r>
              <a:t>Why so few yearlings? Females have about one daughter every nine years, and the yearling stage lasts only one year. Why so many post-reproductive females? They survive well (0.98 per year) and stay in that stage for decades.</a:t>
            </a:r>
          </a:p>
          <a:p>
            <a:r>
              <a:t>Practical use: if an observed population is far from its SSD, expect transient dynamics; the stable distribution is also a check on whether the model resembles the real population.</a:t>
            </a:r>
          </a:p>
          <a:p>
            <a:r>
              <a:t>(The same calculation for the age-based model gives the stable age distribution; Neal 15.3.2.)</a:t>
            </a:r>
          </a:p>
          <a:p>
            <a:r>
              <a:t>Figure: scripts/05_whale_ssd.R.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So far the matrix was the same every year. Real environments vary: good and bad years change survival and breeding. In a stochastic projection we draw a matrix at random each year (e.g. from matrices estimated in good, average and bad years), and multiply as before.</a:t>
            </a:r>
          </a:p>
          <a:p>
            <a:r>
              <a:t>What it gives: the stochastic growth rate λ~s~ (the long-run average growth rate on a log scale), which is usually lower than the λ of the average matrix, because bad years hurt more than good years help; and the probability of falling below a threshold within a given time (extinction risk), from many replicate runs.</a:t>
            </a:r>
          </a:p>
          <a:p>
            <a:r>
              <a:t>Links to the practicals "Stochastic population growth" (https://jonesor.github.io/BB512_Book/stochastic-population-growth.html) and "Matrix Population Models: projection and simulation".</a:t>
            </a:r>
          </a:p>
          <a:p>
            <a:r>
              <a:t>Correction from the previous version: the slide showed n~t~ × A; it is **A**~t~ × n~t~.</a:t>
            </a:r>
          </a:p>
          <a:p>
            <a:r>
              <a:t>Icons carried over from the previous version.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s) Sensitivity, elasticity and in silico experiments.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λ depends on every element of the matrix, but not equally. If we could change one transition a little, which would change λ most?</a:t>
            </a:r>
          </a:p>
          <a:p>
            <a:r>
              <a:t>The same question has an evolutionary reading: λ is a measure of fitness (when growth is density-independent), so transitions to which λ is most sensitive are where selection is expected to act most strongly (next lecture: life-history evolution).</a:t>
            </a:r>
          </a:p>
          <a:p>
            <a:r>
              <a:t>Photo: loggerhead turtle (*Caretta caretta*), Wikimedia Commons "Loggerhead sea turtle.jpg" (author and licence to confirm: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A hypothetical example, with λ = 1.00 now.</a:t>
            </a:r>
          </a:p>
          <a:p>
            <a:r>
              <a:t>Sensitivity: give each element the same absolute nudge (+0.01). Juvenile survival 0.20 → 0.21 raises λ by 0.005 (sensitivity 0.5); adult survival 0.80 → 0.81 raises it by 0.010 (sensitivity 1.0).</a:t>
            </a:r>
          </a:p>
          <a:p>
            <a:r>
              <a:t>But +0.01 is a 5% increase for juveniles and only 1.25% for adults. Elasticity instead gives each element the same percentage nudge. +5%: juveniles 0.20 → 0.21 gives λ +0.5%; adults 0.80 → 0.84 gives λ +4%. Elasticity = % change in λ / % change in the element: 0.5/5 = 0.10 and 4/5 = 0.80. (Equivalently, elasticity = sensitivity × element / λ: 0.5 × 0.20 / 1 = 0.10; 1.0 × 0.80 / 1 = 0.80.)</a:t>
            </a:r>
          </a:p>
          <a:p>
            <a:r>
              <a:t>Because elasticities of all matrix elements sum to 1, each can be read as that transition's share of the influence on λ. This summing to 1 is a property of λ elasticities; it is not how they are calculated.</a:t>
            </a:r>
          </a:p>
          <a:p>
            <a:r>
              <a:t>A high elasticity says λ responds strongly to that transition; it does not say the transition is easy or cheap to change.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HIDDEN by default to keep to 45 minutes; show it if time allows, as a gentle 4 × 4 introduction before the 7 × 7 loggerhead matrix. Elasticities of λ to each element of the killer whale matrix, laid out like the matrix (columns from, rows to). Blank cells are zero in the matrix.</a:t>
            </a:r>
          </a:p>
          <a:p>
            <a:r>
              <a:t>Survival dominates: mature females staying alive and mature (0.54) and juveniles staying alive (0.34). Fertility contributes only 0.04. This is what Brault &amp; Caswell (1993) concluded, and is typical of long-lived species: because survival is close to 1, even small proportional declines in survival have large effects on λ.</a:t>
            </a:r>
          </a:p>
          <a:p>
            <a:r>
              <a:t>Post-reproductive females have zero elasticity: in this model they contribute nothing to future growth (zero reproductive value). Ask: does that mean they do not matter? Brault &amp; Caswell themselves point out their likely social roles (helping to raise others' young, remembering where to find food); a model that tracks only births and deaths cannot see this.</a:t>
            </a:r>
          </a:p>
          <a:p>
            <a:r>
              <a:t>Note that yearling → juvenile, juvenile → mature and mature fertility all come out at about 0.04: they lie on the same loop through the life cycle (yearling → juvenile → mature → back to yearling), and every element of a loop gets the same share of elasticity (van Groenendael et al. 1994). Yearling → juvenile is slightly higher (0.043) because it also lies on the small loop through juvenile fertility.</a:t>
            </a:r>
          </a:p>
          <a:p>
            <a:r>
              <a:t>Figure: scripts/06_whale_elasticity.R (analytical; elasticities sum to 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Context before the data. Crouse, D. T., Crowder, L. B. &amp; Caswell, H. (1987) A stage-based population model for loggerhead sea turtles and implications for conservation. *Ecology* 68: 1412–1423. They built a stage-classified matrix from Frazer's (1983) life table for loggerheads on Little Cumberland Island, Georgia.</a:t>
            </a:r>
          </a:p>
          <a:p>
            <a:r>
              <a:t>Seven stages: eggs and hatchlings, small juveniles, large juveniles, subadults, novice breeders, first-year remigrants, mature breeders. Females lay many eggs (fertility 127 for novice breeders, 80 for mature breeders) but mature only after about 20 years or more.</a:t>
            </a:r>
          </a:p>
          <a:p>
            <a:r>
              <a:t>λ = 0.945 (r = ln λ = −0.057). Management at the time concentrated on the most visible mortality: eggs and hatchlings on the beaches.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Show of hands. Many choose A: eggs and hatchlings suffer the highest mortality, and beaches are where people see turtles.</a:t>
            </a:r>
          </a:p>
          <a:p>
            <a:r>
              <a:t>Then: what would elasticity analysis tell us?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Left: the loggerhead projection matrix A (Crouse et al. 1987, rounded to 2 decimals). Right: the elasticity matrix E, one elasticity per matrix element, in the same positions. Zeros in A always have zero elasticity.</a:t>
            </a:r>
          </a:p>
          <a:p>
            <a:r>
              <a:t>Ask students, in pairs, for 30 seconds: which three elements of E are biggest? And where are the biggest numbers in A? Do they match?</a:t>
            </a:r>
          </a:p>
          <a:p>
            <a:r>
              <a:t>Stage codes: E eggs and hatchlings, SJ small juveniles, LJ large juveniles, SA subadults, NB novice breeders, R first-year remigrants, MB mature breeders.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Reveal. Largest elasticities: mature breeders staying alive (0.23), small juveniles staying (0.18), subadults staying (0.14) and large juveniles staying (0.12); together 0.67 of the total of 1. The growth transitions on the sub-diagonal are 0.05 each (eggs to small juveniles included).</a:t>
            </a:r>
          </a:p>
          <a:p>
            <a:r>
              <a:t>The biggest numbers in A are the fecundities (127 and 80 eggs), yet their elasticities are only 0.01 and 0.04: a 1% increase in egg production gives almost no change in λ. Elasticity is about proportional change, so a large number in A does not mean a large influence on λ.</a:t>
            </a:r>
          </a:p>
          <a:p>
            <a:r>
              <a:t>This is the same message as the bar chart on the next slide, which sums each column of E by stage and type of transition.</a:t>
            </a:r>
          </a:p>
          <a:p>
            <a:r>
              <a:t>Values: scripts/00_check_numbers.R.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The elasticity matrix summarised by stage. Elasticities from the published Crouse et al. (1987) matrix (recalculated: scripts/07_crouse_elasticity.R; λ = 0.945 matches the paper). Each bar is one stage, split into staying, growing and reproducing.</a:t>
            </a:r>
          </a:p>
          <a:p>
            <a:r>
              <a:t>Eggs and hatchlings: 0.05. Small juveniles 0.23, large juveniles 0.17, subadults 0.19 (0.59 together); mature breeders 0.27, the most elastic single stage. The largest single element is mature breeders staying alive (0.23), then small juveniles staying (0.18). All three breeding stages together: 0.36. Fecundity elasticities are tiny (0.01 to 0.04).</a:t>
            </a:r>
          </a:p>
          <a:p>
            <a:r>
              <a:t>So "what matters most" depends on how you group: element by element and stage by stage it is adult survival; summed over the long juvenile period (about 20 years in three stages) it is juvenile and subadult survival.</a:t>
            </a:r>
          </a:p>
          <a:p>
            <a:r>
              <a:t>Their abstract: "Current management practices appear to be focused on the least responsive life stage, eggs on nesting beaches. Alternative protection efforts for juvenile loggerheads, such as using turtle excluder devices (TEDs), may be far more effective."</a:t>
            </a:r>
          </a:p>
          <a:p>
            <a:r>
              <a:t>This replaces the screenshots of the paper in the previous version of the lecture.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An in silico experiment: change the matrix to represent a management action and ask what happens to λ (or other properties). Here, as in Crouse et al. (1987): halve the annual mortality of one stage at a time (e.g. large-juvenile survival 0.676 → 0.838), and recalculate that stage's "stay" and "grow" entries from its new survival and its duration in years.</a:t>
            </a:r>
          </a:p>
          <a:p>
            <a:r>
              <a:t>Results (scripts/08_crouse_in_silico.R): eggs and hatchlings 0.956; small juveniles 0.994; large juveniles 1.044; subadults 0.998; novice breeders and remigrants 0.949; mature breeders 0.979. Even making egg survival perfect (gold circle) only gives 0.965: the population still declines.</a:t>
            </a:r>
          </a:p>
          <a:p>
            <a:r>
              <a:t>Halving large-juvenile mortality is the only single change that turns decline into growth, and large juveniles are the stage drowned in shrimp trawls. TEDs became required in US shrimp trawls from 1989 onwards; Crowder et al. (1994, *Ecological Applications*) extended the analysis to predict their effect.</a:t>
            </a:r>
          </a:p>
          <a:p>
            <a:r>
              <a:t>Why does this ranking differ from the elasticities, where adult survival was the largest single element? Elasticity compares small, equal proportional changes. Halving mortality is a large change, and not an equal one: large juveniles die at 32% a year and mature breeders at 19%, so halving mortality raises large-juvenile survival by about 24% (0.676 → 0.838) but mature survival by only 12% (0.809 → 0.905).</a:t>
            </a:r>
          </a:p>
          <a:p>
            <a:r>
              <a:t>Why recalculate rather than just scale the matrix entries? Large juveniles spend about 8 years in their stage. Higher survival raises the chance of staying alive long enough to grow out of it, so the "grow" entry rises proportionally more than the "stay" entry. (Rebuilding the matrix from Crouse et al.'s stage survivals and durations reproduces their published matrix to 4 decimal places.)</a:t>
            </a:r>
          </a:p>
          <a:p>
            <a:r>
              <a:t>In the practical you will run your own "what if" experiments: predict, change the matrix, compare λ, explain.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HIDDEN: an optional contrast with the two long-lived species. Red foxes breed in their first year, have litters of several cubs, and rarely live more than a few years: annual survival is only about 0.5 at every age.</a:t>
            </a:r>
          </a:p>
          <a:p>
            <a:r>
              <a:t>The matrix is age-based (a Leslie matrix with a final 3+ class that can stay put), from the review by Devenish-Nelson, Harris, Soulsbury, Richards &amp; Stephens (2013) *Oikos* 122: 705–716, "Demography of a carnivore, the red fox: what have we learnt from 70 years of published studies?". Only 8 of the 56 populations they reviewed had enough data for a matrix model; this is the mean matrix for urban foxes in Bristol (as stored in COMADRE).</a:t>
            </a:r>
          </a:p>
          <a:p>
            <a:r>
              <a:t>Post-breeding census: the age-0 loop (0.55) is cubs counted this year that survive and breed next year, as in the Leslie example earlier.</a:t>
            </a:r>
          </a:p>
          <a:p>
            <a:r>
              <a:t>λ = 1.14. This population converges to its stable age distribution within about 3 years (damping ratio 5.3), compared with decades for the killer whale.</a:t>
            </a:r>
          </a:p>
          <a:p>
            <a:r>
              <a:t>Figure: scripts/09_fox_diagram.R.</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HIDDEN. Same layout as the loggerhead slides: projection matrix A on the left, elasticity matrix E on the right.</a:t>
            </a:r>
          </a:p>
          <a:p>
            <a:r>
              <a:t>Ask students to compare with the loggerhead: where are the big elasticities now? Answer: in the top row (reproduction, 0.25 + 0.15 + 0.06 + 0.06 = 0.51 in total) and in first-year survival (0.27). Survival of older foxes (0.12, 0.06, 0.05) matters much less. This matches the paper's conclusion that survival and fecundity of the youngest age class contribute most to population growth.</a:t>
            </a:r>
          </a:p>
          <a:p>
            <a:r>
              <a:t>Values: scripts/00_check_numbers.R.</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HIDDEN. Total elasticity of λ split three ways for each species: reproduction (fertility elements), survival before breeding age, and survival of breeders (including post-reproductive whales).</a:t>
            </a:r>
          </a:p>
          <a:p>
            <a:r>
              <a:t>Fox (fast): reproduction 0.51, pre-breeding survival 0.27, breeders 0.22. Loggerhead (slow, late maturity): reproduction 0.05, pre-breeding survival 0.64, breeders 0.31. Killer whale (slow): reproduction 0.04, pre-breeding survival 0.42, breeders 0.54.</a:t>
            </a:r>
          </a:p>
          <a:p>
            <a:r>
              <a:t>Generation time (T = ln R~0~ / ln λ, as on the generation-time slide): fox about 2 years, loggerhead about 18 years, killer whale about 28 years. General pattern (e.g. Heppell, Caswell &amp; Crowder 2000; Sæther &amp; Bakke 2000): in fast life histories λ is most elastic to reproduction and early survival; in slow ones to adult (or late juvenile) survival. This is why management advice differs between species, and it leads into next lecture on the evolution of life histories.</a:t>
            </a:r>
          </a:p>
          <a:p>
            <a:r>
              <a:t>Figure: scripts/10_life_history_contrast.R (analytical, from the three published matrices).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These are close to the assumptions of the geometric growth model, plus the structure-specific ones. Under them, the population eventually grows (or declines) exponentially at rate λ with a stable stage distribution: that is a consequence of the assumptions, not an assumption (the previous version listed it as one).</a:t>
            </a:r>
          </a:p>
          <a:p>
            <a:r>
              <a:t>None is a fundamental limitation of matrix models: stochastic models relax the first (section 04), density-dependent matrices the second, multi-site models the third, and finer stage classes or integral projection models the fourth.</a:t>
            </a:r>
          </a:p>
          <a:p>
            <a:r>
              <a:t>Practical question 3 asks for these assumptions.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One point per section. "MPMs are exponential growth models on steroids."</a:t>
            </a:r>
          </a:p>
          <a:p>
            <a:r>
              <a:t>Reading: Neal (2004) Chapter 15, section 15.3 (schedule: "Neal 7" in the current edition).</a:t>
            </a:r>
          </a:p>
          <a:p>
            <a:r>
              <a:t>Practicals: https://jonesor.github.io/BB512_Book/matrix-population-modelling.html ; https://jonesor.github.io/BB512_Book/pre--and-post-reproduction-census.html ; https://jonesor.github.io/BB512_Book/life-table-response-experiments.html</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 Previews the practical "Matrix population modelling": https://jonesor.github.io/BB512_Book/matrix-population-modelling.html</a:t>
            </a:r>
          </a:p>
          <a:p>
            <a:r>
              <a:t>The bullets follow the practical's sections in order: life cycle diagram and sanity checks; projection ("Does the starting population matter?"); growth rate and stable stage distribution; elasticity; in silico experiments; the evolutionary experiment, which treats λ as fitness (valid here because growth is density-independent).</a:t>
            </a:r>
          </a:p>
          <a:p>
            <a:r>
              <a:t>The practical uses the popdemo package (project(), eigs(), elas()). Any organism, real or fantasy, plant or animal. Sanity checks: survival out of a stage ≤ 1; one arrow per non-zero cell.</a:t>
            </a:r>
          </a:p>
          <a:p>
            <a:r>
              <a:t>LTRE (practical: https://jonesor.github.io/BB512_Book/life-table-response-experiments.html): compares two matrices (e.g. two sites or treatments) and splits the difference in λ into contributions from each transition, roughly (difference in the element) × (sensitivity).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Image"/>
          <p:cNvSpPr/>
          <p:nvPr>
            <p:ph type="pic" idx="100" hasCustomPrompt="1"/>
          </p:nvPr>
        </p:nvSpPr>
        <p:spPr>
          <a:xfrm>
            <a:off x="7223760" y="0"/>
            <a:ext cx="4967935" cy="6858000"/>
          </a:xfrm>
          <a:prstGeom prst="rect">
            <a:avLst/>
          </a:prstGeom>
          <a:noFill/>
          <a:ln/>
        </p:spPr>
        <p:txBody>
          <a:bodyPr wrap="square" rtlCol="0"/>
          <a:lstStyle>
            <a:lvl1pPr indent="0" marL="0">
              <a:buNone/>
              <a:defRPr lang="en-US" dirty="0">
                <a:solidFill>
                  <a:schemeClr val="accent6"/>
                </a:solidFill>
              </a:defRPr>
            </a:lvl1pPr>
          </a:lstStyle>
          <a:p>
            <a:pPr indent="0" marL="0">
              <a:buNone/>
            </a:pPr>
            <a:r>
              <a:rPr lang="en-US" dirty="0">
                <a:solidFill>
                  <a:schemeClr val="accent6"/>
                </a:solidFill>
              </a:rPr>
              <a:t>Drop image here</a:t>
            </a:r>
            <a:endParaRPr lang="en-US" dirty="0"/>
          </a:p>
        </p:txBody>
      </p:sp>
      <p:sp>
        <p:nvSpPr>
          <p:cNvPr id="3" name="Label"/>
          <p:cNvSpPr txBox="1"/>
          <p:nvPr/>
        </p:nvSpPr>
        <p:spPr>
          <a:xfrm>
            <a:off x="731520" y="960120"/>
            <a:ext cx="6035040" cy="320040"/>
          </a:xfrm>
          <a:prstGeom prst="rect">
            <a:avLst/>
          </a:prstGeom>
          <a:noFill/>
          <a:ln/>
        </p:spPr>
        <p:txBody>
          <a:bodyPr wrap="square" lIns="0" tIns="0" rIns="0" bIns="0" rtlCol="0" anchor="t"/>
          <a:lstStyle/>
          <a:p>
            <a:pPr algn="l" indent="0" marL="0">
              <a:buNone/>
            </a:pPr>
            <a:r>
              <a:rPr lang="en-US" sz="1400" b="1" spc="300" kern="0" dirty="0">
                <a:solidFill>
                  <a:schemeClr val="accent2"/>
                </a:solidFill>
                <a:latin typeface="Avenir Next" pitchFamily="34" charset="0"/>
                <a:ea typeface="Avenir Next" pitchFamily="34" charset="-122"/>
                <a:cs typeface="Avenir Next" pitchFamily="34" charset="-120"/>
              </a:rPr>
              <a:t>BB512</a:t>
            </a:r>
            <a:endParaRPr lang="en-US" sz="1400" dirty="0"/>
          </a:p>
        </p:txBody>
      </p:sp>
      <p:sp>
        <p:nvSpPr>
          <p:cNvPr id="4" name="Label 2"/>
          <p:cNvSpPr txBox="1"/>
          <p:nvPr/>
        </p:nvSpPr>
        <p:spPr>
          <a:xfrm>
            <a:off x="731520" y="1325880"/>
            <a:ext cx="6035040" cy="640080"/>
          </a:xfrm>
          <a:prstGeom prst="rect">
            <a:avLst/>
          </a:prstGeom>
          <a:noFill/>
          <a:ln/>
        </p:spPr>
        <p:txBody>
          <a:bodyPr wrap="square" lIns="0" tIns="0" rIns="0" bIns="0" rtlCol="0" anchor="t"/>
          <a:lstStyle/>
          <a:p>
            <a:pPr algn="l" indent="0" marL="0">
              <a:buNone/>
            </a:pPr>
            <a:r>
              <a:rPr lang="en-US" sz="1400" b="1" spc="300" kern="0" dirty="0">
                <a:solidFill>
                  <a:srgbClr val="9DB8AC"/>
                </a:solidFill>
                <a:latin typeface="Avenir Next" pitchFamily="34" charset="0"/>
                <a:ea typeface="Avenir Next" pitchFamily="34" charset="-122"/>
                <a:cs typeface="Avenir Next" pitchFamily="34" charset="-120"/>
              </a:rPr>
              <a:t>POPULATION BIOLOGY AND EVOLUTION</a:t>
            </a:r>
            <a:endParaRPr lang="en-US" sz="1400" dirty="0"/>
          </a:p>
        </p:txBody>
      </p:sp>
      <p:sp>
        <p:nvSpPr>
          <p:cNvPr id="5" name="Title Large"/>
          <p:cNvSpPr/>
          <p:nvPr>
            <p:ph idx="103" type="title" hasCustomPrompt="1"/>
          </p:nvPr>
        </p:nvSpPr>
        <p:spPr>
          <a:xfrm>
            <a:off x="731520" y="1920240"/>
            <a:ext cx="5943600" cy="2377440"/>
          </a:xfrm>
          <a:prstGeom prst="rect">
            <a:avLst/>
          </a:prstGeom>
          <a:noFill/>
          <a:ln/>
        </p:spPr>
        <p:txBody>
          <a:bodyPr wrap="square" rtlCol="0"/>
          <a:lstStyle>
            <a:lvl1pPr algn="l" indent="0" marL="0">
              <a:buNone/>
              <a:defRPr lang="en-US" sz="5200" b="1" dirty="0">
                <a:solidFill>
                  <a:schemeClr val="bg1"/>
                </a:solidFill>
                <a:latin typeface="Avenir Next" pitchFamily="34" charset="0"/>
                <a:ea typeface="Avenir Next" pitchFamily="34" charset="-122"/>
                <a:cs typeface="Avenir Next" pitchFamily="34" charset="-120"/>
              </a:defRPr>
            </a:lvl1pPr>
          </a:lstStyle>
          <a:p>
            <a:pPr algn="l" indent="0" marL="0">
              <a:buNone/>
            </a:pPr>
            <a:r>
              <a:rPr lang="en-US" sz="5200" b="1" dirty="0">
                <a:solidFill>
                  <a:schemeClr val="bg1"/>
                </a:solidFill>
                <a:latin typeface="Avenir Next" pitchFamily="34" charset="0"/>
                <a:ea typeface="Avenir Next" pitchFamily="34" charset="-122"/>
                <a:cs typeface="Avenir Next" pitchFamily="34" charset="-120"/>
              </a:rPr>
              <a:t>Lecture title</a:t>
            </a:r>
            <a:endParaRPr lang="en-US" sz="5200" dirty="0"/>
          </a:p>
        </p:txBody>
      </p:sp>
      <p:sp>
        <p:nvSpPr>
          <p:cNvPr id="6" name="Subtitle"/>
          <p:cNvSpPr/>
          <p:nvPr>
            <p:ph idx="104" type="body" hasCustomPrompt="1"/>
          </p:nvPr>
        </p:nvSpPr>
        <p:spPr>
          <a:xfrm>
            <a:off x="731520" y="4526280"/>
            <a:ext cx="5943600" cy="868680"/>
          </a:xfrm>
          <a:prstGeom prst="rect">
            <a:avLst/>
          </a:prstGeom>
          <a:noFill/>
          <a:ln/>
        </p:spPr>
        <p:txBody>
          <a:bodyPr wrap="square" rtlCol="0"/>
          <a:lstStyle>
            <a:lvl1pPr algn="l" indent="0" marL="0">
              <a:buNone/>
              <a:defRPr lang="en-US" sz="2400" dirty="0">
                <a:solidFill>
                  <a:srgbClr val="D9E4DD"/>
                </a:solidFill>
                <a:latin typeface="Avenir Next" pitchFamily="34" charset="0"/>
                <a:ea typeface="Avenir Next" pitchFamily="34" charset="-122"/>
                <a:cs typeface="Avenir Next" pitchFamily="34" charset="-120"/>
              </a:defRPr>
            </a:lvl1pPr>
          </a:lstStyle>
          <a:p>
            <a:pPr algn="l" indent="0" marL="0">
              <a:buNone/>
            </a:pPr>
            <a:r>
              <a:rPr lang="en-US" sz="2400" dirty="0">
                <a:solidFill>
                  <a:srgbClr val="D9E4DD"/>
                </a:solidFill>
                <a:latin typeface="Avenir Next" pitchFamily="34" charset="0"/>
                <a:ea typeface="Avenir Next" pitchFamily="34" charset="-122"/>
                <a:cs typeface="Avenir Next" pitchFamily="34" charset="-120"/>
              </a:rPr>
              <a:t>Subtitle or guiding question</a:t>
            </a:r>
            <a:endParaRPr lang="en-US" sz="2400" dirty="0"/>
          </a:p>
        </p:txBody>
      </p:sp>
      <p:sp>
        <p:nvSpPr>
          <p:cNvPr id="7" name="Caption"/>
          <p:cNvSpPr txBox="1"/>
          <p:nvPr/>
        </p:nvSpPr>
        <p:spPr>
          <a:xfrm>
            <a:off x="731520" y="5897880"/>
            <a:ext cx="6035040" cy="411480"/>
          </a:xfrm>
          <a:prstGeom prst="rect">
            <a:avLst/>
          </a:prstGeom>
          <a:noFill/>
          <a:ln/>
        </p:spPr>
        <p:txBody>
          <a:bodyPr wrap="square" lIns="0" tIns="0" rIns="0" bIns="0" rtlCol="0" anchor="t"/>
          <a:lstStyle/>
          <a:p>
            <a:pPr algn="l" indent="0" marL="0">
              <a:buNone/>
            </a:pPr>
            <a:r>
              <a:rPr lang="en-US" sz="1400" dirty="0">
                <a:solidFill>
                  <a:srgbClr val="9DB8AC"/>
                </a:solidFill>
                <a:latin typeface="Avenir Next" pitchFamily="34" charset="0"/>
                <a:ea typeface="Avenir Next" pitchFamily="34" charset="-122"/>
                <a:cs typeface="Avenir Next" pitchFamily="34" charset="-120"/>
              </a:rPr>
              <a:t>Owen Jones · Population Biology Group, SDU</a:t>
            </a: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Shape 0"/>
          <p:cNvSpPr/>
          <p:nvPr/>
        </p:nvSpPr>
        <p:spPr>
          <a:xfrm>
            <a:off x="292608" y="292608"/>
            <a:ext cx="11606479" cy="6272784"/>
          </a:xfrm>
          <a:prstGeom prst="rect">
            <a:avLst/>
          </a:prstGeom>
          <a:ln w="9525">
            <a:solidFill>
              <a:srgbClr val="5F8A7B"/>
            </a:solidFill>
            <a:prstDash val="solid"/>
          </a:ln>
        </p:spPr>
      </p:sp>
      <p:sp>
        <p:nvSpPr>
          <p:cNvPr id="3" name="Label"/>
          <p:cNvSpPr txBox="1"/>
          <p:nvPr/>
        </p:nvSpPr>
        <p:spPr>
          <a:xfrm>
            <a:off x="731520" y="1325880"/>
            <a:ext cx="2743200" cy="320040"/>
          </a:xfrm>
          <a:prstGeom prst="rect">
            <a:avLst/>
          </a:prstGeom>
          <a:noFill/>
          <a:ln/>
        </p:spPr>
        <p:txBody>
          <a:bodyPr wrap="square" lIns="0" tIns="0" rIns="0" bIns="0" rtlCol="0" anchor="t"/>
          <a:lstStyle/>
          <a:p>
            <a:pPr algn="l" indent="0" marL="0">
              <a:buNone/>
            </a:pPr>
            <a:r>
              <a:rPr lang="en-US" sz="1400" b="1" spc="300" kern="0" dirty="0">
                <a:solidFill>
                  <a:srgbClr val="9DB8AC"/>
                </a:solidFill>
                <a:latin typeface="Avenir Next" pitchFamily="34" charset="0"/>
                <a:ea typeface="Avenir Next" pitchFamily="34" charset="-122"/>
                <a:cs typeface="Avenir Next" pitchFamily="34" charset="-120"/>
              </a:rPr>
              <a:t>SECTION</a:t>
            </a:r>
            <a:endParaRPr lang="en-US" sz="1400" dirty="0"/>
          </a:p>
        </p:txBody>
      </p:sp>
      <p:sp>
        <p:nvSpPr>
          <p:cNvPr id="4" name="Big Number"/>
          <p:cNvSpPr/>
          <p:nvPr>
            <p:ph idx="102" type="body" hasCustomPrompt="1"/>
          </p:nvPr>
        </p:nvSpPr>
        <p:spPr>
          <a:xfrm>
            <a:off x="731520" y="1645920"/>
            <a:ext cx="5486400" cy="2011680"/>
          </a:xfrm>
          <a:prstGeom prst="rect">
            <a:avLst/>
          </a:prstGeom>
          <a:noFill/>
          <a:ln/>
        </p:spPr>
        <p:txBody>
          <a:bodyPr wrap="square" rtlCol="0"/>
          <a:lstStyle>
            <a:lvl1pPr algn="l" indent="0" marL="0">
              <a:buNone/>
              <a:defRPr lang="en-US" sz="15000" b="1" dirty="0">
                <a:solidFill>
                  <a:schemeClr val="accent2"/>
                </a:solidFill>
                <a:latin typeface="Avenir Next" pitchFamily="34" charset="0"/>
                <a:ea typeface="Avenir Next" pitchFamily="34" charset="-122"/>
                <a:cs typeface="Avenir Next" pitchFamily="34" charset="-120"/>
              </a:defRPr>
            </a:lvl1pPr>
          </a:lstStyle>
          <a:p>
            <a:pPr algn="l" indent="0" marL="0">
              <a:buNone/>
            </a:pPr>
            <a:r>
              <a:rPr lang="en-US" sz="15000" b="1" dirty="0">
                <a:solidFill>
                  <a:schemeClr val="accent2"/>
                </a:solidFill>
                <a:latin typeface="Avenir Next" pitchFamily="34" charset="0"/>
                <a:ea typeface="Avenir Next" pitchFamily="34" charset="-122"/>
                <a:cs typeface="Avenir Next" pitchFamily="34" charset="-120"/>
              </a:rPr>
              <a:t>01</a:t>
            </a:r>
            <a:endParaRPr lang="en-US" sz="15000" dirty="0"/>
          </a:p>
        </p:txBody>
      </p:sp>
      <p:sp>
        <p:nvSpPr>
          <p:cNvPr id="5" name="Title Large"/>
          <p:cNvSpPr/>
          <p:nvPr>
            <p:ph idx="103" type="title" hasCustomPrompt="1"/>
          </p:nvPr>
        </p:nvSpPr>
        <p:spPr>
          <a:xfrm>
            <a:off x="731520" y="3886200"/>
            <a:ext cx="10058400" cy="1645920"/>
          </a:xfrm>
          <a:prstGeom prst="rect">
            <a:avLst/>
          </a:prstGeom>
          <a:noFill/>
          <a:ln/>
        </p:spPr>
        <p:txBody>
          <a:bodyPr wrap="square" rtlCol="0"/>
          <a:lstStyle>
            <a:lvl1pPr algn="l" indent="0" marL="0">
              <a:buNone/>
              <a:defRPr lang="en-US" sz="5200" b="1" dirty="0">
                <a:solidFill>
                  <a:schemeClr val="bg1"/>
                </a:solidFill>
                <a:latin typeface="Avenir Next" pitchFamily="34" charset="0"/>
                <a:ea typeface="Avenir Next" pitchFamily="34" charset="-122"/>
                <a:cs typeface="Avenir Next" pitchFamily="34" charset="-120"/>
              </a:defRPr>
            </a:lvl1pPr>
          </a:lstStyle>
          <a:p>
            <a:pPr algn="l" indent="0" marL="0">
              <a:buNone/>
            </a:pPr>
            <a:r>
              <a:rPr lang="en-US" sz="5200" b="1" dirty="0">
                <a:solidFill>
                  <a:schemeClr val="bg1"/>
                </a:solidFill>
                <a:latin typeface="Avenir Next" pitchFamily="34" charset="0"/>
                <a:ea typeface="Avenir Next" pitchFamily="34" charset="-122"/>
                <a:cs typeface="Avenir Next" pitchFamily="34" charset="-120"/>
              </a:rPr>
              <a:t>Section title</a:t>
            </a:r>
            <a:endParaRPr lang="en-US" sz="5200" dirty="0"/>
          </a:p>
        </p:txBody>
      </p:sp>
      <p:sp>
        <p:nvSpPr>
          <p:cNvPr id="6"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rgbClr val="9DB8AC"/>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rgbClr val="9DB8AC"/>
                </a:solidFill>
                <a:latin typeface="Avenir Next"/>
                <a:ea typeface="Avenir Next"/>
                <a:cs typeface="Avenir Next"/>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genda">
    <p:bg>
      <p:bgPr>
        <a:solidFill>
          <a:schemeClr val="bg1"/>
        </a:solidFill>
      </p:bgPr>
    </p:bg>
    <p:spTree>
      <p:nvGrpSpPr>
        <p:cNvPr id="1" name=""/>
        <p:cNvGrpSpPr/>
        <p:nvPr/>
      </p:nvGrpSpPr>
      <p:grpSpPr>
        <a:xfrm>
          <a:off x="0" y="0"/>
          <a:ext cx="0" cy="0"/>
          <a:chOff x="0" y="0"/>
          <a:chExt cx="0" cy="0"/>
        </a:xfrm>
      </p:grpSpPr>
      <p:sp>
        <p:nvSpPr>
          <p:cNvPr id="2" name="Label"/>
          <p:cNvSpPr txBox="1"/>
          <p:nvPr/>
        </p:nvSpPr>
        <p:spPr>
          <a:xfrm>
            <a:off x="731520" y="731520"/>
            <a:ext cx="7315200" cy="320040"/>
          </a:xfrm>
          <a:prstGeom prst="rect">
            <a:avLst/>
          </a:prstGeom>
          <a:noFill/>
          <a:ln/>
        </p:spPr>
        <p:txBody>
          <a:bodyPr wrap="square" lIns="0" tIns="0" rIns="0" bIns="0" rtlCol="0" anchor="t"/>
          <a:lstStyle/>
          <a:p>
            <a:pPr algn="l" indent="0" marL="0">
              <a:buNone/>
            </a:pPr>
            <a:r>
              <a:rPr lang="en-US" sz="1400" b="1" spc="300" kern="0" dirty="0">
                <a:solidFill>
                  <a:schemeClr val="accent3"/>
                </a:solidFill>
                <a:latin typeface="Avenir Next" pitchFamily="34" charset="0"/>
                <a:ea typeface="Avenir Next" pitchFamily="34" charset="-122"/>
                <a:cs typeface="Avenir Next" pitchFamily="34" charset="-120"/>
              </a:rPr>
              <a:t>LEARNING OBJECTIVES</a:t>
            </a:r>
            <a:endParaRPr lang="en-US" sz="1400" dirty="0"/>
          </a:p>
        </p:txBody>
      </p:sp>
      <p:sp>
        <p:nvSpPr>
          <p:cNvPr id="3" name="Title"/>
          <p:cNvSpPr/>
          <p:nvPr>
            <p:ph idx="101" type="title" hasCustomPrompt="1"/>
          </p:nvPr>
        </p:nvSpPr>
        <p:spPr>
          <a:xfrm>
            <a:off x="731520" y="1417320"/>
            <a:ext cx="3566160" cy="4206240"/>
          </a:xfrm>
          <a:prstGeom prst="rect">
            <a:avLst/>
          </a:prstGeom>
          <a:noFill/>
          <a:ln/>
        </p:spPr>
        <p:txBody>
          <a:bodyPr wrap="square" rtlCol="0"/>
          <a:lstStyle>
            <a:lvl1pPr algn="l" indent="0" marL="0">
              <a:buNone/>
              <a:defRPr lang="en-US" sz="4000" b="1" dirty="0">
                <a:solidFill>
                  <a:schemeClr val="tx2"/>
                </a:solidFill>
                <a:latin typeface="Avenir Next" pitchFamily="34" charset="0"/>
                <a:ea typeface="Avenir Next" pitchFamily="34" charset="-122"/>
                <a:cs typeface="Avenir Next" pitchFamily="34" charset="-120"/>
              </a:defRPr>
            </a:lvl1pPr>
          </a:lstStyle>
          <a:p>
            <a:pPr algn="l" indent="0" marL="0">
              <a:buNone/>
            </a:pPr>
            <a:r>
              <a:rPr lang="en-US" sz="4000" b="1" dirty="0">
                <a:solidFill>
                  <a:schemeClr val="tx2"/>
                </a:solidFill>
                <a:latin typeface="Avenir Next" pitchFamily="34" charset="0"/>
                <a:ea typeface="Avenir Next" pitchFamily="34" charset="-122"/>
                <a:cs typeface="Avenir Next" pitchFamily="34" charset="-120"/>
              </a:rPr>
              <a:t>Session topic</a:t>
            </a:r>
            <a:endParaRPr lang="en-US" sz="4000" dirty="0"/>
          </a:p>
        </p:txBody>
      </p:sp>
      <p:sp>
        <p:nvSpPr>
          <p:cNvPr id="4" name="Shape 1"/>
          <p:cNvSpPr/>
          <p:nvPr/>
        </p:nvSpPr>
        <p:spPr>
          <a:xfrm>
            <a:off x="4617720" y="1463040"/>
            <a:ext cx="0" cy="4480560"/>
          </a:xfrm>
          <a:prstGeom prst="line">
            <a:avLst/>
          </a:prstGeom>
          <a:noFill/>
          <a:ln w="12700">
            <a:solidFill>
              <a:srgbClr val="B9C3B8"/>
            </a:solidFill>
            <a:prstDash val="solid"/>
          </a:ln>
        </p:spPr>
      </p:sp>
      <p:sp>
        <p:nvSpPr>
          <p:cNvPr id="5" name="Body"/>
          <p:cNvSpPr/>
          <p:nvPr>
            <p:ph idx="103" type="body" hasCustomPrompt="1"/>
          </p:nvPr>
        </p:nvSpPr>
        <p:spPr>
          <a:xfrm>
            <a:off x="5029200" y="1463040"/>
            <a:ext cx="6430975" cy="4480560"/>
          </a:xfrm>
          <a:prstGeom prst="rect">
            <a:avLst/>
          </a:prstGeom>
          <a:noFill/>
          <a:ln/>
        </p:spPr>
        <p:txBody>
          <a:bodyPr wrap="square" rtlCol="0"/>
          <a:lstStyle>
            <a:lvl1pPr algn="l" indent="0" marL="0">
              <a:spcAft>
                <a:spcPts val="1400"/>
              </a:spcAft>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spcAft>
                <a:spcPts val="1400"/>
              </a:spcAft>
              <a:buNone/>
            </a:pPr>
            <a:r>
              <a:rPr lang="en-US" sz="2400" dirty="0">
                <a:solidFill>
                  <a:schemeClr val="tx1"/>
                </a:solidFill>
                <a:latin typeface="Avenir Next" pitchFamily="34" charset="0"/>
                <a:ea typeface="Avenir Next" pitchFamily="34" charset="-122"/>
                <a:cs typeface="Avenir Next" pitchFamily="34" charset="-120"/>
              </a:rPr>
              <a:t>Objective one</a:t>
            </a:r>
            <a:endParaRPr lang="en-US" sz="2400" dirty="0"/>
          </a:p>
        </p:txBody>
      </p:sp>
      <p:sp>
        <p:nvSpPr>
          <p:cNvPr id="6"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mp; Bullets">
    <p:bg>
      <p:bgPr>
        <a:solidFill>
          <a:schemeClr val="bg1"/>
        </a:solidFill>
      </p:bgPr>
    </p:bg>
    <p:spTree>
      <p:nvGrpSpPr>
        <p:cNvPr id="1" name=""/>
        <p:cNvGrpSpPr/>
        <p:nvPr/>
      </p:nvGrpSpPr>
      <p:grpSpPr>
        <a:xfrm>
          <a:off x="0" y="0"/>
          <a:ext cx="0" cy="0"/>
          <a:chOff x="0" y="0"/>
          <a:chExt cx="0" cy="0"/>
        </a:xfrm>
      </p:grpSpPr>
      <p:sp>
        <p:nvSpPr>
          <p:cNvPr id="2" name="Title"/>
          <p:cNvSpPr/>
          <p:nvPr>
            <p:ph idx="100" type="title" hasCustomPrompt="1"/>
          </p:nvPr>
        </p:nvSpPr>
        <p:spPr>
          <a:xfrm>
            <a:off x="731520" y="685800"/>
            <a:ext cx="10728655" cy="1188720"/>
          </a:xfrm>
          <a:prstGeom prst="rect">
            <a:avLst/>
          </a:prstGeom>
          <a:noFill/>
          <a:ln/>
        </p:spPr>
        <p:txBody>
          <a:bodyPr wrap="square" rtlCol="0"/>
          <a:lstStyle>
            <a:lvl1pPr algn="l" indent="0" marL="0">
              <a:buNone/>
              <a:defRPr lang="en-US" sz="4000" b="1" dirty="0">
                <a:solidFill>
                  <a:schemeClr val="tx2"/>
                </a:solidFill>
                <a:latin typeface="Avenir Next" pitchFamily="34" charset="0"/>
                <a:ea typeface="Avenir Next" pitchFamily="34" charset="-122"/>
                <a:cs typeface="Avenir Next" pitchFamily="34" charset="-120"/>
              </a:defRPr>
            </a:lvl1pPr>
          </a:lstStyle>
          <a:p>
            <a:pPr algn="l" indent="0" marL="0">
              <a:buNone/>
            </a:pPr>
            <a:r>
              <a:rPr lang="en-US" sz="4000" b="1" dirty="0">
                <a:solidFill>
                  <a:schemeClr val="tx2"/>
                </a:solidFill>
                <a:latin typeface="Avenir Next" pitchFamily="34" charset="0"/>
                <a:ea typeface="Avenir Next" pitchFamily="34" charset="-122"/>
                <a:cs typeface="Avenir Next" pitchFamily="34" charset="-120"/>
              </a:rPr>
              <a:t>Slide title</a:t>
            </a:r>
            <a:endParaRPr lang="en-US" sz="4000" dirty="0"/>
          </a:p>
        </p:txBody>
      </p:sp>
      <p:sp>
        <p:nvSpPr>
          <p:cNvPr id="3" name="Body"/>
          <p:cNvSpPr/>
          <p:nvPr>
            <p:ph idx="101" type="body" hasCustomPrompt="1"/>
          </p:nvPr>
        </p:nvSpPr>
        <p:spPr>
          <a:xfrm>
            <a:off x="731520" y="2103120"/>
            <a:ext cx="9509760" cy="3931920"/>
          </a:xfrm>
          <a:prstGeom prst="rect">
            <a:avLst/>
          </a:prstGeom>
          <a:noFill/>
          <a:ln/>
        </p:spPr>
        <p:txBody>
          <a:bodyPr wrap="square" rtlCol="0"/>
          <a:lstStyle>
            <a:lvl1pPr algn="l" indent="0" marL="0">
              <a:spcAft>
                <a:spcPts val="1400"/>
              </a:spcAft>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spcAft>
                <a:spcPts val="1400"/>
              </a:spcAft>
              <a:buNone/>
            </a:pPr>
            <a:r>
              <a:rPr lang="en-US" sz="2400" dirty="0">
                <a:solidFill>
                  <a:schemeClr val="tx1"/>
                </a:solidFill>
                <a:latin typeface="Avenir Next" pitchFamily="34" charset="0"/>
                <a:ea typeface="Avenir Next" pitchFamily="34" charset="-122"/>
                <a:cs typeface="Avenir Next" pitchFamily="34" charset="-120"/>
              </a:rPr>
              <a:t>Click to add text</a:t>
            </a:r>
            <a:endParaRPr lang="en-US" sz="2400" dirty="0"/>
          </a:p>
        </p:txBody>
      </p:sp>
      <p:sp>
        <p:nvSpPr>
          <p:cNvPr id="4"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mp; Photo">
    <p:bg>
      <p:bgPr>
        <a:solidFill>
          <a:schemeClr val="bg1"/>
        </a:solidFill>
      </p:bgPr>
    </p:bg>
    <p:spTree>
      <p:nvGrpSpPr>
        <p:cNvPr id="1" name=""/>
        <p:cNvGrpSpPr/>
        <p:nvPr/>
      </p:nvGrpSpPr>
      <p:grpSpPr>
        <a:xfrm>
          <a:off x="0" y="0"/>
          <a:ext cx="0" cy="0"/>
          <a:chOff x="0" y="0"/>
          <a:chExt cx="0" cy="0"/>
        </a:xfrm>
      </p:grpSpPr>
      <p:sp>
        <p:nvSpPr>
          <p:cNvPr id="2" name="Title"/>
          <p:cNvSpPr/>
          <p:nvPr>
            <p:ph idx="100" type="title" hasCustomPrompt="1"/>
          </p:nvPr>
        </p:nvSpPr>
        <p:spPr>
          <a:xfrm>
            <a:off x="731520" y="685800"/>
            <a:ext cx="10728655" cy="1188720"/>
          </a:xfrm>
          <a:prstGeom prst="rect">
            <a:avLst/>
          </a:prstGeom>
          <a:noFill/>
          <a:ln/>
        </p:spPr>
        <p:txBody>
          <a:bodyPr wrap="square" rtlCol="0"/>
          <a:lstStyle>
            <a:lvl1pPr algn="l" indent="0" marL="0">
              <a:buNone/>
              <a:defRPr lang="en-US" sz="4000" b="1" dirty="0">
                <a:solidFill>
                  <a:schemeClr val="tx2"/>
                </a:solidFill>
                <a:latin typeface="Avenir Next" pitchFamily="34" charset="0"/>
                <a:ea typeface="Avenir Next" pitchFamily="34" charset="-122"/>
                <a:cs typeface="Avenir Next" pitchFamily="34" charset="-120"/>
              </a:defRPr>
            </a:lvl1pPr>
          </a:lstStyle>
          <a:p>
            <a:pPr algn="l" indent="0" marL="0">
              <a:buNone/>
            </a:pPr>
            <a:r>
              <a:rPr lang="en-US" sz="4000" b="1" dirty="0">
                <a:solidFill>
                  <a:schemeClr val="tx2"/>
                </a:solidFill>
                <a:latin typeface="Avenir Next" pitchFamily="34" charset="0"/>
                <a:ea typeface="Avenir Next" pitchFamily="34" charset="-122"/>
                <a:cs typeface="Avenir Next" pitchFamily="34" charset="-120"/>
              </a:rPr>
              <a:t>Slide title</a:t>
            </a:r>
            <a:endParaRPr lang="en-US" sz="4000" dirty="0"/>
          </a:p>
        </p:txBody>
      </p:sp>
      <p:sp>
        <p:nvSpPr>
          <p:cNvPr id="3" name="Image"/>
          <p:cNvSpPr/>
          <p:nvPr>
            <p:ph type="pic" idx="101" hasCustomPrompt="1"/>
          </p:nvPr>
        </p:nvSpPr>
        <p:spPr>
          <a:xfrm>
            <a:off x="731520" y="2011680"/>
            <a:ext cx="10728655" cy="3611880"/>
          </a:xfrm>
          <a:prstGeom prst="rect">
            <a:avLst/>
          </a:prstGeom>
          <a:noFill/>
          <a:ln/>
        </p:spPr>
        <p:txBody>
          <a:bodyPr wrap="square" rtlCol="0"/>
          <a:lstStyle>
            <a:lvl1pPr indent="0" marL="0">
              <a:buNone/>
              <a:defRPr lang="en-US" dirty="0">
                <a:solidFill>
                  <a:schemeClr val="accent6"/>
                </a:solidFill>
              </a:defRPr>
            </a:lvl1pPr>
          </a:lstStyle>
          <a:p>
            <a:pPr indent="0" marL="0">
              <a:buNone/>
            </a:pPr>
            <a:r>
              <a:rPr lang="en-US" dirty="0">
                <a:solidFill>
                  <a:schemeClr val="accent6"/>
                </a:solidFill>
              </a:rPr>
              <a:t>Drop image here</a:t>
            </a:r>
            <a:endParaRPr lang="en-US" dirty="0"/>
          </a:p>
        </p:txBody>
      </p:sp>
      <p:sp>
        <p:nvSpPr>
          <p:cNvPr id="4" name="Caption"/>
          <p:cNvSpPr/>
          <p:nvPr>
            <p:ph idx="102" type="body" hasCustomPrompt="1"/>
          </p:nvPr>
        </p:nvSpPr>
        <p:spPr>
          <a:xfrm>
            <a:off x="731520" y="5715000"/>
            <a:ext cx="10728655" cy="320040"/>
          </a:xfrm>
          <a:prstGeom prst="rect">
            <a:avLst/>
          </a:prstGeom>
          <a:noFill/>
          <a:ln/>
        </p:spPr>
        <p:txBody>
          <a:bodyPr wrap="square" rtlCol="0"/>
          <a:lstStyle>
            <a:lvl1pPr algn="l" indent="0" marL="0">
              <a:buNone/>
              <a:defRPr lang="en-US" sz="1400" dirty="0">
                <a:solidFill>
                  <a:schemeClr val="accent6"/>
                </a:solidFill>
                <a:latin typeface="Avenir Next" pitchFamily="34" charset="0"/>
                <a:ea typeface="Avenir Next" pitchFamily="34" charset="-122"/>
                <a:cs typeface="Avenir Next" pitchFamily="34" charset="-120"/>
              </a:defRPr>
            </a:lvl1pPr>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Fig. Source or caption</a:t>
            </a:r>
            <a:endParaRPr lang="en-US" sz="1400" dirty="0"/>
          </a:p>
        </p:txBody>
      </p:sp>
      <p:sp>
        <p:nvSpPr>
          <p:cNvPr id="5" name="Caption 2"/>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Bullets &amp; Photo">
    <p:bg>
      <p:bgPr>
        <a:solidFill>
          <a:schemeClr val="bg1"/>
        </a:solidFill>
      </p:bgPr>
    </p:bg>
    <p:spTree>
      <p:nvGrpSpPr>
        <p:cNvPr id="1" name=""/>
        <p:cNvGrpSpPr/>
        <p:nvPr/>
      </p:nvGrpSpPr>
      <p:grpSpPr>
        <a:xfrm>
          <a:off x="0" y="0"/>
          <a:ext cx="0" cy="0"/>
          <a:chOff x="0" y="0"/>
          <a:chExt cx="0" cy="0"/>
        </a:xfrm>
      </p:grpSpPr>
      <p:sp>
        <p:nvSpPr>
          <p:cNvPr id="2" name="Title"/>
          <p:cNvSpPr/>
          <p:nvPr>
            <p:ph idx="100" type="title" hasCustomPrompt="1"/>
          </p:nvPr>
        </p:nvSpPr>
        <p:spPr>
          <a:xfrm>
            <a:off x="731520" y="685800"/>
            <a:ext cx="10728655" cy="1188720"/>
          </a:xfrm>
          <a:prstGeom prst="rect">
            <a:avLst/>
          </a:prstGeom>
          <a:noFill/>
          <a:ln/>
        </p:spPr>
        <p:txBody>
          <a:bodyPr wrap="square" rtlCol="0"/>
          <a:lstStyle>
            <a:lvl1pPr algn="l" indent="0" marL="0">
              <a:buNone/>
              <a:defRPr lang="en-US" sz="4000" b="1" dirty="0">
                <a:solidFill>
                  <a:schemeClr val="tx2"/>
                </a:solidFill>
                <a:latin typeface="Avenir Next" pitchFamily="34" charset="0"/>
                <a:ea typeface="Avenir Next" pitchFamily="34" charset="-122"/>
                <a:cs typeface="Avenir Next" pitchFamily="34" charset="-120"/>
              </a:defRPr>
            </a:lvl1pPr>
          </a:lstStyle>
          <a:p>
            <a:pPr algn="l" indent="0" marL="0">
              <a:buNone/>
            </a:pPr>
            <a:r>
              <a:rPr lang="en-US" sz="4000" b="1" dirty="0">
                <a:solidFill>
                  <a:schemeClr val="tx2"/>
                </a:solidFill>
                <a:latin typeface="Avenir Next" pitchFamily="34" charset="0"/>
                <a:ea typeface="Avenir Next" pitchFamily="34" charset="-122"/>
                <a:cs typeface="Avenir Next" pitchFamily="34" charset="-120"/>
              </a:rPr>
              <a:t>Slide title</a:t>
            </a:r>
            <a:endParaRPr lang="en-US" sz="4000" dirty="0"/>
          </a:p>
        </p:txBody>
      </p:sp>
      <p:sp>
        <p:nvSpPr>
          <p:cNvPr id="3" name="Image"/>
          <p:cNvSpPr/>
          <p:nvPr>
            <p:ph type="pic" idx="101" hasCustomPrompt="1"/>
          </p:nvPr>
        </p:nvSpPr>
        <p:spPr>
          <a:xfrm>
            <a:off x="731520" y="2011680"/>
            <a:ext cx="6766560" cy="3886200"/>
          </a:xfrm>
          <a:prstGeom prst="rect">
            <a:avLst/>
          </a:prstGeom>
          <a:noFill/>
          <a:ln/>
        </p:spPr>
        <p:txBody>
          <a:bodyPr wrap="square" rtlCol="0"/>
          <a:lstStyle>
            <a:lvl1pPr indent="0" marL="0">
              <a:buNone/>
              <a:defRPr lang="en-US" dirty="0">
                <a:solidFill>
                  <a:schemeClr val="accent6"/>
                </a:solidFill>
              </a:defRPr>
            </a:lvl1pPr>
          </a:lstStyle>
          <a:p>
            <a:pPr indent="0" marL="0">
              <a:buNone/>
            </a:pPr>
            <a:r>
              <a:rPr lang="en-US" dirty="0">
                <a:solidFill>
                  <a:schemeClr val="accent6"/>
                </a:solidFill>
              </a:rPr>
              <a:t>Drop image here</a:t>
            </a:r>
            <a:endParaRPr lang="en-US" dirty="0"/>
          </a:p>
        </p:txBody>
      </p:sp>
      <p:sp>
        <p:nvSpPr>
          <p:cNvPr id="4" name="Shape 0"/>
          <p:cNvSpPr/>
          <p:nvPr/>
        </p:nvSpPr>
        <p:spPr>
          <a:xfrm>
            <a:off x="7909560" y="2011680"/>
            <a:ext cx="3550615" cy="3886200"/>
          </a:xfrm>
          <a:prstGeom prst="rect">
            <a:avLst/>
          </a:prstGeom>
          <a:ln w="12700">
            <a:solidFill>
              <a:schemeClr val="tx2"/>
            </a:solidFill>
            <a:prstDash val="solid"/>
          </a:ln>
        </p:spPr>
      </p:sp>
      <p:sp>
        <p:nvSpPr>
          <p:cNvPr id="5" name="Label"/>
          <p:cNvSpPr/>
          <p:nvPr>
            <p:ph idx="103" type="body" hasCustomPrompt="1"/>
          </p:nvPr>
        </p:nvSpPr>
        <p:spPr>
          <a:xfrm>
            <a:off x="8183880" y="2157984"/>
            <a:ext cx="3001975" cy="365760"/>
          </a:xfrm>
          <a:prstGeom prst="rect">
            <a:avLst/>
          </a:prstGeom>
          <a:noFill/>
          <a:ln/>
        </p:spPr>
        <p:txBody>
          <a:bodyPr wrap="square" rtlCol="0"/>
          <a:lstStyle>
            <a:lvl1pPr algn="l" indent="0" marL="0">
              <a:buNone/>
              <a:defRPr lang="en-US" sz="1400" b="1" spc="300" kern="0" dirty="0">
                <a:solidFill>
                  <a:schemeClr val="accent3"/>
                </a:solidFill>
                <a:latin typeface="Avenir Next" pitchFamily="34" charset="0"/>
                <a:ea typeface="Avenir Next" pitchFamily="34" charset="-122"/>
                <a:cs typeface="Avenir Next" pitchFamily="34" charset="-120"/>
              </a:defRPr>
            </a:lvl1pPr>
          </a:lstStyle>
          <a:p>
            <a:pPr algn="l" indent="0" marL="0">
              <a:buNone/>
            </a:pPr>
            <a:r>
              <a:rPr lang="en-US" sz="1400" b="1" spc="300" kern="0" dirty="0">
                <a:solidFill>
                  <a:schemeClr val="accent3"/>
                </a:solidFill>
                <a:latin typeface="Avenir Next" pitchFamily="34" charset="0"/>
                <a:ea typeface="Avenir Next" pitchFamily="34" charset="-122"/>
                <a:cs typeface="Avenir Next" pitchFamily="34" charset="-120"/>
              </a:rPr>
              <a:t>TAKEAWAY</a:t>
            </a:r>
            <a:endParaRPr lang="en-US" sz="1400" dirty="0"/>
          </a:p>
        </p:txBody>
      </p:sp>
      <p:sp>
        <p:nvSpPr>
          <p:cNvPr id="6" name="Shape 1"/>
          <p:cNvSpPr/>
          <p:nvPr/>
        </p:nvSpPr>
        <p:spPr>
          <a:xfrm>
            <a:off x="8183880" y="2633472"/>
            <a:ext cx="3001975" cy="0"/>
          </a:xfrm>
          <a:prstGeom prst="line">
            <a:avLst/>
          </a:prstGeom>
          <a:noFill/>
          <a:ln w="12700">
            <a:solidFill>
              <a:srgbClr val="B9C3B8"/>
            </a:solidFill>
            <a:prstDash val="solid"/>
          </a:ln>
        </p:spPr>
      </p:sp>
      <p:sp>
        <p:nvSpPr>
          <p:cNvPr id="7" name="Body"/>
          <p:cNvSpPr/>
          <p:nvPr>
            <p:ph idx="105" type="body" hasCustomPrompt="1"/>
          </p:nvPr>
        </p:nvSpPr>
        <p:spPr>
          <a:xfrm>
            <a:off x="8183880" y="2834640"/>
            <a:ext cx="3001975" cy="2880360"/>
          </a:xfrm>
          <a:prstGeom prst="rect">
            <a:avLst/>
          </a:prstGeom>
          <a:noFill/>
          <a:ln/>
        </p:spPr>
        <p:txBody>
          <a:bodyPr wrap="square" rtlCol="0"/>
          <a:lstStyle>
            <a:lvl1pPr algn="l" indent="0" marL="0">
              <a:spcAft>
                <a:spcPts val="1400"/>
              </a:spcAft>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spcAft>
                <a:spcPts val="1400"/>
              </a:spcAft>
              <a:buNone/>
            </a:pPr>
            <a:r>
              <a:rPr lang="en-US" sz="2400" dirty="0">
                <a:solidFill>
                  <a:schemeClr val="tx1"/>
                </a:solidFill>
                <a:latin typeface="Avenir Next" pitchFamily="34" charset="0"/>
                <a:ea typeface="Avenir Next" pitchFamily="34" charset="-122"/>
                <a:cs typeface="Avenir Next" pitchFamily="34" charset="-120"/>
              </a:rPr>
              <a:t>One or two sentences on what the figure shows</a:t>
            </a:r>
            <a:endParaRPr lang="en-US" sz="2400" dirty="0"/>
          </a:p>
        </p:txBody>
      </p:sp>
      <p:sp>
        <p:nvSpPr>
          <p:cNvPr id="8"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Figure &amp; Bullets">
    <p:bg>
      <p:bgPr>
        <a:solidFill>
          <a:schemeClr val="bg1"/>
        </a:solidFill>
      </p:bgPr>
    </p:bg>
    <p:spTree>
      <p:nvGrpSpPr>
        <p:cNvPr id="1" name=""/>
        <p:cNvGrpSpPr/>
        <p:nvPr/>
      </p:nvGrpSpPr>
      <p:grpSpPr>
        <a:xfrm>
          <a:off x="0" y="0"/>
          <a:ext cx="0" cy="0"/>
          <a:chOff x="0" y="0"/>
          <a:chExt cx="0" cy="0"/>
        </a:xfrm>
      </p:grpSpPr>
      <p:sp>
        <p:nvSpPr>
          <p:cNvPr id="2" name="Title"/>
          <p:cNvSpPr/>
          <p:nvPr>
            <p:ph idx="100" type="title" hasCustomPrompt="1"/>
          </p:nvPr>
        </p:nvSpPr>
        <p:spPr>
          <a:xfrm>
            <a:off x="731520" y="685800"/>
            <a:ext cx="10728655" cy="1188720"/>
          </a:xfrm>
          <a:prstGeom prst="rect">
            <a:avLst/>
          </a:prstGeom>
          <a:noFill/>
          <a:ln/>
        </p:spPr>
        <p:txBody>
          <a:bodyPr wrap="square" rtlCol="0"/>
          <a:lstStyle>
            <a:lvl1pPr algn="l" indent="0" marL="0">
              <a:buNone/>
              <a:defRPr lang="en-US" sz="4000" b="1" dirty="0">
                <a:solidFill>
                  <a:schemeClr val="tx2"/>
                </a:solidFill>
                <a:latin typeface="Avenir Next" pitchFamily="34" charset="0"/>
                <a:ea typeface="Avenir Next" pitchFamily="34" charset="-122"/>
                <a:cs typeface="Avenir Next" pitchFamily="34" charset="-120"/>
              </a:defRPr>
            </a:lvl1pPr>
          </a:lstStyle>
          <a:p>
            <a:pPr algn="l" indent="0" marL="0">
              <a:buNone/>
            </a:pPr>
            <a:r>
              <a:rPr lang="en-US" sz="4000" b="1" dirty="0">
                <a:solidFill>
                  <a:schemeClr val="tx2"/>
                </a:solidFill>
                <a:latin typeface="Avenir Next" pitchFamily="34" charset="0"/>
                <a:ea typeface="Avenir Next" pitchFamily="34" charset="-122"/>
                <a:cs typeface="Avenir Next" pitchFamily="34" charset="-120"/>
              </a:rPr>
              <a:t>Slide title</a:t>
            </a:r>
            <a:endParaRPr lang="en-US" sz="4000" dirty="0"/>
          </a:p>
        </p:txBody>
      </p:sp>
      <p:sp>
        <p:nvSpPr>
          <p:cNvPr id="3" name="Image"/>
          <p:cNvSpPr/>
          <p:nvPr>
            <p:ph type="pic" idx="101" hasCustomPrompt="1"/>
          </p:nvPr>
        </p:nvSpPr>
        <p:spPr>
          <a:xfrm>
            <a:off x="731520" y="2011680"/>
            <a:ext cx="5090008" cy="3886200"/>
          </a:xfrm>
          <a:prstGeom prst="rect">
            <a:avLst/>
          </a:prstGeom>
          <a:noFill/>
          <a:ln/>
        </p:spPr>
        <p:txBody>
          <a:bodyPr wrap="square" rtlCol="0"/>
          <a:lstStyle>
            <a:lvl1pPr indent="0" marL="0">
              <a:buNone/>
              <a:defRPr lang="en-US" dirty="0">
                <a:solidFill>
                  <a:schemeClr val="accent6"/>
                </a:solidFill>
              </a:defRPr>
            </a:lvl1pPr>
          </a:lstStyle>
          <a:p>
            <a:pPr indent="0" marL="0">
              <a:buNone/>
            </a:pPr>
            <a:r>
              <a:rPr lang="en-US" dirty="0">
                <a:solidFill>
                  <a:schemeClr val="accent6"/>
                </a:solidFill>
              </a:rPr>
              <a:t>Drop image here</a:t>
            </a:r>
            <a:endParaRPr lang="en-US" dirty="0"/>
          </a:p>
        </p:txBody>
      </p:sp>
      <p:sp>
        <p:nvSpPr>
          <p:cNvPr id="4" name="Body"/>
          <p:cNvSpPr/>
          <p:nvPr>
            <p:ph idx="102" type="body" hasCustomPrompt="1"/>
          </p:nvPr>
        </p:nvSpPr>
        <p:spPr>
          <a:xfrm>
            <a:off x="6370168" y="2011680"/>
            <a:ext cx="5090008" cy="3886200"/>
          </a:xfrm>
          <a:prstGeom prst="rect">
            <a:avLst/>
          </a:prstGeom>
          <a:noFill/>
          <a:ln/>
        </p:spPr>
        <p:txBody>
          <a:bodyPr wrap="square" rtlCol="0"/>
          <a:lstStyle>
            <a:lvl1pPr algn="l" indent="0" marL="0">
              <a:spcAft>
                <a:spcPts val="1400"/>
              </a:spcAft>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spcAft>
                <a:spcPts val="1400"/>
              </a:spcAft>
              <a:buNone/>
            </a:pPr>
            <a:r>
              <a:rPr lang="en-US" sz="2400" dirty="0">
                <a:solidFill>
                  <a:schemeClr val="tx1"/>
                </a:solidFill>
                <a:latin typeface="Avenir Next" pitchFamily="34" charset="0"/>
                <a:ea typeface="Avenir Next" pitchFamily="34" charset="-122"/>
                <a:cs typeface="Avenir Next" pitchFamily="34" charset="-120"/>
              </a:rPr>
              <a:t>First point</a:t>
            </a:r>
            <a:endParaRPr lang="en-US" sz="2400" dirty="0"/>
          </a:p>
        </p:txBody>
      </p:sp>
      <p:sp>
        <p:nvSpPr>
          <p:cNvPr id="5"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1008</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Key Concept">
    <p:bg>
      <p:bgPr>
        <a:solidFill>
          <a:schemeClr val="bg2"/>
        </a:solidFill>
      </p:bgPr>
    </p:bg>
    <p:spTree>
      <p:nvGrpSpPr>
        <p:cNvPr id="1" name=""/>
        <p:cNvGrpSpPr/>
        <p:nvPr/>
      </p:nvGrpSpPr>
      <p:grpSpPr>
        <a:xfrm>
          <a:off x="0" y="0"/>
          <a:ext cx="0" cy="0"/>
          <a:chOff x="0" y="0"/>
          <a:chExt cx="0" cy="0"/>
        </a:xfrm>
      </p:grpSpPr>
      <p:sp>
        <p:nvSpPr>
          <p:cNvPr id="2" name="Shape 0"/>
          <p:cNvSpPr/>
          <p:nvPr/>
        </p:nvSpPr>
        <p:spPr>
          <a:xfrm>
            <a:off x="292608" y="292608"/>
            <a:ext cx="11606479" cy="6272784"/>
          </a:xfrm>
          <a:prstGeom prst="rect">
            <a:avLst/>
          </a:prstGeom>
          <a:ln w="9525">
            <a:solidFill>
              <a:srgbClr val="B9C3B8"/>
            </a:solidFill>
            <a:prstDash val="solid"/>
          </a:ln>
        </p:spPr>
      </p:sp>
      <p:sp>
        <p:nvSpPr>
          <p:cNvPr id="3" name="Label"/>
          <p:cNvSpPr txBox="1"/>
          <p:nvPr/>
        </p:nvSpPr>
        <p:spPr>
          <a:xfrm>
            <a:off x="731520" y="731520"/>
            <a:ext cx="7315200" cy="320040"/>
          </a:xfrm>
          <a:prstGeom prst="rect">
            <a:avLst/>
          </a:prstGeom>
          <a:noFill/>
          <a:ln/>
        </p:spPr>
        <p:txBody>
          <a:bodyPr wrap="square" lIns="0" tIns="0" rIns="0" bIns="0" rtlCol="0" anchor="t"/>
          <a:lstStyle/>
          <a:p>
            <a:pPr algn="l" indent="0" marL="0">
              <a:buNone/>
            </a:pPr>
            <a:r>
              <a:rPr lang="en-US" sz="1400" b="1" spc="300" kern="0" dirty="0">
                <a:solidFill>
                  <a:schemeClr val="accent3"/>
                </a:solidFill>
                <a:latin typeface="Avenir Next" pitchFamily="34" charset="0"/>
                <a:ea typeface="Avenir Next" pitchFamily="34" charset="-122"/>
                <a:cs typeface="Avenir Next" pitchFamily="34" charset="-120"/>
              </a:rPr>
              <a:t>KEY CONCEPT</a:t>
            </a:r>
            <a:endParaRPr lang="en-US" sz="1400" dirty="0"/>
          </a:p>
        </p:txBody>
      </p:sp>
      <p:sp>
        <p:nvSpPr>
          <p:cNvPr id="4" name="Title Large"/>
          <p:cNvSpPr/>
          <p:nvPr>
            <p:ph idx="102" type="title" hasCustomPrompt="1"/>
          </p:nvPr>
        </p:nvSpPr>
        <p:spPr>
          <a:xfrm>
            <a:off x="731520" y="1417320"/>
            <a:ext cx="10728655" cy="1280160"/>
          </a:xfrm>
          <a:prstGeom prst="rect">
            <a:avLst/>
          </a:prstGeom>
          <a:noFill/>
          <a:ln/>
        </p:spPr>
        <p:txBody>
          <a:bodyPr wrap="square" rtlCol="0"/>
          <a:lstStyle>
            <a:lvl1pPr algn="l" indent="0" marL="0">
              <a:buNone/>
              <a:defRPr lang="en-US" sz="5200" b="1" dirty="0">
                <a:solidFill>
                  <a:schemeClr val="tx2"/>
                </a:solidFill>
                <a:latin typeface="Avenir Next" pitchFamily="34" charset="0"/>
                <a:ea typeface="Avenir Next" pitchFamily="34" charset="-122"/>
                <a:cs typeface="Avenir Next" pitchFamily="34" charset="-120"/>
              </a:defRPr>
            </a:lvl1pPr>
          </a:lstStyle>
          <a:p>
            <a:pPr algn="l" indent="0" marL="0">
              <a:buNone/>
            </a:pPr>
            <a:r>
              <a:rPr lang="en-US" sz="5200" b="1" dirty="0">
                <a:solidFill>
                  <a:schemeClr val="tx2"/>
                </a:solidFill>
                <a:latin typeface="Avenir Next" pitchFamily="34" charset="0"/>
                <a:ea typeface="Avenir Next" pitchFamily="34" charset="-122"/>
                <a:cs typeface="Avenir Next" pitchFamily="34" charset="-120"/>
              </a:rPr>
              <a:t>Term</a:t>
            </a:r>
            <a:endParaRPr lang="en-US" sz="5200" dirty="0"/>
          </a:p>
        </p:txBody>
      </p:sp>
      <p:sp>
        <p:nvSpPr>
          <p:cNvPr id="5" name="Subtitle"/>
          <p:cNvSpPr/>
          <p:nvPr>
            <p:ph idx="103" type="body" hasCustomPrompt="1"/>
          </p:nvPr>
        </p:nvSpPr>
        <p:spPr>
          <a:xfrm>
            <a:off x="731520" y="2880360"/>
            <a:ext cx="9601200" cy="1554480"/>
          </a:xfrm>
          <a:prstGeom prst="rect">
            <a:avLst/>
          </a:prstGeom>
          <a:noFill/>
          <a:ln/>
        </p:spPr>
        <p:txBody>
          <a:bodyPr wrap="square" rtlCol="0"/>
          <a:lstStyle>
            <a:lvl1pPr algn="l" indent="0" marL="0">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buNone/>
            </a:pPr>
            <a:r>
              <a:rPr lang="en-US" sz="2400" dirty="0">
                <a:solidFill>
                  <a:schemeClr val="tx1"/>
                </a:solidFill>
                <a:latin typeface="Avenir Next" pitchFamily="34" charset="0"/>
                <a:ea typeface="Avenir Next" pitchFamily="34" charset="-122"/>
                <a:cs typeface="Avenir Next" pitchFamily="34" charset="-120"/>
              </a:rPr>
              <a:t>Definition in one or two plain sentences</a:t>
            </a:r>
            <a:endParaRPr lang="en-US" sz="2400" dirty="0"/>
          </a:p>
        </p:txBody>
      </p:sp>
      <p:sp>
        <p:nvSpPr>
          <p:cNvPr id="6" name="Shape 2"/>
          <p:cNvSpPr/>
          <p:nvPr/>
        </p:nvSpPr>
        <p:spPr>
          <a:xfrm>
            <a:off x="731520" y="4663440"/>
            <a:ext cx="1828800" cy="0"/>
          </a:xfrm>
          <a:prstGeom prst="line">
            <a:avLst/>
          </a:prstGeom>
          <a:noFill/>
          <a:ln w="12700">
            <a:solidFill>
              <a:schemeClr val="accent2"/>
            </a:solidFill>
            <a:prstDash val="solid"/>
          </a:ln>
        </p:spPr>
      </p:sp>
      <p:sp>
        <p:nvSpPr>
          <p:cNvPr id="7" name="Body Small"/>
          <p:cNvSpPr/>
          <p:nvPr>
            <p:ph idx="105" type="body" hasCustomPrompt="1"/>
          </p:nvPr>
        </p:nvSpPr>
        <p:spPr>
          <a:xfrm>
            <a:off x="731520" y="4846320"/>
            <a:ext cx="9601200" cy="1097280"/>
          </a:xfrm>
          <a:prstGeom prst="rect">
            <a:avLst/>
          </a:prstGeom>
          <a:noFill/>
          <a:ln/>
        </p:spPr>
        <p:txBody>
          <a:bodyPr wrap="square" rtlCol="0"/>
          <a:lstStyle>
            <a:lvl1pPr algn="l" indent="0" marL="0">
              <a:spcAft>
                <a:spcPts val="1000"/>
              </a:spcAft>
              <a:buNone/>
              <a:defRPr lang="en-US" sz="2000" dirty="0">
                <a:solidFill>
                  <a:schemeClr val="accent6"/>
                </a:solidFill>
                <a:latin typeface="Avenir Next" pitchFamily="34" charset="0"/>
                <a:ea typeface="Avenir Next" pitchFamily="34" charset="-122"/>
                <a:cs typeface="Avenir Next" pitchFamily="34" charset="-120"/>
              </a:defRPr>
            </a:lvl1pPr>
          </a:lstStyle>
          <a:p>
            <a:pPr algn="l" indent="0" marL="0">
              <a:spcAft>
                <a:spcPts val="1000"/>
              </a:spcAft>
              <a:buNone/>
            </a:pPr>
            <a:r>
              <a:rPr lang="en-US" sz="2000" dirty="0">
                <a:solidFill>
                  <a:schemeClr val="accent6"/>
                </a:solidFill>
                <a:latin typeface="Avenir Next" pitchFamily="34" charset="0"/>
                <a:ea typeface="Avenir Next" pitchFamily="34" charset="-122"/>
                <a:cs typeface="Avenir Next" pitchFamily="34" charset="-120"/>
              </a:rPr>
              <a:t>Example, equation or common misconception</a:t>
            </a:r>
            <a:endParaRPr lang="en-US" sz="2000" dirty="0"/>
          </a:p>
        </p:txBody>
      </p:sp>
      <p:sp>
        <p:nvSpPr>
          <p:cNvPr id="8"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1009</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wo Columns">
    <p:bg>
      <p:bgPr>
        <a:solidFill>
          <a:schemeClr val="bg1"/>
        </a:solidFill>
      </p:bgPr>
    </p:bg>
    <p:spTree>
      <p:nvGrpSpPr>
        <p:cNvPr id="1" name=""/>
        <p:cNvGrpSpPr/>
        <p:nvPr/>
      </p:nvGrpSpPr>
      <p:grpSpPr>
        <a:xfrm>
          <a:off x="0" y="0"/>
          <a:ext cx="0" cy="0"/>
          <a:chOff x="0" y="0"/>
          <a:chExt cx="0" cy="0"/>
        </a:xfrm>
      </p:grpSpPr>
      <p:sp>
        <p:nvSpPr>
          <p:cNvPr id="2" name="Title"/>
          <p:cNvSpPr/>
          <p:nvPr>
            <p:ph idx="100" type="title" hasCustomPrompt="1"/>
          </p:nvPr>
        </p:nvSpPr>
        <p:spPr>
          <a:xfrm>
            <a:off x="731520" y="685800"/>
            <a:ext cx="10728655" cy="1188720"/>
          </a:xfrm>
          <a:prstGeom prst="rect">
            <a:avLst/>
          </a:prstGeom>
          <a:noFill/>
          <a:ln/>
        </p:spPr>
        <p:txBody>
          <a:bodyPr wrap="square" rtlCol="0"/>
          <a:lstStyle>
            <a:lvl1pPr algn="l" indent="0" marL="0">
              <a:buNone/>
              <a:defRPr lang="en-US" sz="4000" b="1" dirty="0">
                <a:solidFill>
                  <a:schemeClr val="tx2"/>
                </a:solidFill>
                <a:latin typeface="Avenir Next" pitchFamily="34" charset="0"/>
                <a:ea typeface="Avenir Next" pitchFamily="34" charset="-122"/>
                <a:cs typeface="Avenir Next" pitchFamily="34" charset="-120"/>
              </a:defRPr>
            </a:lvl1pPr>
          </a:lstStyle>
          <a:p>
            <a:pPr algn="l" indent="0" marL="0">
              <a:buNone/>
            </a:pPr>
            <a:r>
              <a:rPr lang="en-US" sz="4000" b="1" dirty="0">
                <a:solidFill>
                  <a:schemeClr val="tx2"/>
                </a:solidFill>
                <a:latin typeface="Avenir Next" pitchFamily="34" charset="0"/>
                <a:ea typeface="Avenir Next" pitchFamily="34" charset="-122"/>
                <a:cs typeface="Avenir Next" pitchFamily="34" charset="-120"/>
              </a:rPr>
              <a:t>Slide title</a:t>
            </a:r>
            <a:endParaRPr lang="en-US" sz="4000" dirty="0"/>
          </a:p>
        </p:txBody>
      </p:sp>
      <p:sp>
        <p:nvSpPr>
          <p:cNvPr id="3" name="Label"/>
          <p:cNvSpPr/>
          <p:nvPr>
            <p:ph idx="101" type="body" hasCustomPrompt="1"/>
          </p:nvPr>
        </p:nvSpPr>
        <p:spPr>
          <a:xfrm>
            <a:off x="731520" y="2103120"/>
            <a:ext cx="4998568" cy="365760"/>
          </a:xfrm>
          <a:prstGeom prst="rect">
            <a:avLst/>
          </a:prstGeom>
          <a:noFill/>
          <a:ln/>
        </p:spPr>
        <p:txBody>
          <a:bodyPr wrap="square" rtlCol="0"/>
          <a:lstStyle>
            <a:lvl1pPr algn="l" indent="0" marL="0">
              <a:buNone/>
              <a:defRPr lang="en-US" sz="1400" b="1" spc="300" kern="0" dirty="0">
                <a:solidFill>
                  <a:schemeClr val="accent3"/>
                </a:solidFill>
                <a:latin typeface="Avenir Next" pitchFamily="34" charset="0"/>
                <a:ea typeface="Avenir Next" pitchFamily="34" charset="-122"/>
                <a:cs typeface="Avenir Next" pitchFamily="34" charset="-120"/>
              </a:defRPr>
            </a:lvl1pPr>
          </a:lstStyle>
          <a:p>
            <a:pPr algn="l" indent="0" marL="0">
              <a:buNone/>
            </a:pPr>
            <a:r>
              <a:rPr lang="en-US" sz="1400" b="1" spc="300" kern="0" dirty="0">
                <a:solidFill>
                  <a:schemeClr val="accent3"/>
                </a:solidFill>
                <a:latin typeface="Avenir Next" pitchFamily="34" charset="0"/>
                <a:ea typeface="Avenir Next" pitchFamily="34" charset="-122"/>
                <a:cs typeface="Avenir Next" pitchFamily="34" charset="-120"/>
              </a:rPr>
              <a:t>LEFT HEADING</a:t>
            </a:r>
            <a:endParaRPr lang="en-US" sz="1400" dirty="0"/>
          </a:p>
        </p:txBody>
      </p:sp>
      <p:sp>
        <p:nvSpPr>
          <p:cNvPr id="4" name="Shape 0"/>
          <p:cNvSpPr/>
          <p:nvPr/>
        </p:nvSpPr>
        <p:spPr>
          <a:xfrm>
            <a:off x="731520" y="2560320"/>
            <a:ext cx="4998568" cy="0"/>
          </a:xfrm>
          <a:prstGeom prst="line">
            <a:avLst/>
          </a:prstGeom>
          <a:noFill/>
          <a:ln w="12700">
            <a:solidFill>
              <a:srgbClr val="B9C3B8"/>
            </a:solidFill>
            <a:prstDash val="solid"/>
          </a:ln>
        </p:spPr>
      </p:sp>
      <p:sp>
        <p:nvSpPr>
          <p:cNvPr id="5" name="Body"/>
          <p:cNvSpPr/>
          <p:nvPr>
            <p:ph idx="103" type="body" hasCustomPrompt="1"/>
          </p:nvPr>
        </p:nvSpPr>
        <p:spPr>
          <a:xfrm>
            <a:off x="731520" y="2743200"/>
            <a:ext cx="4998568" cy="3291840"/>
          </a:xfrm>
          <a:prstGeom prst="rect">
            <a:avLst/>
          </a:prstGeom>
          <a:noFill/>
          <a:ln/>
        </p:spPr>
        <p:txBody>
          <a:bodyPr wrap="square" rtlCol="0"/>
          <a:lstStyle>
            <a:lvl1pPr algn="l" indent="0" marL="0">
              <a:spcAft>
                <a:spcPts val="1400"/>
              </a:spcAft>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spcAft>
                <a:spcPts val="1400"/>
              </a:spcAft>
              <a:buNone/>
            </a:pPr>
            <a:r>
              <a:rPr lang="en-US" sz="2400" dirty="0">
                <a:solidFill>
                  <a:schemeClr val="tx1"/>
                </a:solidFill>
                <a:latin typeface="Avenir Next" pitchFamily="34" charset="0"/>
                <a:ea typeface="Avenir Next" pitchFamily="34" charset="-122"/>
                <a:cs typeface="Avenir Next" pitchFamily="34" charset="-120"/>
              </a:rPr>
              <a:t>Click to add text</a:t>
            </a:r>
            <a:endParaRPr lang="en-US" sz="2400" dirty="0"/>
          </a:p>
        </p:txBody>
      </p:sp>
      <p:sp>
        <p:nvSpPr>
          <p:cNvPr id="6" name="Label 2"/>
          <p:cNvSpPr/>
          <p:nvPr>
            <p:ph idx="104" type="body" hasCustomPrompt="1"/>
          </p:nvPr>
        </p:nvSpPr>
        <p:spPr>
          <a:xfrm>
            <a:off x="6461608" y="2103120"/>
            <a:ext cx="4998568" cy="365760"/>
          </a:xfrm>
          <a:prstGeom prst="rect">
            <a:avLst/>
          </a:prstGeom>
          <a:noFill/>
          <a:ln/>
        </p:spPr>
        <p:txBody>
          <a:bodyPr wrap="square" rtlCol="0"/>
          <a:lstStyle>
            <a:lvl1pPr algn="l" indent="0" marL="0">
              <a:buNone/>
              <a:defRPr lang="en-US" sz="1400" b="1" spc="300" kern="0" dirty="0">
                <a:solidFill>
                  <a:schemeClr val="accent3"/>
                </a:solidFill>
                <a:latin typeface="Avenir Next" pitchFamily="34" charset="0"/>
                <a:ea typeface="Avenir Next" pitchFamily="34" charset="-122"/>
                <a:cs typeface="Avenir Next" pitchFamily="34" charset="-120"/>
              </a:defRPr>
            </a:lvl1pPr>
          </a:lstStyle>
          <a:p>
            <a:pPr algn="l" indent="0" marL="0">
              <a:buNone/>
            </a:pPr>
            <a:r>
              <a:rPr lang="en-US" sz="1400" b="1" spc="300" kern="0" dirty="0">
                <a:solidFill>
                  <a:schemeClr val="accent3"/>
                </a:solidFill>
                <a:latin typeface="Avenir Next" pitchFamily="34" charset="0"/>
                <a:ea typeface="Avenir Next" pitchFamily="34" charset="-122"/>
                <a:cs typeface="Avenir Next" pitchFamily="34" charset="-120"/>
              </a:rPr>
              <a:t>RIGHT HEADING</a:t>
            </a:r>
            <a:endParaRPr lang="en-US" sz="1400" dirty="0"/>
          </a:p>
        </p:txBody>
      </p:sp>
      <p:sp>
        <p:nvSpPr>
          <p:cNvPr id="7" name="Shape 1"/>
          <p:cNvSpPr/>
          <p:nvPr/>
        </p:nvSpPr>
        <p:spPr>
          <a:xfrm>
            <a:off x="6461608" y="2560320"/>
            <a:ext cx="4998568" cy="0"/>
          </a:xfrm>
          <a:prstGeom prst="line">
            <a:avLst/>
          </a:prstGeom>
          <a:noFill/>
          <a:ln w="12700">
            <a:solidFill>
              <a:srgbClr val="B9C3B8"/>
            </a:solidFill>
            <a:prstDash val="solid"/>
          </a:ln>
        </p:spPr>
      </p:sp>
      <p:sp>
        <p:nvSpPr>
          <p:cNvPr id="8" name="Body 2"/>
          <p:cNvSpPr/>
          <p:nvPr>
            <p:ph idx="106" type="body" hasCustomPrompt="1"/>
          </p:nvPr>
        </p:nvSpPr>
        <p:spPr>
          <a:xfrm>
            <a:off x="6461608" y="2743200"/>
            <a:ext cx="4998568" cy="3291840"/>
          </a:xfrm>
          <a:prstGeom prst="rect">
            <a:avLst/>
          </a:prstGeom>
          <a:noFill/>
          <a:ln/>
        </p:spPr>
        <p:txBody>
          <a:bodyPr wrap="square" rtlCol="0"/>
          <a:lstStyle>
            <a:lvl1pPr algn="l" indent="0" marL="0">
              <a:spcAft>
                <a:spcPts val="1400"/>
              </a:spcAft>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spcAft>
                <a:spcPts val="1400"/>
              </a:spcAft>
              <a:buNone/>
            </a:pPr>
            <a:r>
              <a:rPr lang="en-US" sz="2400" dirty="0">
                <a:solidFill>
                  <a:schemeClr val="tx1"/>
                </a:solidFill>
                <a:latin typeface="Avenir Next" pitchFamily="34" charset="0"/>
                <a:ea typeface="Avenir Next" pitchFamily="34" charset="-122"/>
                <a:cs typeface="Avenir Next" pitchFamily="34" charset="-120"/>
              </a:rPr>
              <a:t>Click to add text</a:t>
            </a:r>
            <a:endParaRPr lang="en-US" sz="2400" dirty="0"/>
          </a:p>
        </p:txBody>
      </p:sp>
      <p:sp>
        <p:nvSpPr>
          <p:cNvPr id="9"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1010</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ctivity">
    <p:bg>
      <p:bgPr>
        <a:solidFill>
          <a:schemeClr val="accent2"/>
        </a:solidFill>
      </p:bgPr>
    </p:bg>
    <p:spTree>
      <p:nvGrpSpPr>
        <p:cNvPr id="1" name=""/>
        <p:cNvGrpSpPr/>
        <p:nvPr/>
      </p:nvGrpSpPr>
      <p:grpSpPr>
        <a:xfrm>
          <a:off x="0" y="0"/>
          <a:ext cx="0" cy="0"/>
          <a:chOff x="0" y="0"/>
          <a:chExt cx="0" cy="0"/>
        </a:xfrm>
      </p:grpSpPr>
      <p:sp>
        <p:nvSpPr>
          <p:cNvPr id="2" name="Label"/>
          <p:cNvSpPr txBox="1"/>
          <p:nvPr/>
        </p:nvSpPr>
        <p:spPr>
          <a:xfrm>
            <a:off x="731520" y="731520"/>
            <a:ext cx="1828800" cy="320040"/>
          </a:xfrm>
          <a:prstGeom prst="rect">
            <a:avLst/>
          </a:prstGeom>
          <a:noFill/>
          <a:ln/>
        </p:spPr>
        <p:txBody>
          <a:bodyPr wrap="square" lIns="0" tIns="0" rIns="0" bIns="0" rtlCol="0" anchor="t"/>
          <a:lstStyle/>
          <a:p>
            <a:pPr algn="l" indent="0" marL="0">
              <a:buNone/>
            </a:pPr>
            <a:r>
              <a:rPr lang="en-US" sz="1400" b="1" spc="300" kern="0" dirty="0">
                <a:solidFill>
                  <a:schemeClr val="tx1"/>
                </a:solidFill>
                <a:latin typeface="Avenir Next" pitchFamily="34" charset="0"/>
                <a:ea typeface="Avenir Next" pitchFamily="34" charset="-122"/>
                <a:cs typeface="Avenir Next" pitchFamily="34" charset="-120"/>
              </a:rPr>
              <a:t>YOUR TURN</a:t>
            </a:r>
            <a:endParaRPr lang="en-US" sz="1400" dirty="0"/>
          </a:p>
        </p:txBody>
      </p:sp>
      <p:sp>
        <p:nvSpPr>
          <p:cNvPr id="3" name="Label 2"/>
          <p:cNvSpPr/>
          <p:nvPr>
            <p:ph idx="101" type="body" hasCustomPrompt="1"/>
          </p:nvPr>
        </p:nvSpPr>
        <p:spPr>
          <a:xfrm>
            <a:off x="2651760" y="731520"/>
            <a:ext cx="5486400" cy="320040"/>
          </a:xfrm>
          <a:prstGeom prst="rect">
            <a:avLst/>
          </a:prstGeom>
          <a:noFill/>
          <a:ln/>
        </p:spPr>
        <p:txBody>
          <a:bodyPr wrap="square" rtlCol="0"/>
          <a:lstStyle>
            <a:lvl1pPr algn="l" indent="0" marL="0">
              <a:buNone/>
              <a:defRPr lang="en-US" sz="1400" b="1" spc="300" kern="0" dirty="0">
                <a:solidFill>
                  <a:srgbClr val="3A2A0C"/>
                </a:solidFill>
                <a:latin typeface="Avenir Next" pitchFamily="34" charset="0"/>
                <a:ea typeface="Avenir Next" pitchFamily="34" charset="-122"/>
                <a:cs typeface="Avenir Next" pitchFamily="34" charset="-120"/>
              </a:defRPr>
            </a:lvl1pPr>
          </a:lstStyle>
          <a:p>
            <a:pPr algn="l" indent="0" marL="0">
              <a:buNone/>
            </a:pPr>
            <a:r>
              <a:rPr lang="en-US" sz="1400" b="1" spc="300" kern="0" dirty="0">
                <a:solidFill>
                  <a:srgbClr val="3A2A0C"/>
                </a:solidFill>
                <a:latin typeface="Avenir Next" pitchFamily="34" charset="0"/>
                <a:ea typeface="Avenir Next" pitchFamily="34" charset="-122"/>
                <a:cs typeface="Avenir Next" pitchFamily="34" charset="-120"/>
              </a:rPr>
              <a:t>TIME · FORMAT</a:t>
            </a:r>
            <a:endParaRPr lang="en-US" sz="1400" dirty="0"/>
          </a:p>
        </p:txBody>
      </p:sp>
      <p:sp>
        <p:nvSpPr>
          <p:cNvPr id="4" name="Title"/>
          <p:cNvSpPr/>
          <p:nvPr>
            <p:ph idx="102" type="title" hasCustomPrompt="1"/>
          </p:nvPr>
        </p:nvSpPr>
        <p:spPr>
          <a:xfrm>
            <a:off x="731520" y="1417320"/>
            <a:ext cx="10728655" cy="1645920"/>
          </a:xfrm>
          <a:prstGeom prst="rect">
            <a:avLst/>
          </a:prstGeom>
          <a:noFill/>
          <a:ln/>
        </p:spPr>
        <p:txBody>
          <a:bodyPr wrap="square" rtlCol="0"/>
          <a:lstStyle>
            <a:lvl1pPr algn="l" indent="0" marL="0">
              <a:buNone/>
              <a:defRPr lang="en-US" sz="4000" b="1" dirty="0">
                <a:solidFill>
                  <a:schemeClr val="tx1"/>
                </a:solidFill>
                <a:latin typeface="Avenir Next" pitchFamily="34" charset="0"/>
                <a:ea typeface="Avenir Next" pitchFamily="34" charset="-122"/>
                <a:cs typeface="Avenir Next" pitchFamily="34" charset="-120"/>
              </a:defRPr>
            </a:lvl1pPr>
          </a:lstStyle>
          <a:p>
            <a:pPr algn="l" indent="0" marL="0">
              <a:buNone/>
            </a:pPr>
            <a:r>
              <a:rPr lang="en-US" sz="4000" b="1" dirty="0">
                <a:solidFill>
                  <a:schemeClr val="tx1"/>
                </a:solidFill>
                <a:latin typeface="Avenir Next" pitchFamily="34" charset="0"/>
                <a:ea typeface="Avenir Next" pitchFamily="34" charset="-122"/>
                <a:cs typeface="Avenir Next" pitchFamily="34" charset="-120"/>
              </a:rPr>
              <a:t>The task, as a question</a:t>
            </a:r>
            <a:endParaRPr lang="en-US" sz="4000" dirty="0"/>
          </a:p>
        </p:txBody>
      </p:sp>
      <p:sp>
        <p:nvSpPr>
          <p:cNvPr id="5" name="Body"/>
          <p:cNvSpPr/>
          <p:nvPr>
            <p:ph idx="103" type="body" hasCustomPrompt="1"/>
          </p:nvPr>
        </p:nvSpPr>
        <p:spPr>
          <a:xfrm>
            <a:off x="731520" y="3291840"/>
            <a:ext cx="10058400" cy="2743200"/>
          </a:xfrm>
          <a:prstGeom prst="rect">
            <a:avLst/>
          </a:prstGeom>
          <a:noFill/>
          <a:ln/>
        </p:spPr>
        <p:txBody>
          <a:bodyPr wrap="square" rtlCol="0"/>
          <a:lstStyle>
            <a:lvl1pPr algn="l" indent="0" marL="0">
              <a:spcAft>
                <a:spcPts val="1400"/>
              </a:spcAft>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spcAft>
                <a:spcPts val="1400"/>
              </a:spcAft>
              <a:buNone/>
            </a:pPr>
            <a:r>
              <a:rPr lang="en-US" sz="2400" dirty="0">
                <a:solidFill>
                  <a:schemeClr val="tx1"/>
                </a:solidFill>
                <a:latin typeface="Avenir Next" pitchFamily="34" charset="0"/>
                <a:ea typeface="Avenir Next" pitchFamily="34" charset="-122"/>
                <a:cs typeface="Avenir Next" pitchFamily="34" charset="-120"/>
              </a:rPr>
              <a:t>Steps or prompts</a:t>
            </a:r>
            <a:endParaRPr lang="en-US" sz="2400" dirty="0"/>
          </a:p>
        </p:txBody>
      </p:sp>
      <p:sp>
        <p:nvSpPr>
          <p:cNvPr id="6"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rgbClr val="3A2A0C"/>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rgbClr val="3A2A0C"/>
                </a:solidFill>
                <a:latin typeface="Avenir Next"/>
                <a:ea typeface="Avenir Next"/>
                <a:cs typeface="Avenir Next"/>
              </a:defRPr>
            </a:lvl1pPr>
          </a:lstStyle>
          <a:p>
            <a:pPr algn="r"/>
            <a:fld id="{F7021451-1387-4CA6-816F-3879F97B5CBC}" type="slidenum">
              <a:rPr b="0" lang="en-US"/>
              <a:t>1011</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heck Question (4 options)">
    <p:bg>
      <p:bgPr>
        <a:solidFill>
          <a:schemeClr val="bg1"/>
        </a:solidFill>
      </p:bgPr>
    </p:bg>
    <p:spTree>
      <p:nvGrpSpPr>
        <p:cNvPr id="1" name=""/>
        <p:cNvGrpSpPr/>
        <p:nvPr/>
      </p:nvGrpSpPr>
      <p:grpSpPr>
        <a:xfrm>
          <a:off x="0" y="0"/>
          <a:ext cx="0" cy="0"/>
          <a:chOff x="0" y="0"/>
          <a:chExt cx="0" cy="0"/>
        </a:xfrm>
      </p:grpSpPr>
      <p:sp>
        <p:nvSpPr>
          <p:cNvPr id="2" name="Label"/>
          <p:cNvSpPr txBox="1"/>
          <p:nvPr/>
        </p:nvSpPr>
        <p:spPr>
          <a:xfrm>
            <a:off x="731520" y="731520"/>
            <a:ext cx="7315200" cy="320040"/>
          </a:xfrm>
          <a:prstGeom prst="rect">
            <a:avLst/>
          </a:prstGeom>
          <a:noFill/>
          <a:ln/>
        </p:spPr>
        <p:txBody>
          <a:bodyPr wrap="square" lIns="0" tIns="0" rIns="0" bIns="0" rtlCol="0" anchor="t"/>
          <a:lstStyle/>
          <a:p>
            <a:pPr algn="l" indent="0" marL="0">
              <a:buNone/>
            </a:pPr>
            <a:r>
              <a:rPr lang="en-US" sz="1400" b="1" spc="300" kern="0" dirty="0">
                <a:solidFill>
                  <a:schemeClr val="accent3"/>
                </a:solidFill>
                <a:latin typeface="Avenir Next" pitchFamily="34" charset="0"/>
                <a:ea typeface="Avenir Next" pitchFamily="34" charset="-122"/>
                <a:cs typeface="Avenir Next" pitchFamily="34" charset="-120"/>
              </a:rPr>
              <a:t>CHECK YOUR UNDERSTANDING</a:t>
            </a:r>
            <a:endParaRPr lang="en-US" sz="1400" dirty="0"/>
          </a:p>
        </p:txBody>
      </p:sp>
      <p:sp>
        <p:nvSpPr>
          <p:cNvPr id="3" name="Title"/>
          <p:cNvSpPr/>
          <p:nvPr>
            <p:ph idx="101" type="title" hasCustomPrompt="1"/>
          </p:nvPr>
        </p:nvSpPr>
        <p:spPr>
          <a:xfrm>
            <a:off x="731520" y="1234440"/>
            <a:ext cx="10728655" cy="1234440"/>
          </a:xfrm>
          <a:prstGeom prst="rect">
            <a:avLst/>
          </a:prstGeom>
          <a:noFill/>
          <a:ln/>
        </p:spPr>
        <p:txBody>
          <a:bodyPr wrap="square" rtlCol="0"/>
          <a:lstStyle>
            <a:lvl1pPr algn="l" indent="0" marL="0">
              <a:buNone/>
              <a:defRPr lang="en-US" sz="4000" b="1" dirty="0">
                <a:solidFill>
                  <a:schemeClr val="tx2"/>
                </a:solidFill>
                <a:latin typeface="Avenir Next" pitchFamily="34" charset="0"/>
                <a:ea typeface="Avenir Next" pitchFamily="34" charset="-122"/>
                <a:cs typeface="Avenir Next" pitchFamily="34" charset="-120"/>
              </a:defRPr>
            </a:lvl1pPr>
          </a:lstStyle>
          <a:p>
            <a:pPr algn="l" indent="0" marL="0">
              <a:buNone/>
            </a:pPr>
            <a:r>
              <a:rPr lang="en-US" sz="4000" b="1" dirty="0">
                <a:solidFill>
                  <a:schemeClr val="tx2"/>
                </a:solidFill>
                <a:latin typeface="Avenir Next" pitchFamily="34" charset="0"/>
                <a:ea typeface="Avenir Next" pitchFamily="34" charset="-122"/>
                <a:cs typeface="Avenir Next" pitchFamily="34" charset="-120"/>
              </a:rPr>
              <a:t>Question</a:t>
            </a:r>
            <a:endParaRPr lang="en-US" sz="4000" dirty="0"/>
          </a:p>
        </p:txBody>
      </p:sp>
      <p:sp>
        <p:nvSpPr>
          <p:cNvPr id="4" name="Shape 1"/>
          <p:cNvSpPr/>
          <p:nvPr/>
        </p:nvSpPr>
        <p:spPr>
          <a:xfrm>
            <a:off x="731520" y="2606040"/>
            <a:ext cx="5181448" cy="1508760"/>
          </a:xfrm>
          <a:prstGeom prst="rect">
            <a:avLst/>
          </a:prstGeom>
          <a:ln w="12700">
            <a:solidFill>
              <a:srgbClr val="B9C3B8"/>
            </a:solidFill>
            <a:prstDash val="solid"/>
          </a:ln>
        </p:spPr>
      </p:sp>
      <p:sp>
        <p:nvSpPr>
          <p:cNvPr id="5" name="Shape 2"/>
          <p:cNvSpPr/>
          <p:nvPr/>
        </p:nvSpPr>
        <p:spPr>
          <a:xfrm>
            <a:off x="1005840" y="3081528"/>
            <a:ext cx="566928" cy="566928"/>
          </a:xfrm>
          <a:prstGeom prst="rect">
            <a:avLst/>
          </a:prstGeom>
          <a:solidFill>
            <a:schemeClr val="accent3"/>
          </a:solidFill>
          <a:ln w="12700">
            <a:solidFill>
              <a:schemeClr val="accent3"/>
            </a:solidFill>
            <a:prstDash val="solid"/>
          </a:ln>
        </p:spPr>
      </p:sp>
      <p:sp>
        <p:nvSpPr>
          <p:cNvPr id="6" name="Label 2"/>
          <p:cNvSpPr txBox="1"/>
          <p:nvPr/>
        </p:nvSpPr>
        <p:spPr>
          <a:xfrm>
            <a:off x="1005840" y="3209544"/>
            <a:ext cx="566928" cy="310896"/>
          </a:xfrm>
          <a:prstGeom prst="rect">
            <a:avLst/>
          </a:prstGeom>
          <a:noFill/>
          <a:ln/>
        </p:spPr>
        <p:txBody>
          <a:bodyPr wrap="square" lIns="0" tIns="0" rIns="0" bIns="0" rtlCol="0" anchor="t"/>
          <a:lstStyle/>
          <a:p>
            <a:pPr algn="ctr" indent="0" marL="0">
              <a:buNone/>
            </a:pPr>
            <a:r>
              <a:rPr lang="en-US" sz="1400" b="1" dirty="0">
                <a:solidFill>
                  <a:schemeClr val="bg1"/>
                </a:solidFill>
                <a:latin typeface="Avenir Next" pitchFamily="34" charset="0"/>
                <a:ea typeface="Avenir Next" pitchFamily="34" charset="-122"/>
                <a:cs typeface="Avenir Next" pitchFamily="34" charset="-120"/>
              </a:rPr>
              <a:t>A</a:t>
            </a:r>
            <a:endParaRPr lang="en-US" sz="1400" dirty="0"/>
          </a:p>
        </p:txBody>
      </p:sp>
      <p:sp>
        <p:nvSpPr>
          <p:cNvPr id="7" name="Body Small"/>
          <p:cNvSpPr/>
          <p:nvPr>
            <p:ph idx="105" type="body" hasCustomPrompt="1"/>
          </p:nvPr>
        </p:nvSpPr>
        <p:spPr>
          <a:xfrm>
            <a:off x="1828800" y="2788920"/>
            <a:ext cx="3809848" cy="1143000"/>
          </a:xfrm>
          <a:prstGeom prst="rect">
            <a:avLst/>
          </a:prstGeom>
          <a:noFill/>
          <a:ln/>
        </p:spPr>
        <p:txBody>
          <a:bodyPr wrap="square" rtlCol="0"/>
          <a:lstStyle>
            <a:lvl1pPr algn="l" indent="0" marL="0">
              <a:spcAft>
                <a:spcPts val="1000"/>
              </a:spcAft>
              <a:buNone/>
              <a:defRPr lang="en-US" sz="2000" dirty="0">
                <a:solidFill>
                  <a:schemeClr val="tx1"/>
                </a:solidFill>
                <a:latin typeface="Avenir Next" pitchFamily="34" charset="0"/>
                <a:ea typeface="Avenir Next" pitchFamily="34" charset="-122"/>
                <a:cs typeface="Avenir Next" pitchFamily="34" charset="-120"/>
              </a:defRPr>
            </a:lvl1pPr>
          </a:lstStyle>
          <a:p>
            <a:pPr algn="l" indent="0" marL="0">
              <a:spcAft>
                <a:spcPts val="1000"/>
              </a:spcAft>
              <a:buNone/>
            </a:pPr>
            <a:r>
              <a:rPr lang="en-US" sz="2000" dirty="0">
                <a:solidFill>
                  <a:schemeClr val="tx1"/>
                </a:solidFill>
                <a:latin typeface="Avenir Next" pitchFamily="34" charset="0"/>
                <a:ea typeface="Avenir Next" pitchFamily="34" charset="-122"/>
                <a:cs typeface="Avenir Next" pitchFamily="34" charset="-120"/>
              </a:rPr>
              <a:t>Option A</a:t>
            </a:r>
            <a:endParaRPr lang="en-US" sz="2000" dirty="0"/>
          </a:p>
        </p:txBody>
      </p:sp>
      <p:sp>
        <p:nvSpPr>
          <p:cNvPr id="8" name="Shape 4"/>
          <p:cNvSpPr/>
          <p:nvPr/>
        </p:nvSpPr>
        <p:spPr>
          <a:xfrm>
            <a:off x="6278728" y="2606040"/>
            <a:ext cx="5181448" cy="1508760"/>
          </a:xfrm>
          <a:prstGeom prst="rect">
            <a:avLst/>
          </a:prstGeom>
          <a:ln w="12700">
            <a:solidFill>
              <a:srgbClr val="B9C3B8"/>
            </a:solidFill>
            <a:prstDash val="solid"/>
          </a:ln>
        </p:spPr>
      </p:sp>
      <p:sp>
        <p:nvSpPr>
          <p:cNvPr id="9" name="Shape 5"/>
          <p:cNvSpPr/>
          <p:nvPr/>
        </p:nvSpPr>
        <p:spPr>
          <a:xfrm>
            <a:off x="6553048" y="3081528"/>
            <a:ext cx="566928" cy="566928"/>
          </a:xfrm>
          <a:prstGeom prst="rect">
            <a:avLst/>
          </a:prstGeom>
          <a:solidFill>
            <a:schemeClr val="accent3"/>
          </a:solidFill>
          <a:ln w="12700">
            <a:solidFill>
              <a:schemeClr val="accent3"/>
            </a:solidFill>
            <a:prstDash val="solid"/>
          </a:ln>
        </p:spPr>
      </p:sp>
      <p:sp>
        <p:nvSpPr>
          <p:cNvPr id="10" name="Label 3"/>
          <p:cNvSpPr txBox="1"/>
          <p:nvPr/>
        </p:nvSpPr>
        <p:spPr>
          <a:xfrm>
            <a:off x="6553048" y="3209544"/>
            <a:ext cx="566928" cy="310896"/>
          </a:xfrm>
          <a:prstGeom prst="rect">
            <a:avLst/>
          </a:prstGeom>
          <a:noFill/>
          <a:ln/>
        </p:spPr>
        <p:txBody>
          <a:bodyPr wrap="square" lIns="0" tIns="0" rIns="0" bIns="0" rtlCol="0" anchor="t"/>
          <a:lstStyle/>
          <a:p>
            <a:pPr algn="ctr" indent="0" marL="0">
              <a:buNone/>
            </a:pPr>
            <a:r>
              <a:rPr lang="en-US" sz="1400" b="1" dirty="0">
                <a:solidFill>
                  <a:schemeClr val="bg1"/>
                </a:solidFill>
                <a:latin typeface="Avenir Next" pitchFamily="34" charset="0"/>
                <a:ea typeface="Avenir Next" pitchFamily="34" charset="-122"/>
                <a:cs typeface="Avenir Next" pitchFamily="34" charset="-120"/>
              </a:rPr>
              <a:t>B</a:t>
            </a:r>
            <a:endParaRPr lang="en-US" sz="1400" dirty="0"/>
          </a:p>
        </p:txBody>
      </p:sp>
      <p:sp>
        <p:nvSpPr>
          <p:cNvPr id="11" name="Body Small 2"/>
          <p:cNvSpPr/>
          <p:nvPr>
            <p:ph idx="109" type="body" hasCustomPrompt="1"/>
          </p:nvPr>
        </p:nvSpPr>
        <p:spPr>
          <a:xfrm>
            <a:off x="7376008" y="2788920"/>
            <a:ext cx="3809848" cy="1143000"/>
          </a:xfrm>
          <a:prstGeom prst="rect">
            <a:avLst/>
          </a:prstGeom>
          <a:noFill/>
          <a:ln/>
        </p:spPr>
        <p:txBody>
          <a:bodyPr wrap="square" rtlCol="0"/>
          <a:lstStyle>
            <a:lvl1pPr algn="l" indent="0" marL="0">
              <a:spcAft>
                <a:spcPts val="1000"/>
              </a:spcAft>
              <a:buNone/>
              <a:defRPr lang="en-US" sz="2000" dirty="0">
                <a:solidFill>
                  <a:schemeClr val="tx1"/>
                </a:solidFill>
                <a:latin typeface="Avenir Next" pitchFamily="34" charset="0"/>
                <a:ea typeface="Avenir Next" pitchFamily="34" charset="-122"/>
                <a:cs typeface="Avenir Next" pitchFamily="34" charset="-120"/>
              </a:defRPr>
            </a:lvl1pPr>
          </a:lstStyle>
          <a:p>
            <a:pPr algn="l" indent="0" marL="0">
              <a:spcAft>
                <a:spcPts val="1000"/>
              </a:spcAft>
              <a:buNone/>
            </a:pPr>
            <a:r>
              <a:rPr lang="en-US" sz="2000" dirty="0">
                <a:solidFill>
                  <a:schemeClr val="tx1"/>
                </a:solidFill>
                <a:latin typeface="Avenir Next" pitchFamily="34" charset="0"/>
                <a:ea typeface="Avenir Next" pitchFamily="34" charset="-122"/>
                <a:cs typeface="Avenir Next" pitchFamily="34" charset="-120"/>
              </a:rPr>
              <a:t>Option B</a:t>
            </a:r>
            <a:endParaRPr lang="en-US" sz="2000" dirty="0"/>
          </a:p>
        </p:txBody>
      </p:sp>
      <p:sp>
        <p:nvSpPr>
          <p:cNvPr id="12" name="Shape 7"/>
          <p:cNvSpPr/>
          <p:nvPr/>
        </p:nvSpPr>
        <p:spPr>
          <a:xfrm>
            <a:off x="731520" y="4343400"/>
            <a:ext cx="5181448" cy="1508760"/>
          </a:xfrm>
          <a:prstGeom prst="rect">
            <a:avLst/>
          </a:prstGeom>
          <a:ln w="12700">
            <a:solidFill>
              <a:srgbClr val="B9C3B8"/>
            </a:solidFill>
            <a:prstDash val="solid"/>
          </a:ln>
        </p:spPr>
      </p:sp>
      <p:sp>
        <p:nvSpPr>
          <p:cNvPr id="13" name="Shape 8"/>
          <p:cNvSpPr/>
          <p:nvPr/>
        </p:nvSpPr>
        <p:spPr>
          <a:xfrm>
            <a:off x="1005840" y="4818888"/>
            <a:ext cx="566928" cy="566928"/>
          </a:xfrm>
          <a:prstGeom prst="rect">
            <a:avLst/>
          </a:prstGeom>
          <a:solidFill>
            <a:schemeClr val="accent3"/>
          </a:solidFill>
          <a:ln w="12700">
            <a:solidFill>
              <a:schemeClr val="accent3"/>
            </a:solidFill>
            <a:prstDash val="solid"/>
          </a:ln>
        </p:spPr>
      </p:sp>
      <p:sp>
        <p:nvSpPr>
          <p:cNvPr id="14" name="Label 4"/>
          <p:cNvSpPr txBox="1"/>
          <p:nvPr/>
        </p:nvSpPr>
        <p:spPr>
          <a:xfrm>
            <a:off x="1005840" y="4946904"/>
            <a:ext cx="566928" cy="310896"/>
          </a:xfrm>
          <a:prstGeom prst="rect">
            <a:avLst/>
          </a:prstGeom>
          <a:noFill/>
          <a:ln/>
        </p:spPr>
        <p:txBody>
          <a:bodyPr wrap="square" lIns="0" tIns="0" rIns="0" bIns="0" rtlCol="0" anchor="t"/>
          <a:lstStyle/>
          <a:p>
            <a:pPr algn="ctr" indent="0" marL="0">
              <a:buNone/>
            </a:pPr>
            <a:r>
              <a:rPr lang="en-US" sz="1400" b="1" dirty="0">
                <a:solidFill>
                  <a:schemeClr val="bg1"/>
                </a:solidFill>
                <a:latin typeface="Avenir Next" pitchFamily="34" charset="0"/>
                <a:ea typeface="Avenir Next" pitchFamily="34" charset="-122"/>
                <a:cs typeface="Avenir Next" pitchFamily="34" charset="-120"/>
              </a:rPr>
              <a:t>C</a:t>
            </a:r>
            <a:endParaRPr lang="en-US" sz="1400" dirty="0"/>
          </a:p>
        </p:txBody>
      </p:sp>
      <p:sp>
        <p:nvSpPr>
          <p:cNvPr id="15" name="Body Small 3"/>
          <p:cNvSpPr/>
          <p:nvPr>
            <p:ph idx="113" type="body" hasCustomPrompt="1"/>
          </p:nvPr>
        </p:nvSpPr>
        <p:spPr>
          <a:xfrm>
            <a:off x="1828800" y="4526280"/>
            <a:ext cx="3809848" cy="1143000"/>
          </a:xfrm>
          <a:prstGeom prst="rect">
            <a:avLst/>
          </a:prstGeom>
          <a:noFill/>
          <a:ln/>
        </p:spPr>
        <p:txBody>
          <a:bodyPr wrap="square" rtlCol="0"/>
          <a:lstStyle>
            <a:lvl1pPr algn="l" indent="0" marL="0">
              <a:spcAft>
                <a:spcPts val="1000"/>
              </a:spcAft>
              <a:buNone/>
              <a:defRPr lang="en-US" sz="2000" dirty="0">
                <a:solidFill>
                  <a:schemeClr val="tx1"/>
                </a:solidFill>
                <a:latin typeface="Avenir Next" pitchFamily="34" charset="0"/>
                <a:ea typeface="Avenir Next" pitchFamily="34" charset="-122"/>
                <a:cs typeface="Avenir Next" pitchFamily="34" charset="-120"/>
              </a:defRPr>
            </a:lvl1pPr>
          </a:lstStyle>
          <a:p>
            <a:pPr algn="l" indent="0" marL="0">
              <a:spcAft>
                <a:spcPts val="1000"/>
              </a:spcAft>
              <a:buNone/>
            </a:pPr>
            <a:r>
              <a:rPr lang="en-US" sz="2000" dirty="0">
                <a:solidFill>
                  <a:schemeClr val="tx1"/>
                </a:solidFill>
                <a:latin typeface="Avenir Next" pitchFamily="34" charset="0"/>
                <a:ea typeface="Avenir Next" pitchFamily="34" charset="-122"/>
                <a:cs typeface="Avenir Next" pitchFamily="34" charset="-120"/>
              </a:rPr>
              <a:t>Option C</a:t>
            </a:r>
            <a:endParaRPr lang="en-US" sz="2000" dirty="0"/>
          </a:p>
        </p:txBody>
      </p:sp>
      <p:sp>
        <p:nvSpPr>
          <p:cNvPr id="16" name="Shape 10"/>
          <p:cNvSpPr/>
          <p:nvPr/>
        </p:nvSpPr>
        <p:spPr>
          <a:xfrm>
            <a:off x="6278728" y="4343400"/>
            <a:ext cx="5181448" cy="1508760"/>
          </a:xfrm>
          <a:prstGeom prst="rect">
            <a:avLst/>
          </a:prstGeom>
          <a:ln w="12700">
            <a:solidFill>
              <a:srgbClr val="B9C3B8"/>
            </a:solidFill>
            <a:prstDash val="solid"/>
          </a:ln>
        </p:spPr>
      </p:sp>
      <p:sp>
        <p:nvSpPr>
          <p:cNvPr id="17" name="Shape 11"/>
          <p:cNvSpPr/>
          <p:nvPr/>
        </p:nvSpPr>
        <p:spPr>
          <a:xfrm>
            <a:off x="6553048" y="4818888"/>
            <a:ext cx="566928" cy="566928"/>
          </a:xfrm>
          <a:prstGeom prst="rect">
            <a:avLst/>
          </a:prstGeom>
          <a:solidFill>
            <a:schemeClr val="accent3"/>
          </a:solidFill>
          <a:ln w="12700">
            <a:solidFill>
              <a:schemeClr val="accent3"/>
            </a:solidFill>
            <a:prstDash val="solid"/>
          </a:ln>
        </p:spPr>
      </p:sp>
      <p:sp>
        <p:nvSpPr>
          <p:cNvPr id="18" name="Label 5"/>
          <p:cNvSpPr txBox="1"/>
          <p:nvPr/>
        </p:nvSpPr>
        <p:spPr>
          <a:xfrm>
            <a:off x="6553048" y="4946904"/>
            <a:ext cx="566928" cy="310896"/>
          </a:xfrm>
          <a:prstGeom prst="rect">
            <a:avLst/>
          </a:prstGeom>
          <a:noFill/>
          <a:ln/>
        </p:spPr>
        <p:txBody>
          <a:bodyPr wrap="square" lIns="0" tIns="0" rIns="0" bIns="0" rtlCol="0" anchor="t"/>
          <a:lstStyle/>
          <a:p>
            <a:pPr algn="ctr" indent="0" marL="0">
              <a:buNone/>
            </a:pPr>
            <a:r>
              <a:rPr lang="en-US" sz="1400" b="1" dirty="0">
                <a:solidFill>
                  <a:schemeClr val="bg1"/>
                </a:solidFill>
                <a:latin typeface="Avenir Next" pitchFamily="34" charset="0"/>
                <a:ea typeface="Avenir Next" pitchFamily="34" charset="-122"/>
                <a:cs typeface="Avenir Next" pitchFamily="34" charset="-120"/>
              </a:rPr>
              <a:t>D</a:t>
            </a:r>
            <a:endParaRPr lang="en-US" sz="1400" dirty="0"/>
          </a:p>
        </p:txBody>
      </p:sp>
      <p:sp>
        <p:nvSpPr>
          <p:cNvPr id="19" name="Body Small 4"/>
          <p:cNvSpPr/>
          <p:nvPr>
            <p:ph idx="117" type="body" hasCustomPrompt="1"/>
          </p:nvPr>
        </p:nvSpPr>
        <p:spPr>
          <a:xfrm>
            <a:off x="7376008" y="4526280"/>
            <a:ext cx="3809848" cy="1143000"/>
          </a:xfrm>
          <a:prstGeom prst="rect">
            <a:avLst/>
          </a:prstGeom>
          <a:noFill/>
          <a:ln/>
        </p:spPr>
        <p:txBody>
          <a:bodyPr wrap="square" rtlCol="0"/>
          <a:lstStyle>
            <a:lvl1pPr algn="l" indent="0" marL="0">
              <a:spcAft>
                <a:spcPts val="1000"/>
              </a:spcAft>
              <a:buNone/>
              <a:defRPr lang="en-US" sz="2000" dirty="0">
                <a:solidFill>
                  <a:schemeClr val="tx1"/>
                </a:solidFill>
                <a:latin typeface="Avenir Next" pitchFamily="34" charset="0"/>
                <a:ea typeface="Avenir Next" pitchFamily="34" charset="-122"/>
                <a:cs typeface="Avenir Next" pitchFamily="34" charset="-120"/>
              </a:defRPr>
            </a:lvl1pPr>
          </a:lstStyle>
          <a:p>
            <a:pPr algn="l" indent="0" marL="0">
              <a:spcAft>
                <a:spcPts val="1000"/>
              </a:spcAft>
              <a:buNone/>
            </a:pPr>
            <a:r>
              <a:rPr lang="en-US" sz="2000" dirty="0">
                <a:solidFill>
                  <a:schemeClr val="tx1"/>
                </a:solidFill>
                <a:latin typeface="Avenir Next" pitchFamily="34" charset="0"/>
                <a:ea typeface="Avenir Next" pitchFamily="34" charset="-122"/>
                <a:cs typeface="Avenir Next" pitchFamily="34" charset="-120"/>
              </a:rPr>
              <a:t>Option D</a:t>
            </a:r>
            <a:endParaRPr lang="en-US" sz="2000" dirty="0"/>
          </a:p>
        </p:txBody>
      </p:sp>
      <p:sp>
        <p:nvSpPr>
          <p:cNvPr id="20"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1012</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heck Question (2 options)">
    <p:bg>
      <p:bgPr>
        <a:solidFill>
          <a:schemeClr val="bg1"/>
        </a:solidFill>
      </p:bgPr>
    </p:bg>
    <p:spTree>
      <p:nvGrpSpPr>
        <p:cNvPr id="1" name=""/>
        <p:cNvGrpSpPr/>
        <p:nvPr/>
      </p:nvGrpSpPr>
      <p:grpSpPr>
        <a:xfrm>
          <a:off x="0" y="0"/>
          <a:ext cx="0" cy="0"/>
          <a:chOff x="0" y="0"/>
          <a:chExt cx="0" cy="0"/>
        </a:xfrm>
      </p:grpSpPr>
      <p:sp>
        <p:nvSpPr>
          <p:cNvPr id="2" name="Label"/>
          <p:cNvSpPr txBox="1"/>
          <p:nvPr/>
        </p:nvSpPr>
        <p:spPr>
          <a:xfrm>
            <a:off x="731520" y="731520"/>
            <a:ext cx="7315200" cy="320040"/>
          </a:xfrm>
          <a:prstGeom prst="rect">
            <a:avLst/>
          </a:prstGeom>
          <a:noFill/>
          <a:ln/>
        </p:spPr>
        <p:txBody>
          <a:bodyPr wrap="square" lIns="0" tIns="0" rIns="0" bIns="0" rtlCol="0" anchor="t"/>
          <a:lstStyle/>
          <a:p>
            <a:pPr algn="l" indent="0" marL="0">
              <a:buNone/>
            </a:pPr>
            <a:r>
              <a:rPr lang="en-US" sz="1400" b="1" spc="300" kern="0" dirty="0">
                <a:solidFill>
                  <a:schemeClr val="accent3"/>
                </a:solidFill>
                <a:latin typeface="Avenir Next" pitchFamily="34" charset="0"/>
                <a:ea typeface="Avenir Next" pitchFamily="34" charset="-122"/>
                <a:cs typeface="Avenir Next" pitchFamily="34" charset="-120"/>
              </a:rPr>
              <a:t>CHECK YOUR UNDERSTANDING</a:t>
            </a:r>
            <a:endParaRPr lang="en-US" sz="1400" dirty="0"/>
          </a:p>
        </p:txBody>
      </p:sp>
      <p:sp>
        <p:nvSpPr>
          <p:cNvPr id="3" name="Title"/>
          <p:cNvSpPr/>
          <p:nvPr>
            <p:ph idx="101" type="title" hasCustomPrompt="1"/>
          </p:nvPr>
        </p:nvSpPr>
        <p:spPr>
          <a:xfrm>
            <a:off x="731520" y="1234440"/>
            <a:ext cx="10728655" cy="1234440"/>
          </a:xfrm>
          <a:prstGeom prst="rect">
            <a:avLst/>
          </a:prstGeom>
          <a:noFill/>
          <a:ln/>
        </p:spPr>
        <p:txBody>
          <a:bodyPr wrap="square" rtlCol="0"/>
          <a:lstStyle>
            <a:lvl1pPr algn="l" indent="0" marL="0">
              <a:buNone/>
              <a:defRPr lang="en-US" sz="4000" b="1" dirty="0">
                <a:solidFill>
                  <a:schemeClr val="tx2"/>
                </a:solidFill>
                <a:latin typeface="Avenir Next" pitchFamily="34" charset="0"/>
                <a:ea typeface="Avenir Next" pitchFamily="34" charset="-122"/>
                <a:cs typeface="Avenir Next" pitchFamily="34" charset="-120"/>
              </a:defRPr>
            </a:lvl1pPr>
          </a:lstStyle>
          <a:p>
            <a:pPr algn="l" indent="0" marL="0">
              <a:buNone/>
            </a:pPr>
            <a:r>
              <a:rPr lang="en-US" sz="4000" b="1" dirty="0">
                <a:solidFill>
                  <a:schemeClr val="tx2"/>
                </a:solidFill>
                <a:latin typeface="Avenir Next" pitchFamily="34" charset="0"/>
                <a:ea typeface="Avenir Next" pitchFamily="34" charset="-122"/>
                <a:cs typeface="Avenir Next" pitchFamily="34" charset="-120"/>
              </a:rPr>
              <a:t>Question</a:t>
            </a:r>
            <a:endParaRPr lang="en-US" sz="4000" dirty="0"/>
          </a:p>
        </p:txBody>
      </p:sp>
      <p:sp>
        <p:nvSpPr>
          <p:cNvPr id="4" name="Shape 1"/>
          <p:cNvSpPr/>
          <p:nvPr/>
        </p:nvSpPr>
        <p:spPr>
          <a:xfrm>
            <a:off x="731520" y="2606040"/>
            <a:ext cx="5181448" cy="3383280"/>
          </a:xfrm>
          <a:prstGeom prst="rect">
            <a:avLst/>
          </a:prstGeom>
          <a:ln w="12700">
            <a:solidFill>
              <a:srgbClr val="B9C3B8"/>
            </a:solidFill>
            <a:prstDash val="solid"/>
          </a:ln>
        </p:spPr>
      </p:sp>
      <p:sp>
        <p:nvSpPr>
          <p:cNvPr id="5" name="Shape 2"/>
          <p:cNvSpPr/>
          <p:nvPr/>
        </p:nvSpPr>
        <p:spPr>
          <a:xfrm>
            <a:off x="1051560" y="2926080"/>
            <a:ext cx="566928" cy="566928"/>
          </a:xfrm>
          <a:prstGeom prst="rect">
            <a:avLst/>
          </a:prstGeom>
          <a:solidFill>
            <a:schemeClr val="accent3"/>
          </a:solidFill>
          <a:ln w="12700">
            <a:solidFill>
              <a:schemeClr val="accent3"/>
            </a:solidFill>
            <a:prstDash val="solid"/>
          </a:ln>
        </p:spPr>
      </p:sp>
      <p:sp>
        <p:nvSpPr>
          <p:cNvPr id="6" name="Label 2"/>
          <p:cNvSpPr txBox="1"/>
          <p:nvPr/>
        </p:nvSpPr>
        <p:spPr>
          <a:xfrm>
            <a:off x="1051560" y="3054096"/>
            <a:ext cx="566928" cy="310896"/>
          </a:xfrm>
          <a:prstGeom prst="rect">
            <a:avLst/>
          </a:prstGeom>
          <a:noFill/>
          <a:ln/>
        </p:spPr>
        <p:txBody>
          <a:bodyPr wrap="square" lIns="0" tIns="0" rIns="0" bIns="0" rtlCol="0" anchor="t"/>
          <a:lstStyle/>
          <a:p>
            <a:pPr algn="ctr" indent="0" marL="0">
              <a:buNone/>
            </a:pPr>
            <a:r>
              <a:rPr lang="en-US" sz="1400" b="1" dirty="0">
                <a:solidFill>
                  <a:schemeClr val="bg1"/>
                </a:solidFill>
                <a:latin typeface="Avenir Next" pitchFamily="34" charset="0"/>
                <a:ea typeface="Avenir Next" pitchFamily="34" charset="-122"/>
                <a:cs typeface="Avenir Next" pitchFamily="34" charset="-120"/>
              </a:rPr>
              <a:t>A</a:t>
            </a:r>
            <a:endParaRPr lang="en-US" sz="1400" dirty="0"/>
          </a:p>
        </p:txBody>
      </p:sp>
      <p:sp>
        <p:nvSpPr>
          <p:cNvPr id="7" name="Body"/>
          <p:cNvSpPr/>
          <p:nvPr>
            <p:ph idx="105" type="body" hasCustomPrompt="1"/>
          </p:nvPr>
        </p:nvSpPr>
        <p:spPr>
          <a:xfrm>
            <a:off x="1051560" y="3794760"/>
            <a:ext cx="4541368" cy="1920240"/>
          </a:xfrm>
          <a:prstGeom prst="rect">
            <a:avLst/>
          </a:prstGeom>
          <a:noFill/>
          <a:ln/>
        </p:spPr>
        <p:txBody>
          <a:bodyPr wrap="square" rtlCol="0"/>
          <a:lstStyle>
            <a:lvl1pPr algn="l" indent="0" marL="0">
              <a:spcAft>
                <a:spcPts val="1400"/>
              </a:spcAft>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spcAft>
                <a:spcPts val="1400"/>
              </a:spcAft>
              <a:buNone/>
            </a:pPr>
            <a:r>
              <a:rPr lang="en-US" sz="2400" dirty="0">
                <a:solidFill>
                  <a:schemeClr val="tx1"/>
                </a:solidFill>
                <a:latin typeface="Avenir Next" pitchFamily="34" charset="0"/>
                <a:ea typeface="Avenir Next" pitchFamily="34" charset="-122"/>
                <a:cs typeface="Avenir Next" pitchFamily="34" charset="-120"/>
              </a:rPr>
              <a:t>Option A</a:t>
            </a:r>
            <a:endParaRPr lang="en-US" sz="2400" dirty="0"/>
          </a:p>
        </p:txBody>
      </p:sp>
      <p:sp>
        <p:nvSpPr>
          <p:cNvPr id="8" name="Shape 4"/>
          <p:cNvSpPr/>
          <p:nvPr/>
        </p:nvSpPr>
        <p:spPr>
          <a:xfrm>
            <a:off x="6278728" y="2606040"/>
            <a:ext cx="5181448" cy="3383280"/>
          </a:xfrm>
          <a:prstGeom prst="rect">
            <a:avLst/>
          </a:prstGeom>
          <a:ln w="12700">
            <a:solidFill>
              <a:srgbClr val="B9C3B8"/>
            </a:solidFill>
            <a:prstDash val="solid"/>
          </a:ln>
        </p:spPr>
      </p:sp>
      <p:sp>
        <p:nvSpPr>
          <p:cNvPr id="9" name="Shape 5"/>
          <p:cNvSpPr/>
          <p:nvPr/>
        </p:nvSpPr>
        <p:spPr>
          <a:xfrm>
            <a:off x="6598768" y="2926080"/>
            <a:ext cx="566928" cy="566928"/>
          </a:xfrm>
          <a:prstGeom prst="rect">
            <a:avLst/>
          </a:prstGeom>
          <a:solidFill>
            <a:schemeClr val="accent3"/>
          </a:solidFill>
          <a:ln w="12700">
            <a:solidFill>
              <a:schemeClr val="accent3"/>
            </a:solidFill>
            <a:prstDash val="solid"/>
          </a:ln>
        </p:spPr>
      </p:sp>
      <p:sp>
        <p:nvSpPr>
          <p:cNvPr id="10" name="Label 3"/>
          <p:cNvSpPr txBox="1"/>
          <p:nvPr/>
        </p:nvSpPr>
        <p:spPr>
          <a:xfrm>
            <a:off x="6598768" y="3054096"/>
            <a:ext cx="566928" cy="310896"/>
          </a:xfrm>
          <a:prstGeom prst="rect">
            <a:avLst/>
          </a:prstGeom>
          <a:noFill/>
          <a:ln/>
        </p:spPr>
        <p:txBody>
          <a:bodyPr wrap="square" lIns="0" tIns="0" rIns="0" bIns="0" rtlCol="0" anchor="t"/>
          <a:lstStyle/>
          <a:p>
            <a:pPr algn="ctr" indent="0" marL="0">
              <a:buNone/>
            </a:pPr>
            <a:r>
              <a:rPr lang="en-US" sz="1400" b="1" dirty="0">
                <a:solidFill>
                  <a:schemeClr val="bg1"/>
                </a:solidFill>
                <a:latin typeface="Avenir Next" pitchFamily="34" charset="0"/>
                <a:ea typeface="Avenir Next" pitchFamily="34" charset="-122"/>
                <a:cs typeface="Avenir Next" pitchFamily="34" charset="-120"/>
              </a:rPr>
              <a:t>B</a:t>
            </a:r>
            <a:endParaRPr lang="en-US" sz="1400" dirty="0"/>
          </a:p>
        </p:txBody>
      </p:sp>
      <p:sp>
        <p:nvSpPr>
          <p:cNvPr id="11" name="Body 2"/>
          <p:cNvSpPr/>
          <p:nvPr>
            <p:ph idx="109" type="body" hasCustomPrompt="1"/>
          </p:nvPr>
        </p:nvSpPr>
        <p:spPr>
          <a:xfrm>
            <a:off x="6598768" y="3794760"/>
            <a:ext cx="4541368" cy="1920240"/>
          </a:xfrm>
          <a:prstGeom prst="rect">
            <a:avLst/>
          </a:prstGeom>
          <a:noFill/>
          <a:ln/>
        </p:spPr>
        <p:txBody>
          <a:bodyPr wrap="square" rtlCol="0"/>
          <a:lstStyle>
            <a:lvl1pPr algn="l" indent="0" marL="0">
              <a:spcAft>
                <a:spcPts val="1400"/>
              </a:spcAft>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spcAft>
                <a:spcPts val="1400"/>
              </a:spcAft>
              <a:buNone/>
            </a:pPr>
            <a:r>
              <a:rPr lang="en-US" sz="2400" dirty="0">
                <a:solidFill>
                  <a:schemeClr val="tx1"/>
                </a:solidFill>
                <a:latin typeface="Avenir Next" pitchFamily="34" charset="0"/>
                <a:ea typeface="Avenir Next" pitchFamily="34" charset="-122"/>
                <a:cs typeface="Avenir Next" pitchFamily="34" charset="-120"/>
              </a:rPr>
              <a:t>Option B</a:t>
            </a:r>
            <a:endParaRPr lang="en-US" sz="2400" dirty="0"/>
          </a:p>
        </p:txBody>
      </p:sp>
      <p:sp>
        <p:nvSpPr>
          <p:cNvPr id="12"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1013</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292608" y="292608"/>
            <a:ext cx="11606479" cy="6272784"/>
          </a:xfrm>
          <a:prstGeom prst="rect">
            <a:avLst/>
          </a:prstGeom>
          <a:ln w="9525">
            <a:solidFill>
              <a:srgbClr val="B9C3B8"/>
            </a:solidFill>
            <a:prstDash val="solid"/>
          </a:ln>
        </p:spPr>
      </p:sp>
      <p:sp>
        <p:nvSpPr>
          <p:cNvPr id="3" name="Title Large"/>
          <p:cNvSpPr/>
          <p:nvPr>
            <p:ph idx="101" type="title" hasCustomPrompt="1"/>
          </p:nvPr>
        </p:nvSpPr>
        <p:spPr>
          <a:xfrm>
            <a:off x="1280160" y="1463040"/>
            <a:ext cx="9631375" cy="2743200"/>
          </a:xfrm>
          <a:prstGeom prst="rect">
            <a:avLst/>
          </a:prstGeom>
          <a:noFill/>
          <a:ln/>
        </p:spPr>
        <p:txBody>
          <a:bodyPr wrap="square" rtlCol="0"/>
          <a:lstStyle>
            <a:lvl1pPr algn="ctr" indent="0" marL="0">
              <a:buNone/>
              <a:defRPr lang="en-US" sz="5200" b="1" dirty="0">
                <a:solidFill>
                  <a:schemeClr val="tx2"/>
                </a:solidFill>
                <a:latin typeface="Avenir Next" pitchFamily="34" charset="0"/>
                <a:ea typeface="Avenir Next" pitchFamily="34" charset="-122"/>
                <a:cs typeface="Avenir Next" pitchFamily="34" charset="-120"/>
              </a:defRPr>
            </a:lvl1pPr>
          </a:lstStyle>
          <a:p>
            <a:pPr algn="ctr" indent="0" marL="0">
              <a:buNone/>
            </a:pPr>
            <a:r>
              <a:rPr lang="en-US" sz="5200" b="1" dirty="0">
                <a:solidFill>
                  <a:schemeClr val="tx2"/>
                </a:solidFill>
                <a:latin typeface="Avenir Next" pitchFamily="34" charset="0"/>
                <a:ea typeface="Avenir Next" pitchFamily="34" charset="-122"/>
                <a:cs typeface="Avenir Next" pitchFamily="34" charset="-120"/>
              </a:rPr>
              <a:t>One idea worth remembering</a:t>
            </a:r>
            <a:endParaRPr lang="en-US" sz="5200" dirty="0"/>
          </a:p>
        </p:txBody>
      </p:sp>
      <p:sp>
        <p:nvSpPr>
          <p:cNvPr id="4" name="Shape 1"/>
          <p:cNvSpPr/>
          <p:nvPr/>
        </p:nvSpPr>
        <p:spPr>
          <a:xfrm>
            <a:off x="5547208" y="4526280"/>
            <a:ext cx="1097280" cy="0"/>
          </a:xfrm>
          <a:prstGeom prst="line">
            <a:avLst/>
          </a:prstGeom>
          <a:noFill/>
          <a:ln w="12700">
            <a:solidFill>
              <a:schemeClr val="accent2"/>
            </a:solidFill>
            <a:prstDash val="solid"/>
          </a:ln>
        </p:spPr>
      </p:sp>
      <p:sp>
        <p:nvSpPr>
          <p:cNvPr id="5" name="Caption"/>
          <p:cNvSpPr/>
          <p:nvPr>
            <p:ph idx="103" type="body" hasCustomPrompt="1"/>
          </p:nvPr>
        </p:nvSpPr>
        <p:spPr>
          <a:xfrm>
            <a:off x="1280160" y="4754880"/>
            <a:ext cx="9631375" cy="548640"/>
          </a:xfrm>
          <a:prstGeom prst="rect">
            <a:avLst/>
          </a:prstGeom>
          <a:noFill/>
          <a:ln/>
        </p:spPr>
        <p:txBody>
          <a:bodyPr wrap="square" rtlCol="0"/>
          <a:lstStyle>
            <a:lvl1pPr algn="ctr" indent="0" marL="0">
              <a:buNone/>
              <a:defRPr lang="en-US" sz="1400" dirty="0">
                <a:solidFill>
                  <a:schemeClr val="accent6"/>
                </a:solidFill>
                <a:latin typeface="Avenir Next" pitchFamily="34" charset="0"/>
                <a:ea typeface="Avenir Next" pitchFamily="34" charset="-122"/>
                <a:cs typeface="Avenir Next" pitchFamily="34" charset="-120"/>
              </a:defRPr>
            </a:lvl1pPr>
          </a:lstStyle>
          <a:p>
            <a:pPr algn="ctr" indent="0" marL="0">
              <a:buNone/>
            </a:pPr>
            <a:r>
              <a:rPr lang="en-US" sz="1400" dirty="0">
                <a:solidFill>
                  <a:schemeClr val="accent6"/>
                </a:solidFill>
                <a:latin typeface="Avenir Next" pitchFamily="34" charset="0"/>
                <a:ea typeface="Avenir Next" pitchFamily="34" charset="-122"/>
                <a:cs typeface="Avenir Next" pitchFamily="34" charset="-120"/>
              </a:rPr>
              <a:t>Attribution or context</a:t>
            </a:r>
            <a:endParaRPr lang="en-US" sz="1400" dirty="0"/>
          </a:p>
        </p:txBody>
      </p:sp>
      <p:sp>
        <p:nvSpPr>
          <p:cNvPr id="6" name="Caption 2"/>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1014</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ummary">
    <p:bg>
      <p:bgPr>
        <a:solidFill>
          <a:schemeClr val="bg2"/>
        </a:solidFill>
      </p:bgPr>
    </p:bg>
    <p:spTree>
      <p:nvGrpSpPr>
        <p:cNvPr id="1" name=""/>
        <p:cNvGrpSpPr/>
        <p:nvPr/>
      </p:nvGrpSpPr>
      <p:grpSpPr>
        <a:xfrm>
          <a:off x="0" y="0"/>
          <a:ext cx="0" cy="0"/>
          <a:chOff x="0" y="0"/>
          <a:chExt cx="0" cy="0"/>
        </a:xfrm>
      </p:grpSpPr>
      <p:sp>
        <p:nvSpPr>
          <p:cNvPr id="2" name="Label"/>
          <p:cNvSpPr txBox="1"/>
          <p:nvPr/>
        </p:nvSpPr>
        <p:spPr>
          <a:xfrm>
            <a:off x="731520" y="731520"/>
            <a:ext cx="7315200" cy="320040"/>
          </a:xfrm>
          <a:prstGeom prst="rect">
            <a:avLst/>
          </a:prstGeom>
          <a:noFill/>
          <a:ln/>
        </p:spPr>
        <p:txBody>
          <a:bodyPr wrap="square" lIns="0" tIns="0" rIns="0" bIns="0" rtlCol="0" anchor="t"/>
          <a:lstStyle/>
          <a:p>
            <a:pPr algn="l" indent="0" marL="0">
              <a:buNone/>
            </a:pPr>
            <a:r>
              <a:rPr lang="en-US" sz="1400" b="1" spc="300" kern="0" dirty="0">
                <a:solidFill>
                  <a:schemeClr val="accent3"/>
                </a:solidFill>
                <a:latin typeface="Avenir Next" pitchFamily="34" charset="0"/>
                <a:ea typeface="Avenir Next" pitchFamily="34" charset="-122"/>
                <a:cs typeface="Avenir Next" pitchFamily="34" charset="-120"/>
              </a:rPr>
              <a:t>SUMMARY</a:t>
            </a:r>
            <a:endParaRPr lang="en-US" sz="1400" dirty="0"/>
          </a:p>
        </p:txBody>
      </p:sp>
      <p:sp>
        <p:nvSpPr>
          <p:cNvPr id="3" name="Title"/>
          <p:cNvSpPr/>
          <p:nvPr>
            <p:ph idx="101" type="title" hasCustomPrompt="1"/>
          </p:nvPr>
        </p:nvSpPr>
        <p:spPr>
          <a:xfrm>
            <a:off x="731520" y="1280160"/>
            <a:ext cx="10728655" cy="1097280"/>
          </a:xfrm>
          <a:prstGeom prst="rect">
            <a:avLst/>
          </a:prstGeom>
          <a:noFill/>
          <a:ln/>
        </p:spPr>
        <p:txBody>
          <a:bodyPr wrap="square" rtlCol="0"/>
          <a:lstStyle>
            <a:lvl1pPr algn="l" indent="0" marL="0">
              <a:buNone/>
              <a:defRPr lang="en-US" sz="4000" b="1" dirty="0">
                <a:solidFill>
                  <a:schemeClr val="tx2"/>
                </a:solidFill>
                <a:latin typeface="Avenir Next" pitchFamily="34" charset="0"/>
                <a:ea typeface="Avenir Next" pitchFamily="34" charset="-122"/>
                <a:cs typeface="Avenir Next" pitchFamily="34" charset="-120"/>
              </a:defRPr>
            </a:lvl1pPr>
          </a:lstStyle>
          <a:p>
            <a:pPr algn="l" indent="0" marL="0">
              <a:buNone/>
            </a:pPr>
            <a:r>
              <a:rPr lang="en-US" sz="4000" b="1" dirty="0">
                <a:solidFill>
                  <a:schemeClr val="tx2"/>
                </a:solidFill>
                <a:latin typeface="Avenir Next" pitchFamily="34" charset="0"/>
                <a:ea typeface="Avenir Next" pitchFamily="34" charset="-122"/>
                <a:cs typeface="Avenir Next" pitchFamily="34" charset="-120"/>
              </a:rPr>
              <a:t>Key points</a:t>
            </a:r>
            <a:endParaRPr lang="en-US" sz="4000" dirty="0"/>
          </a:p>
        </p:txBody>
      </p:sp>
      <p:sp>
        <p:nvSpPr>
          <p:cNvPr id="4" name="Body"/>
          <p:cNvSpPr/>
          <p:nvPr>
            <p:ph idx="102" type="body" hasCustomPrompt="1"/>
          </p:nvPr>
        </p:nvSpPr>
        <p:spPr>
          <a:xfrm>
            <a:off x="731520" y="2606040"/>
            <a:ext cx="6675120" cy="3383280"/>
          </a:xfrm>
          <a:prstGeom prst="rect">
            <a:avLst/>
          </a:prstGeom>
          <a:noFill/>
          <a:ln/>
        </p:spPr>
        <p:txBody>
          <a:bodyPr wrap="square" rtlCol="0"/>
          <a:lstStyle>
            <a:lvl1pPr algn="l" indent="0" marL="0">
              <a:spcAft>
                <a:spcPts val="1400"/>
              </a:spcAft>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spcAft>
                <a:spcPts val="1400"/>
              </a:spcAft>
              <a:buNone/>
            </a:pPr>
            <a:r>
              <a:rPr lang="en-US" sz="2400" dirty="0">
                <a:solidFill>
                  <a:schemeClr val="tx1"/>
                </a:solidFill>
                <a:latin typeface="Avenir Next" pitchFamily="34" charset="0"/>
                <a:ea typeface="Avenir Next" pitchFamily="34" charset="-122"/>
                <a:cs typeface="Avenir Next" pitchFamily="34" charset="-120"/>
              </a:rPr>
              <a:t>Three to five key points</a:t>
            </a:r>
            <a:endParaRPr lang="en-US" sz="2400" dirty="0"/>
          </a:p>
        </p:txBody>
      </p:sp>
      <p:sp>
        <p:nvSpPr>
          <p:cNvPr id="5" name="Shape 1"/>
          <p:cNvSpPr/>
          <p:nvPr/>
        </p:nvSpPr>
        <p:spPr>
          <a:xfrm>
            <a:off x="8001000" y="2606040"/>
            <a:ext cx="3459175" cy="3383280"/>
          </a:xfrm>
          <a:prstGeom prst="rect">
            <a:avLst/>
          </a:prstGeom>
          <a:ln w="12700">
            <a:solidFill>
              <a:schemeClr val="tx2"/>
            </a:solidFill>
            <a:prstDash val="solid"/>
          </a:ln>
        </p:spPr>
      </p:sp>
      <p:sp>
        <p:nvSpPr>
          <p:cNvPr id="6" name="Label 2"/>
          <p:cNvSpPr txBox="1"/>
          <p:nvPr/>
        </p:nvSpPr>
        <p:spPr>
          <a:xfrm>
            <a:off x="8275320" y="2788920"/>
            <a:ext cx="3200400" cy="320040"/>
          </a:xfrm>
          <a:prstGeom prst="rect">
            <a:avLst/>
          </a:prstGeom>
          <a:noFill/>
          <a:ln/>
        </p:spPr>
        <p:txBody>
          <a:bodyPr wrap="square" lIns="0" tIns="0" rIns="0" bIns="0" rtlCol="0" anchor="t"/>
          <a:lstStyle/>
          <a:p>
            <a:pPr algn="l" indent="0" marL="0">
              <a:buNone/>
            </a:pPr>
            <a:r>
              <a:rPr lang="en-US" sz="1400" b="1" spc="300" kern="0" dirty="0">
                <a:solidFill>
                  <a:schemeClr val="accent3"/>
                </a:solidFill>
                <a:latin typeface="Avenir Next" pitchFamily="34" charset="0"/>
                <a:ea typeface="Avenir Next" pitchFamily="34" charset="-122"/>
                <a:cs typeface="Avenir Next" pitchFamily="34" charset="-120"/>
              </a:rPr>
              <a:t>BEFORE NEXT TIME</a:t>
            </a:r>
            <a:endParaRPr lang="en-US" sz="1400" dirty="0"/>
          </a:p>
        </p:txBody>
      </p:sp>
      <p:sp>
        <p:nvSpPr>
          <p:cNvPr id="7" name="Shape 3"/>
          <p:cNvSpPr/>
          <p:nvPr/>
        </p:nvSpPr>
        <p:spPr>
          <a:xfrm>
            <a:off x="8275320" y="3200400"/>
            <a:ext cx="2910535" cy="0"/>
          </a:xfrm>
          <a:prstGeom prst="line">
            <a:avLst/>
          </a:prstGeom>
          <a:noFill/>
          <a:ln w="12700">
            <a:solidFill>
              <a:srgbClr val="B9C3B8"/>
            </a:solidFill>
            <a:prstDash val="solid"/>
          </a:ln>
        </p:spPr>
      </p:sp>
      <p:sp>
        <p:nvSpPr>
          <p:cNvPr id="8" name="Body Small"/>
          <p:cNvSpPr/>
          <p:nvPr>
            <p:ph idx="106" type="body" hasCustomPrompt="1"/>
          </p:nvPr>
        </p:nvSpPr>
        <p:spPr>
          <a:xfrm>
            <a:off x="8275320" y="3383280"/>
            <a:ext cx="2910535" cy="2468880"/>
          </a:xfrm>
          <a:prstGeom prst="rect">
            <a:avLst/>
          </a:prstGeom>
          <a:noFill/>
          <a:ln/>
        </p:spPr>
        <p:txBody>
          <a:bodyPr wrap="square" rtlCol="0"/>
          <a:lstStyle>
            <a:lvl1pPr algn="l" indent="0" marL="0">
              <a:spcAft>
                <a:spcPts val="1000"/>
              </a:spcAft>
              <a:buNone/>
              <a:defRPr lang="en-US" sz="2000" dirty="0">
                <a:solidFill>
                  <a:schemeClr val="tx1"/>
                </a:solidFill>
                <a:latin typeface="Avenir Next" pitchFamily="34" charset="0"/>
                <a:ea typeface="Avenir Next" pitchFamily="34" charset="-122"/>
                <a:cs typeface="Avenir Next" pitchFamily="34" charset="-120"/>
              </a:defRPr>
            </a:lvl1pPr>
          </a:lstStyle>
          <a:p>
            <a:pPr algn="l" indent="0" marL="0">
              <a:spcAft>
                <a:spcPts val="1000"/>
              </a:spcAft>
              <a:buNone/>
            </a:pPr>
            <a:r>
              <a:rPr lang="en-US" sz="2000" dirty="0">
                <a:solidFill>
                  <a:schemeClr val="tx1"/>
                </a:solidFill>
                <a:latin typeface="Avenir Next" pitchFamily="34" charset="0"/>
                <a:ea typeface="Avenir Next" pitchFamily="34" charset="-122"/>
                <a:cs typeface="Avenir Next" pitchFamily="34" charset="-120"/>
              </a:rPr>
              <a:t>Reading, exercises, deadlines</a:t>
            </a:r>
            <a:endParaRPr lang="en-US" sz="2000" dirty="0"/>
          </a:p>
        </p:txBody>
      </p:sp>
      <p:sp>
        <p:nvSpPr>
          <p:cNvPr id="9"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1015</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ummary (Key Points Only)">
    <p:bg>
      <p:bgPr>
        <a:solidFill>
          <a:schemeClr val="bg2"/>
        </a:solidFill>
      </p:bgPr>
    </p:bg>
    <p:spTree>
      <p:nvGrpSpPr>
        <p:cNvPr id="1" name=""/>
        <p:cNvGrpSpPr/>
        <p:nvPr/>
      </p:nvGrpSpPr>
      <p:grpSpPr>
        <a:xfrm>
          <a:off x="0" y="0"/>
          <a:ext cx="0" cy="0"/>
          <a:chOff x="0" y="0"/>
          <a:chExt cx="0" cy="0"/>
        </a:xfrm>
      </p:grpSpPr>
      <p:sp>
        <p:nvSpPr>
          <p:cNvPr id="2" name="Label"/>
          <p:cNvSpPr txBox="1"/>
          <p:nvPr/>
        </p:nvSpPr>
        <p:spPr>
          <a:xfrm>
            <a:off x="731520" y="731520"/>
            <a:ext cx="7315200" cy="320040"/>
          </a:xfrm>
          <a:prstGeom prst="rect">
            <a:avLst/>
          </a:prstGeom>
          <a:noFill/>
          <a:ln/>
        </p:spPr>
        <p:txBody>
          <a:bodyPr wrap="square" lIns="0" tIns="0" rIns="0" bIns="0" rtlCol="0" anchor="t"/>
          <a:lstStyle/>
          <a:p>
            <a:pPr algn="l" indent="0" marL="0">
              <a:buNone/>
            </a:pPr>
            <a:r>
              <a:rPr lang="en-US" sz="1400" b="1" spc="300" kern="0" dirty="0">
                <a:solidFill>
                  <a:schemeClr val="accent3"/>
                </a:solidFill>
                <a:latin typeface="Avenir Next" pitchFamily="34" charset="0"/>
                <a:ea typeface="Avenir Next" pitchFamily="34" charset="-122"/>
                <a:cs typeface="Avenir Next" pitchFamily="34" charset="-120"/>
              </a:rPr>
              <a:t>SUMMARY</a:t>
            </a:r>
            <a:endParaRPr lang="en-US" sz="1400" dirty="0"/>
          </a:p>
        </p:txBody>
      </p:sp>
      <p:sp>
        <p:nvSpPr>
          <p:cNvPr id="3" name="Title"/>
          <p:cNvSpPr/>
          <p:nvPr>
            <p:ph idx="101" type="title" hasCustomPrompt="1"/>
          </p:nvPr>
        </p:nvSpPr>
        <p:spPr>
          <a:xfrm>
            <a:off x="731520" y="1280160"/>
            <a:ext cx="10728655" cy="1097280"/>
          </a:xfrm>
          <a:prstGeom prst="rect">
            <a:avLst/>
          </a:prstGeom>
          <a:noFill/>
          <a:ln/>
        </p:spPr>
        <p:txBody>
          <a:bodyPr wrap="square" rtlCol="0"/>
          <a:lstStyle>
            <a:lvl1pPr algn="l" indent="0" marL="0">
              <a:buNone/>
              <a:defRPr lang="en-US" sz="4000" b="1" dirty="0">
                <a:solidFill>
                  <a:schemeClr val="tx2"/>
                </a:solidFill>
                <a:latin typeface="Avenir Next" pitchFamily="34" charset="0"/>
                <a:ea typeface="Avenir Next" pitchFamily="34" charset="-122"/>
                <a:cs typeface="Avenir Next" pitchFamily="34" charset="-120"/>
              </a:defRPr>
            </a:lvl1pPr>
          </a:lstStyle>
          <a:p>
            <a:pPr algn="l" indent="0" marL="0">
              <a:buNone/>
            </a:pPr>
            <a:r>
              <a:rPr lang="en-US" sz="4000" b="1" dirty="0">
                <a:solidFill>
                  <a:schemeClr val="tx2"/>
                </a:solidFill>
                <a:latin typeface="Avenir Next" pitchFamily="34" charset="0"/>
                <a:ea typeface="Avenir Next" pitchFamily="34" charset="-122"/>
                <a:cs typeface="Avenir Next" pitchFamily="34" charset="-120"/>
              </a:rPr>
              <a:t>Key points</a:t>
            </a:r>
            <a:endParaRPr lang="en-US" sz="4000" dirty="0"/>
          </a:p>
        </p:txBody>
      </p:sp>
      <p:sp>
        <p:nvSpPr>
          <p:cNvPr id="4" name="Body"/>
          <p:cNvSpPr/>
          <p:nvPr>
            <p:ph idx="102" type="body" hasCustomPrompt="1"/>
          </p:nvPr>
        </p:nvSpPr>
        <p:spPr>
          <a:xfrm>
            <a:off x="731520" y="2606040"/>
            <a:ext cx="9875520" cy="3383280"/>
          </a:xfrm>
          <a:prstGeom prst="rect">
            <a:avLst/>
          </a:prstGeom>
          <a:noFill/>
          <a:ln/>
        </p:spPr>
        <p:txBody>
          <a:bodyPr wrap="square" rtlCol="0"/>
          <a:lstStyle>
            <a:lvl1pPr algn="l" indent="0" marL="0">
              <a:spcAft>
                <a:spcPts val="1400"/>
              </a:spcAft>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spcAft>
                <a:spcPts val="1400"/>
              </a:spcAft>
              <a:buNone/>
            </a:pPr>
            <a:r>
              <a:rPr lang="en-US" sz="2400" dirty="0">
                <a:solidFill>
                  <a:schemeClr val="tx1"/>
                </a:solidFill>
                <a:latin typeface="Avenir Next" pitchFamily="34" charset="0"/>
                <a:ea typeface="Avenir Next" pitchFamily="34" charset="-122"/>
                <a:cs typeface="Avenir Next" pitchFamily="34" charset="-120"/>
              </a:rPr>
              <a:t>Three to five key points</a:t>
            </a:r>
            <a:endParaRPr lang="en-US" sz="2400" dirty="0"/>
          </a:p>
        </p:txBody>
      </p:sp>
      <p:sp>
        <p:nvSpPr>
          <p:cNvPr id="5"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1016</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p:bgPr>
    </p:bg>
    <p:spTree>
      <p:nvGrpSpPr>
        <p:cNvPr id="1" name=""/>
        <p:cNvGrpSpPr/>
        <p:nvPr/>
      </p:nvGrpSpPr>
      <p:grpSpPr>
        <a:xfrm>
          <a:off x="0" y="0"/>
          <a:ext cx="0" cy="0"/>
          <a:chOff x="0" y="0"/>
          <a:chExt cx="0" cy="0"/>
        </a:xfrm>
      </p:grpSpPr>
      <p:sp>
        <p:nvSpPr>
          <p:cNvPr id="2" name="Title"/>
          <p:cNvSpPr/>
          <p:nvPr>
            <p:ph idx="100" type="title" hasCustomPrompt="1"/>
          </p:nvPr>
        </p:nvSpPr>
        <p:spPr>
          <a:xfrm>
            <a:off x="731520" y="685800"/>
            <a:ext cx="10728655" cy="1188720"/>
          </a:xfrm>
          <a:prstGeom prst="rect">
            <a:avLst/>
          </a:prstGeom>
          <a:noFill/>
          <a:ln/>
        </p:spPr>
        <p:txBody>
          <a:bodyPr wrap="square" rtlCol="0"/>
          <a:lstStyle>
            <a:lvl1pPr algn="l" indent="0" marL="0">
              <a:buNone/>
              <a:defRPr lang="en-US" sz="4000" b="1" dirty="0">
                <a:solidFill>
                  <a:schemeClr val="tx2"/>
                </a:solidFill>
                <a:latin typeface="Avenir Next" pitchFamily="34" charset="0"/>
                <a:ea typeface="Avenir Next" pitchFamily="34" charset="-122"/>
                <a:cs typeface="Avenir Next" pitchFamily="34" charset="-120"/>
              </a:defRPr>
            </a:lvl1pPr>
          </a:lstStyle>
          <a:p>
            <a:pPr algn="l" indent="0" marL="0">
              <a:buNone/>
            </a:pPr>
            <a:r>
              <a:rPr lang="en-US" sz="4000" b="1" dirty="0">
                <a:solidFill>
                  <a:schemeClr val="tx2"/>
                </a:solidFill>
                <a:latin typeface="Avenir Next" pitchFamily="34" charset="0"/>
                <a:ea typeface="Avenir Next" pitchFamily="34" charset="-122"/>
                <a:cs typeface="Avenir Next" pitchFamily="34" charset="-120"/>
              </a:rPr>
              <a:t>Slide title</a:t>
            </a:r>
            <a:endParaRPr lang="en-US" sz="4000" dirty="0"/>
          </a:p>
        </p:txBody>
      </p:sp>
      <p:sp>
        <p:nvSpPr>
          <p:cNvPr id="3"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1017</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ullets">
    <p:bg>
      <p:bgPr>
        <a:solidFill>
          <a:schemeClr val="bg1"/>
        </a:solidFill>
      </p:bgPr>
    </p:bg>
    <p:spTree>
      <p:nvGrpSpPr>
        <p:cNvPr id="1" name=""/>
        <p:cNvGrpSpPr/>
        <p:nvPr/>
      </p:nvGrpSpPr>
      <p:grpSpPr>
        <a:xfrm>
          <a:off x="0" y="0"/>
          <a:ext cx="0" cy="0"/>
          <a:chOff x="0" y="0"/>
          <a:chExt cx="0" cy="0"/>
        </a:xfrm>
      </p:grpSpPr>
      <p:sp>
        <p:nvSpPr>
          <p:cNvPr id="2" name="Body"/>
          <p:cNvSpPr/>
          <p:nvPr>
            <p:ph idx="100" type="body" hasCustomPrompt="1"/>
          </p:nvPr>
        </p:nvSpPr>
        <p:spPr>
          <a:xfrm>
            <a:off x="731520" y="822960"/>
            <a:ext cx="9509760" cy="5120640"/>
          </a:xfrm>
          <a:prstGeom prst="rect">
            <a:avLst/>
          </a:prstGeom>
          <a:noFill/>
          <a:ln/>
        </p:spPr>
        <p:txBody>
          <a:bodyPr wrap="square" rtlCol="0"/>
          <a:lstStyle>
            <a:lvl1pPr algn="l" indent="0" marL="0">
              <a:spcAft>
                <a:spcPts val="1400"/>
              </a:spcAft>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spcAft>
                <a:spcPts val="1400"/>
              </a:spcAft>
              <a:buNone/>
            </a:pPr>
            <a:r>
              <a:rPr lang="en-US" sz="2400" dirty="0">
                <a:solidFill>
                  <a:schemeClr val="tx1"/>
                </a:solidFill>
                <a:latin typeface="Avenir Next" pitchFamily="34" charset="0"/>
                <a:ea typeface="Avenir Next" pitchFamily="34" charset="-122"/>
                <a:cs typeface="Avenir Next" pitchFamily="34" charset="-120"/>
              </a:rPr>
              <a:t>Click to add text</a:t>
            </a:r>
            <a:endParaRPr lang="en-US" sz="2400" dirty="0"/>
          </a:p>
        </p:txBody>
      </p:sp>
      <p:sp>
        <p:nvSpPr>
          <p:cNvPr id="3"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1018</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Big Fact">
    <p:bg>
      <p:bgPr>
        <a:solidFill>
          <a:schemeClr val="bg1"/>
        </a:solidFill>
      </p:bgPr>
    </p:bg>
    <p:spTree>
      <p:nvGrpSpPr>
        <p:cNvPr id="1" name=""/>
        <p:cNvGrpSpPr/>
        <p:nvPr/>
      </p:nvGrpSpPr>
      <p:grpSpPr>
        <a:xfrm>
          <a:off x="0" y="0"/>
          <a:ext cx="0" cy="0"/>
          <a:chOff x="0" y="0"/>
          <a:chExt cx="0" cy="0"/>
        </a:xfrm>
      </p:grpSpPr>
      <p:sp>
        <p:nvSpPr>
          <p:cNvPr id="2" name="Big Number"/>
          <p:cNvSpPr/>
          <p:nvPr>
            <p:ph idx="100" type="body" hasCustomPrompt="1"/>
          </p:nvPr>
        </p:nvSpPr>
        <p:spPr>
          <a:xfrm>
            <a:off x="731520" y="914400"/>
            <a:ext cx="10728655" cy="2926080"/>
          </a:xfrm>
          <a:prstGeom prst="rect">
            <a:avLst/>
          </a:prstGeom>
          <a:noFill/>
          <a:ln/>
        </p:spPr>
        <p:txBody>
          <a:bodyPr wrap="square" rtlCol="0"/>
          <a:lstStyle>
            <a:lvl1pPr algn="l" indent="0" marL="0">
              <a:buNone/>
              <a:defRPr lang="en-US" sz="15000" b="1" dirty="0">
                <a:solidFill>
                  <a:schemeClr val="accent2"/>
                </a:solidFill>
                <a:latin typeface="Avenir Next" pitchFamily="34" charset="0"/>
                <a:ea typeface="Avenir Next" pitchFamily="34" charset="-122"/>
                <a:cs typeface="Avenir Next" pitchFamily="34" charset="-120"/>
              </a:defRPr>
            </a:lvl1pPr>
          </a:lstStyle>
          <a:p>
            <a:pPr algn="l" indent="0" marL="0">
              <a:buNone/>
            </a:pPr>
            <a:r>
              <a:rPr lang="en-US" sz="15000" b="1" dirty="0">
                <a:solidFill>
                  <a:schemeClr val="accent2"/>
                </a:solidFill>
                <a:latin typeface="Avenir Next" pitchFamily="34" charset="0"/>
                <a:ea typeface="Avenir Next" pitchFamily="34" charset="-122"/>
                <a:cs typeface="Avenir Next" pitchFamily="34" charset="-120"/>
              </a:rPr>
              <a:t>100%</a:t>
            </a:r>
            <a:endParaRPr lang="en-US" sz="15000" dirty="0"/>
          </a:p>
        </p:txBody>
      </p:sp>
      <p:sp>
        <p:nvSpPr>
          <p:cNvPr id="3" name="Shape 0"/>
          <p:cNvSpPr/>
          <p:nvPr/>
        </p:nvSpPr>
        <p:spPr>
          <a:xfrm>
            <a:off x="731520" y="4114800"/>
            <a:ext cx="1828800" cy="0"/>
          </a:xfrm>
          <a:prstGeom prst="line">
            <a:avLst/>
          </a:prstGeom>
          <a:noFill/>
          <a:ln w="12700">
            <a:solidFill>
              <a:schemeClr val="tx2"/>
            </a:solidFill>
            <a:prstDash val="solid"/>
          </a:ln>
        </p:spPr>
      </p:sp>
      <p:sp>
        <p:nvSpPr>
          <p:cNvPr id="4" name="Subtitle"/>
          <p:cNvSpPr/>
          <p:nvPr>
            <p:ph idx="102" type="body" hasCustomPrompt="1"/>
          </p:nvPr>
        </p:nvSpPr>
        <p:spPr>
          <a:xfrm>
            <a:off x="731520" y="4343400"/>
            <a:ext cx="8686800" cy="1463040"/>
          </a:xfrm>
          <a:prstGeom prst="rect">
            <a:avLst/>
          </a:prstGeom>
          <a:noFill/>
          <a:ln/>
        </p:spPr>
        <p:txBody>
          <a:bodyPr wrap="square" rtlCol="0"/>
          <a:lstStyle>
            <a:lvl1pPr algn="l" indent="0" marL="0">
              <a:buNone/>
              <a:defRPr lang="en-US" sz="2400" dirty="0">
                <a:solidFill>
                  <a:schemeClr val="tx1"/>
                </a:solidFill>
                <a:latin typeface="Avenir Next" pitchFamily="34" charset="0"/>
                <a:ea typeface="Avenir Next" pitchFamily="34" charset="-122"/>
                <a:cs typeface="Avenir Next" pitchFamily="34" charset="-120"/>
              </a:defRPr>
            </a:lvl1pPr>
          </a:lstStyle>
          <a:p>
            <a:pPr algn="l" indent="0" marL="0">
              <a:buNone/>
            </a:pPr>
            <a:r>
              <a:rPr lang="en-US" sz="2400" dirty="0">
                <a:solidFill>
                  <a:schemeClr val="tx1"/>
                </a:solidFill>
                <a:latin typeface="Avenir Next" pitchFamily="34" charset="0"/>
                <a:ea typeface="Avenir Next" pitchFamily="34" charset="-122"/>
                <a:cs typeface="Avenir Next" pitchFamily="34" charset="-120"/>
              </a:rPr>
              <a:t>What the number means</a:t>
            </a:r>
            <a:endParaRPr lang="en-US" sz="2400" dirty="0"/>
          </a:p>
        </p:txBody>
      </p:sp>
      <p:sp>
        <p:nvSpPr>
          <p:cNvPr id="5"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1019</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Quote">
    <p:bg>
      <p:bgPr>
        <a:solidFill>
          <a:schemeClr val="bg2"/>
        </a:solidFill>
      </p:bgPr>
    </p:bg>
    <p:spTree>
      <p:nvGrpSpPr>
        <p:cNvPr id="1" name=""/>
        <p:cNvGrpSpPr/>
        <p:nvPr/>
      </p:nvGrpSpPr>
      <p:grpSpPr>
        <a:xfrm>
          <a:off x="0" y="0"/>
          <a:ext cx="0" cy="0"/>
          <a:chOff x="0" y="0"/>
          <a:chExt cx="0" cy="0"/>
        </a:xfrm>
      </p:grpSpPr>
      <p:sp>
        <p:nvSpPr>
          <p:cNvPr id="2" name="Big Number"/>
          <p:cNvSpPr txBox="1"/>
          <p:nvPr/>
        </p:nvSpPr>
        <p:spPr>
          <a:xfrm>
            <a:off x="685800" y="365760"/>
            <a:ext cx="1828800" cy="1645920"/>
          </a:xfrm>
          <a:prstGeom prst="rect">
            <a:avLst/>
          </a:prstGeom>
          <a:noFill/>
          <a:ln/>
        </p:spPr>
        <p:txBody>
          <a:bodyPr wrap="square" lIns="0" tIns="0" rIns="0" bIns="0" rtlCol="0" anchor="t"/>
          <a:lstStyle/>
          <a:p>
            <a:pPr algn="l" indent="0" marL="0">
              <a:buNone/>
            </a:pPr>
            <a:r>
              <a:rPr lang="en-US" sz="15000" b="1" dirty="0">
                <a:solidFill>
                  <a:schemeClr val="accent2"/>
                </a:solidFill>
                <a:latin typeface="Avenir Next" pitchFamily="34" charset="0"/>
                <a:ea typeface="Avenir Next" pitchFamily="34" charset="-122"/>
                <a:cs typeface="Avenir Next" pitchFamily="34" charset="-120"/>
              </a:rPr>
              <a:t>“</a:t>
            </a:r>
            <a:endParaRPr lang="en-US" sz="15000" dirty="0"/>
          </a:p>
        </p:txBody>
      </p:sp>
      <p:sp>
        <p:nvSpPr>
          <p:cNvPr id="3" name="Title"/>
          <p:cNvSpPr/>
          <p:nvPr>
            <p:ph idx="101" type="title" hasCustomPrompt="1"/>
          </p:nvPr>
        </p:nvSpPr>
        <p:spPr>
          <a:xfrm>
            <a:off x="731520" y="1828800"/>
            <a:ext cx="10058400" cy="2651760"/>
          </a:xfrm>
          <a:prstGeom prst="rect">
            <a:avLst/>
          </a:prstGeom>
          <a:noFill/>
          <a:ln/>
        </p:spPr>
        <p:txBody>
          <a:bodyPr wrap="square" rtlCol="0"/>
          <a:lstStyle>
            <a:lvl1pPr algn="l" indent="0" marL="0">
              <a:buNone/>
              <a:defRPr lang="en-US" sz="4000" b="1" dirty="0">
                <a:solidFill>
                  <a:schemeClr val="tx2"/>
                </a:solidFill>
                <a:latin typeface="Avenir Next" pitchFamily="34" charset="0"/>
                <a:ea typeface="Avenir Next" pitchFamily="34" charset="-122"/>
                <a:cs typeface="Avenir Next" pitchFamily="34" charset="-120"/>
              </a:defRPr>
            </a:lvl1pPr>
          </a:lstStyle>
          <a:p>
            <a:pPr algn="l" indent="0" marL="0">
              <a:buNone/>
            </a:pPr>
            <a:r>
              <a:rPr lang="en-US" sz="4000" b="1" dirty="0">
                <a:solidFill>
                  <a:schemeClr val="tx2"/>
                </a:solidFill>
                <a:latin typeface="Avenir Next" pitchFamily="34" charset="0"/>
                <a:ea typeface="Avenir Next" pitchFamily="34" charset="-122"/>
                <a:cs typeface="Avenir Next" pitchFamily="34" charset="-120"/>
              </a:rPr>
              <a:t>Quotation text</a:t>
            </a:r>
            <a:endParaRPr lang="en-US" sz="4000" dirty="0"/>
          </a:p>
        </p:txBody>
      </p:sp>
      <p:sp>
        <p:nvSpPr>
          <p:cNvPr id="4" name="Shape 1"/>
          <p:cNvSpPr/>
          <p:nvPr/>
        </p:nvSpPr>
        <p:spPr>
          <a:xfrm>
            <a:off x="731520" y="4800600"/>
            <a:ext cx="1097280" cy="0"/>
          </a:xfrm>
          <a:prstGeom prst="line">
            <a:avLst/>
          </a:prstGeom>
          <a:noFill/>
          <a:ln w="12700">
            <a:solidFill>
              <a:schemeClr val="accent2"/>
            </a:solidFill>
            <a:prstDash val="solid"/>
          </a:ln>
        </p:spPr>
      </p:sp>
      <p:sp>
        <p:nvSpPr>
          <p:cNvPr id="5" name="Label"/>
          <p:cNvSpPr/>
          <p:nvPr>
            <p:ph idx="103" type="body" hasCustomPrompt="1"/>
          </p:nvPr>
        </p:nvSpPr>
        <p:spPr>
          <a:xfrm>
            <a:off x="731520" y="4983480"/>
            <a:ext cx="10058400" cy="365760"/>
          </a:xfrm>
          <a:prstGeom prst="rect">
            <a:avLst/>
          </a:prstGeom>
          <a:noFill/>
          <a:ln/>
        </p:spPr>
        <p:txBody>
          <a:bodyPr wrap="square" rtlCol="0"/>
          <a:lstStyle>
            <a:lvl1pPr algn="l" indent="0" marL="0">
              <a:buNone/>
              <a:defRPr lang="en-US" sz="1400" b="1" spc="300" kern="0" dirty="0">
                <a:solidFill>
                  <a:schemeClr val="accent6"/>
                </a:solidFill>
                <a:latin typeface="Avenir Next" pitchFamily="34" charset="0"/>
                <a:ea typeface="Avenir Next" pitchFamily="34" charset="-122"/>
                <a:cs typeface="Avenir Next" pitchFamily="34" charset="-120"/>
              </a:defRPr>
            </a:lvl1pPr>
          </a:lstStyle>
          <a:p>
            <a:pPr algn="l" indent="0" marL="0">
              <a:buNone/>
            </a:pPr>
            <a:r>
              <a:rPr lang="en-US" sz="1400" b="1" spc="300" kern="0" dirty="0">
                <a:solidFill>
                  <a:schemeClr val="accent6"/>
                </a:solidFill>
                <a:latin typeface="Avenir Next" pitchFamily="34" charset="0"/>
                <a:ea typeface="Avenir Next" pitchFamily="34" charset="-122"/>
                <a:cs typeface="Avenir Next" pitchFamily="34" charset="-120"/>
              </a:rPr>
              <a:t>NAME, SOURCE</a:t>
            </a:r>
            <a:endParaRPr lang="en-US" sz="1400" dirty="0"/>
          </a:p>
        </p:txBody>
      </p:sp>
      <p:sp>
        <p:nvSpPr>
          <p:cNvPr id="6"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1020</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hoto">
    <p:bg>
      <p:bgPr>
        <a:solidFill>
          <a:schemeClr val="tx1"/>
        </a:solidFill>
      </p:bgPr>
    </p:bg>
    <p:spTree>
      <p:nvGrpSpPr>
        <p:cNvPr id="1" name=""/>
        <p:cNvGrpSpPr/>
        <p:nvPr/>
      </p:nvGrpSpPr>
      <p:grpSpPr>
        <a:xfrm>
          <a:off x="0" y="0"/>
          <a:ext cx="0" cy="0"/>
          <a:chOff x="0" y="0"/>
          <a:chExt cx="0" cy="0"/>
        </a:xfrm>
      </p:grpSpPr>
      <p:sp>
        <p:nvSpPr>
          <p:cNvPr id="2" name="Image"/>
          <p:cNvSpPr/>
          <p:nvPr>
            <p:ph type="pic" idx="100" hasCustomPrompt="1"/>
          </p:nvPr>
        </p:nvSpPr>
        <p:spPr>
          <a:xfrm>
            <a:off x="0" y="0"/>
            <a:ext cx="12191695" cy="6858000"/>
          </a:xfrm>
          <a:prstGeom prst="rect">
            <a:avLst/>
          </a:prstGeom>
          <a:noFill/>
          <a:ln/>
        </p:spPr>
        <p:txBody>
          <a:bodyPr wrap="square" rtlCol="0"/>
          <a:lstStyle>
            <a:lvl1pPr indent="0" marL="0">
              <a:buNone/>
              <a:defRPr lang="en-US" dirty="0">
                <a:solidFill>
                  <a:schemeClr val="accent6"/>
                </a:solidFill>
              </a:defRPr>
            </a:lvl1pPr>
          </a:lstStyle>
          <a:p>
            <a:pPr indent="0" marL="0">
              <a:buNone/>
            </a:pPr>
            <a:r>
              <a:rPr lang="en-US" dirty="0">
                <a:solidFill>
                  <a:schemeClr val="accent6"/>
                </a:solidFill>
              </a:rPr>
              <a:t>Drop image here</a:t>
            </a:r>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hoto - 3 Up">
    <p:bg>
      <p:bgPr>
        <a:solidFill>
          <a:schemeClr val="bg1"/>
        </a:solidFill>
      </p:bgPr>
    </p:bg>
    <p:spTree>
      <p:nvGrpSpPr>
        <p:cNvPr id="1" name=""/>
        <p:cNvGrpSpPr/>
        <p:nvPr/>
      </p:nvGrpSpPr>
      <p:grpSpPr>
        <a:xfrm>
          <a:off x="0" y="0"/>
          <a:ext cx="0" cy="0"/>
          <a:chOff x="0" y="0"/>
          <a:chExt cx="0" cy="0"/>
        </a:xfrm>
      </p:grpSpPr>
      <p:sp>
        <p:nvSpPr>
          <p:cNvPr id="2" name="Image"/>
          <p:cNvSpPr/>
          <p:nvPr>
            <p:ph type="pic" idx="100" hasCustomPrompt="1"/>
          </p:nvPr>
        </p:nvSpPr>
        <p:spPr>
          <a:xfrm>
            <a:off x="731520" y="731520"/>
            <a:ext cx="3332378" cy="4846320"/>
          </a:xfrm>
          <a:prstGeom prst="rect">
            <a:avLst/>
          </a:prstGeom>
          <a:noFill/>
          <a:ln/>
        </p:spPr>
        <p:txBody>
          <a:bodyPr wrap="square" rtlCol="0"/>
          <a:lstStyle>
            <a:lvl1pPr indent="0" marL="0">
              <a:buNone/>
              <a:defRPr lang="en-US" dirty="0">
                <a:solidFill>
                  <a:schemeClr val="accent6"/>
                </a:solidFill>
              </a:defRPr>
            </a:lvl1pPr>
          </a:lstStyle>
          <a:p>
            <a:pPr indent="0" marL="0">
              <a:buNone/>
            </a:pPr>
            <a:r>
              <a:rPr lang="en-US" dirty="0">
                <a:solidFill>
                  <a:schemeClr val="accent6"/>
                </a:solidFill>
              </a:rPr>
              <a:t>Drop image here</a:t>
            </a:r>
            <a:endParaRPr lang="en-US" dirty="0"/>
          </a:p>
        </p:txBody>
      </p:sp>
      <p:sp>
        <p:nvSpPr>
          <p:cNvPr id="3" name="Caption"/>
          <p:cNvSpPr/>
          <p:nvPr>
            <p:ph idx="101" type="body" hasCustomPrompt="1"/>
          </p:nvPr>
        </p:nvSpPr>
        <p:spPr>
          <a:xfrm>
            <a:off x="731520" y="5669280"/>
            <a:ext cx="3332378" cy="320040"/>
          </a:xfrm>
          <a:prstGeom prst="rect">
            <a:avLst/>
          </a:prstGeom>
          <a:noFill/>
          <a:ln/>
        </p:spPr>
        <p:txBody>
          <a:bodyPr wrap="square" rtlCol="0"/>
          <a:lstStyle>
            <a:lvl1pPr algn="l" indent="0" marL="0">
              <a:buNone/>
              <a:defRPr lang="en-US" sz="1400" dirty="0">
                <a:solidFill>
                  <a:schemeClr val="accent6"/>
                </a:solidFill>
                <a:latin typeface="Avenir Next" pitchFamily="34" charset="0"/>
                <a:ea typeface="Avenir Next" pitchFamily="34" charset="-122"/>
                <a:cs typeface="Avenir Next" pitchFamily="34" charset="-120"/>
              </a:defRPr>
            </a:lvl1pPr>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Caption</a:t>
            </a:r>
            <a:endParaRPr lang="en-US" sz="1400" dirty="0"/>
          </a:p>
        </p:txBody>
      </p:sp>
      <p:sp>
        <p:nvSpPr>
          <p:cNvPr id="4" name="Image 2"/>
          <p:cNvSpPr/>
          <p:nvPr>
            <p:ph type="pic" idx="102" hasCustomPrompt="1"/>
          </p:nvPr>
        </p:nvSpPr>
        <p:spPr>
          <a:xfrm>
            <a:off x="4429658" y="731520"/>
            <a:ext cx="3332378" cy="4846320"/>
          </a:xfrm>
          <a:prstGeom prst="rect">
            <a:avLst/>
          </a:prstGeom>
          <a:noFill/>
          <a:ln/>
        </p:spPr>
        <p:txBody>
          <a:bodyPr wrap="square" rtlCol="0"/>
          <a:lstStyle>
            <a:lvl1pPr indent="0" marL="0">
              <a:buNone/>
              <a:defRPr lang="en-US" dirty="0">
                <a:solidFill>
                  <a:schemeClr val="accent6"/>
                </a:solidFill>
              </a:defRPr>
            </a:lvl1pPr>
          </a:lstStyle>
          <a:p>
            <a:pPr indent="0" marL="0">
              <a:buNone/>
            </a:pPr>
            <a:r>
              <a:rPr lang="en-US" dirty="0">
                <a:solidFill>
                  <a:schemeClr val="accent6"/>
                </a:solidFill>
              </a:rPr>
              <a:t>Drop image here</a:t>
            </a:r>
            <a:endParaRPr lang="en-US" dirty="0"/>
          </a:p>
        </p:txBody>
      </p:sp>
      <p:sp>
        <p:nvSpPr>
          <p:cNvPr id="5" name="Caption 2"/>
          <p:cNvSpPr/>
          <p:nvPr>
            <p:ph idx="103" type="body" hasCustomPrompt="1"/>
          </p:nvPr>
        </p:nvSpPr>
        <p:spPr>
          <a:xfrm>
            <a:off x="4429658" y="5669280"/>
            <a:ext cx="3332378" cy="320040"/>
          </a:xfrm>
          <a:prstGeom prst="rect">
            <a:avLst/>
          </a:prstGeom>
          <a:noFill/>
          <a:ln/>
        </p:spPr>
        <p:txBody>
          <a:bodyPr wrap="square" rtlCol="0"/>
          <a:lstStyle>
            <a:lvl1pPr algn="l" indent="0" marL="0">
              <a:buNone/>
              <a:defRPr lang="en-US" sz="1400" dirty="0">
                <a:solidFill>
                  <a:schemeClr val="accent6"/>
                </a:solidFill>
                <a:latin typeface="Avenir Next" pitchFamily="34" charset="0"/>
                <a:ea typeface="Avenir Next" pitchFamily="34" charset="-122"/>
                <a:cs typeface="Avenir Next" pitchFamily="34" charset="-120"/>
              </a:defRPr>
            </a:lvl1pPr>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Caption</a:t>
            </a:r>
            <a:endParaRPr lang="en-US" sz="1400" dirty="0"/>
          </a:p>
        </p:txBody>
      </p:sp>
      <p:sp>
        <p:nvSpPr>
          <p:cNvPr id="6" name="Image 3"/>
          <p:cNvSpPr/>
          <p:nvPr>
            <p:ph type="pic" idx="104" hasCustomPrompt="1"/>
          </p:nvPr>
        </p:nvSpPr>
        <p:spPr>
          <a:xfrm>
            <a:off x="8127797" y="731520"/>
            <a:ext cx="3332378" cy="4846320"/>
          </a:xfrm>
          <a:prstGeom prst="rect">
            <a:avLst/>
          </a:prstGeom>
          <a:noFill/>
          <a:ln/>
        </p:spPr>
        <p:txBody>
          <a:bodyPr wrap="square" rtlCol="0"/>
          <a:lstStyle>
            <a:lvl1pPr indent="0" marL="0">
              <a:buNone/>
              <a:defRPr lang="en-US" dirty="0">
                <a:solidFill>
                  <a:schemeClr val="accent6"/>
                </a:solidFill>
              </a:defRPr>
            </a:lvl1pPr>
          </a:lstStyle>
          <a:p>
            <a:pPr indent="0" marL="0">
              <a:buNone/>
            </a:pPr>
            <a:r>
              <a:rPr lang="en-US" dirty="0">
                <a:solidFill>
                  <a:schemeClr val="accent6"/>
                </a:solidFill>
              </a:rPr>
              <a:t>Drop image here</a:t>
            </a:r>
            <a:endParaRPr lang="en-US" dirty="0"/>
          </a:p>
        </p:txBody>
      </p:sp>
      <p:sp>
        <p:nvSpPr>
          <p:cNvPr id="7" name="Caption 3"/>
          <p:cNvSpPr/>
          <p:nvPr>
            <p:ph idx="105" type="body" hasCustomPrompt="1"/>
          </p:nvPr>
        </p:nvSpPr>
        <p:spPr>
          <a:xfrm>
            <a:off x="8127797" y="5669280"/>
            <a:ext cx="3332378" cy="320040"/>
          </a:xfrm>
          <a:prstGeom prst="rect">
            <a:avLst/>
          </a:prstGeom>
          <a:noFill/>
          <a:ln/>
        </p:spPr>
        <p:txBody>
          <a:bodyPr wrap="square" rtlCol="0"/>
          <a:lstStyle>
            <a:lvl1pPr algn="l" indent="0" marL="0">
              <a:buNone/>
              <a:defRPr lang="en-US" sz="1400" dirty="0">
                <a:solidFill>
                  <a:schemeClr val="accent6"/>
                </a:solidFill>
                <a:latin typeface="Avenir Next" pitchFamily="34" charset="0"/>
                <a:ea typeface="Avenir Next" pitchFamily="34" charset="-122"/>
                <a:cs typeface="Avenir Next" pitchFamily="34" charset="-120"/>
              </a:defRPr>
            </a:lvl1pPr>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Caption</a:t>
            </a:r>
            <a:endParaRPr lang="en-US" sz="1400" dirty="0"/>
          </a:p>
        </p:txBody>
      </p:sp>
      <p:sp>
        <p:nvSpPr>
          <p:cNvPr id="8" name="Caption 4"/>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1022</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Blank">
    <p:bg>
      <p:bgPr>
        <a:solidFill>
          <a:schemeClr val="bg1"/>
        </a:solidFill>
      </p:bgPr>
    </p:bg>
    <p:spTree>
      <p:nvGrpSpPr>
        <p:cNvPr id="1" name=""/>
        <p:cNvGrpSpPr/>
        <p:nvPr/>
      </p:nvGrpSpPr>
      <p:grpSpPr>
        <a:xfrm>
          <a:off x="0" y="0"/>
          <a:ext cx="0" cy="0"/>
          <a:chOff x="0" y="0"/>
          <a:chExt cx="0" cy="0"/>
        </a:xfrm>
      </p:grpSpPr>
      <p:sp>
        <p:nvSpPr>
          <p:cNvPr id="2" name="Caption"/>
          <p:cNvSpPr txBox="1"/>
          <p:nvPr/>
        </p:nvSpPr>
        <p:spPr>
          <a:xfrm>
            <a:off x="731520" y="6144768"/>
            <a:ext cx="8686800" cy="274320"/>
          </a:xfrm>
          <a:prstGeom prst="rect">
            <a:avLst/>
          </a:prstGeom>
          <a:noFill/>
          <a:ln/>
        </p:spPr>
        <p:txBody>
          <a:bodyPr wrap="square" lIns="0" tIns="0" rIns="0" bIns="0" rtlCol="0" anchor="t"/>
          <a:lstStyle/>
          <a:p>
            <a:pPr algn="l" indent="0" marL="0">
              <a:buNone/>
            </a:pPr>
            <a:r>
              <a:rPr lang="en-US" sz="1400" dirty="0">
                <a:solidFill>
                  <a:schemeClr val="accent6"/>
                </a:solidFill>
                <a:latin typeface="Avenir Next" pitchFamily="34" charset="0"/>
                <a:ea typeface="Avenir Next" pitchFamily="34" charset="-122"/>
                <a:cs typeface="Avenir Next" pitchFamily="34" charset="-120"/>
              </a:rPr>
              <a:t>BB512  ·  Population Biology and Evolution</a:t>
            </a:r>
            <a:endParaRPr lang="en-US" sz="1400" dirty="0"/>
          </a:p>
        </p:txBody>
      </p:sp>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6"/>
                </a:solidFill>
                <a:latin typeface="Avenir Next"/>
                <a:ea typeface="Avenir Next"/>
                <a:cs typeface="Avenir Next"/>
              </a:defRPr>
            </a:lvl1pPr>
          </a:lstStyle>
          <a:p>
            <a:pPr algn="r"/>
            <a:fld id="{F7021451-1387-4CA6-816F-3879F97B5CBC}" type="slidenum">
              <a:rPr b="0" lang="en-US"/>
              <a:t>1023</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Palette">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t"/>
          <a:lstStyle/>
          <a:p>
            <a:pPr indent="0" marL="0">
              <a:buNone/>
            </a:pPr>
            <a:r>
              <a:rPr lang="en-US" sz="1300" b="1" spc="300" kern="0" dirty="0">
                <a:solidFill>
                  <a:srgbClr val="6E6F68"/>
                </a:solidFill>
                <a:latin typeface="Avenir Next" pitchFamily="34" charset="0"/>
                <a:ea typeface="Avenir Next" pitchFamily="34" charset="-122"/>
                <a:cs typeface="Avenir Next" pitchFamily="34" charset="-120"/>
              </a:rPr>
              <a:t>PALETTE AND USAGE</a:t>
            </a:r>
            <a:endParaRPr lang="en-US" sz="1300" dirty="0"/>
          </a:p>
        </p:txBody>
      </p:sp>
      <p:sp>
        <p:nvSpPr>
          <p:cNvPr id="3" name="Text 1"/>
          <p:cNvSpPr txBox="1"/>
          <p:nvPr/>
        </p:nvSpPr>
        <p:spPr>
          <a:xfrm>
            <a:off x="548640" y="731520"/>
            <a:ext cx="7315200" cy="365760"/>
          </a:xfrm>
          <a:prstGeom prst="rect">
            <a:avLst/>
          </a:prstGeom>
          <a:noFill/>
          <a:ln/>
        </p:spPr>
        <p:txBody>
          <a:bodyPr wrap="square" lIns="0" tIns="0" rIns="0" bIns="0" rtlCol="0" anchor="t"/>
          <a:lstStyle/>
          <a:p>
            <a:pPr indent="0" marL="0">
              <a:buNone/>
            </a:pPr>
            <a:r>
              <a:rPr lang="en-US" sz="1800" b="1" dirty="0">
                <a:solidFill>
                  <a:srgbClr val="1F2623"/>
                </a:solidFill>
                <a:latin typeface="Avenir Next" pitchFamily="34" charset="0"/>
                <a:ea typeface="Avenir Next" pitchFamily="34" charset="-122"/>
                <a:cs typeface="Avenir Next" pitchFamily="34" charset="-120"/>
              </a:rPr>
              <a:t>Reference layout. Not for presenting.</a:t>
            </a:r>
            <a:endParaRPr lang="en-US" sz="1800" dirty="0"/>
          </a:p>
        </p:txBody>
      </p:sp>
      <p:sp>
        <p:nvSpPr>
          <p:cNvPr id="4" name="Shape 2"/>
          <p:cNvSpPr/>
          <p:nvPr/>
        </p:nvSpPr>
        <p:spPr>
          <a:xfrm>
            <a:off x="548640" y="1371600"/>
            <a:ext cx="1388974" cy="1051560"/>
          </a:xfrm>
          <a:prstGeom prst="rect">
            <a:avLst/>
          </a:prstGeom>
          <a:solidFill>
            <a:srgbClr val="1F4D3F"/>
          </a:solidFill>
          <a:ln w="6350">
            <a:solidFill>
              <a:srgbClr val="C9CCD1"/>
            </a:solidFill>
            <a:prstDash val="solid"/>
          </a:ln>
        </p:spPr>
      </p:sp>
      <p:sp>
        <p:nvSpPr>
          <p:cNvPr id="5" name="Text 3"/>
          <p:cNvSpPr txBox="1"/>
          <p:nvPr/>
        </p:nvSpPr>
        <p:spPr>
          <a:xfrm>
            <a:off x="548640" y="2514600"/>
            <a:ext cx="1388974" cy="274320"/>
          </a:xfrm>
          <a:prstGeom prst="rect">
            <a:avLst/>
          </a:prstGeom>
          <a:noFill/>
          <a:ln/>
        </p:spPr>
        <p:txBody>
          <a:bodyPr wrap="square" lIns="0" tIns="0" rIns="0" bIns="0" rtlCol="0" anchor="t"/>
          <a:lstStyle/>
          <a:p>
            <a:pPr indent="0" marL="0">
              <a:buNone/>
            </a:pPr>
            <a:r>
              <a:rPr lang="en-US" sz="1300" b="1" dirty="0">
                <a:solidFill>
                  <a:srgbClr val="1F2623"/>
                </a:solidFill>
                <a:latin typeface="Avenir Next" pitchFamily="34" charset="0"/>
                <a:ea typeface="Avenir Next" pitchFamily="34" charset="-122"/>
                <a:cs typeface="Avenir Next" pitchFamily="34" charset="-120"/>
              </a:rPr>
              <a:t>Main</a:t>
            </a:r>
            <a:endParaRPr lang="en-US" sz="1300" dirty="0"/>
          </a:p>
        </p:txBody>
      </p:sp>
      <p:sp>
        <p:nvSpPr>
          <p:cNvPr id="6" name="Text 4"/>
          <p:cNvSpPr txBox="1"/>
          <p:nvPr/>
        </p:nvSpPr>
        <p:spPr>
          <a:xfrm>
            <a:off x="548640" y="2788920"/>
            <a:ext cx="1388974" cy="274320"/>
          </a:xfrm>
          <a:prstGeom prst="rect">
            <a:avLst/>
          </a:prstGeom>
          <a:noFill/>
          <a:ln/>
        </p:spPr>
        <p:txBody>
          <a:bodyPr wrap="square" lIns="0" tIns="0" rIns="0" bIns="0" rtlCol="0" anchor="t"/>
          <a:lstStyle/>
          <a:p>
            <a:pPr indent="0" marL="0">
              <a:buNone/>
            </a:pPr>
            <a:r>
              <a:rPr lang="en-US" sz="1200" dirty="0">
                <a:solidFill>
                  <a:srgbClr val="1F2623"/>
                </a:solidFill>
                <a:latin typeface="Menlo" pitchFamily="34" charset="0"/>
                <a:ea typeface="Menlo" pitchFamily="34" charset="-122"/>
                <a:cs typeface="Menlo" pitchFamily="34" charset="-120"/>
              </a:rPr>
              <a:t>#1F4D3F</a:t>
            </a:r>
            <a:endParaRPr lang="en-US" sz="1200" dirty="0"/>
          </a:p>
        </p:txBody>
      </p:sp>
      <p:sp>
        <p:nvSpPr>
          <p:cNvPr id="7" name="Text 5"/>
          <p:cNvSpPr txBox="1"/>
          <p:nvPr/>
        </p:nvSpPr>
        <p:spPr>
          <a:xfrm>
            <a:off x="548640" y="3063240"/>
            <a:ext cx="1388974" cy="685800"/>
          </a:xfrm>
          <a:prstGeom prst="rect">
            <a:avLst/>
          </a:prstGeom>
          <a:noFill/>
          <a:ln/>
        </p:spPr>
        <p:txBody>
          <a:bodyPr wrap="square" lIns="0" tIns="0" rIns="0" bIns="0" rtlCol="0" anchor="t"/>
          <a:lstStyle/>
          <a:p>
            <a:pPr indent="0" marL="0">
              <a:buNone/>
            </a:pPr>
            <a:r>
              <a:rPr lang="en-US" sz="1100" dirty="0">
                <a:solidFill>
                  <a:srgbClr val="6E6F68"/>
                </a:solidFill>
                <a:latin typeface="Avenir Next" pitchFamily="34" charset="0"/>
                <a:ea typeface="Avenir Next" pitchFamily="34" charset="-122"/>
                <a:cs typeface="Avenir Next" pitchFamily="34" charset="-120"/>
              </a:rPr>
              <a:t>Title and section slides, slide titles</a:t>
            </a:r>
            <a:endParaRPr lang="en-US" sz="1100" dirty="0"/>
          </a:p>
        </p:txBody>
      </p:sp>
      <p:sp>
        <p:nvSpPr>
          <p:cNvPr id="8" name="Shape 6"/>
          <p:cNvSpPr/>
          <p:nvPr/>
        </p:nvSpPr>
        <p:spPr>
          <a:xfrm>
            <a:off x="2166214" y="1371600"/>
            <a:ext cx="1388974" cy="1051560"/>
          </a:xfrm>
          <a:prstGeom prst="rect">
            <a:avLst/>
          </a:prstGeom>
          <a:solidFill>
            <a:srgbClr val="C08A2E"/>
          </a:solidFill>
          <a:ln w="6350">
            <a:solidFill>
              <a:srgbClr val="C9CCD1"/>
            </a:solidFill>
            <a:prstDash val="solid"/>
          </a:ln>
        </p:spPr>
      </p:sp>
      <p:sp>
        <p:nvSpPr>
          <p:cNvPr id="9" name="Text 7"/>
          <p:cNvSpPr txBox="1"/>
          <p:nvPr/>
        </p:nvSpPr>
        <p:spPr>
          <a:xfrm>
            <a:off x="2166214" y="2514600"/>
            <a:ext cx="1388974" cy="274320"/>
          </a:xfrm>
          <a:prstGeom prst="rect">
            <a:avLst/>
          </a:prstGeom>
          <a:noFill/>
          <a:ln/>
        </p:spPr>
        <p:txBody>
          <a:bodyPr wrap="square" lIns="0" tIns="0" rIns="0" bIns="0" rtlCol="0" anchor="t"/>
          <a:lstStyle/>
          <a:p>
            <a:pPr indent="0" marL="0">
              <a:buNone/>
            </a:pPr>
            <a:r>
              <a:rPr lang="en-US" sz="1300" b="1" dirty="0">
                <a:solidFill>
                  <a:srgbClr val="1F2623"/>
                </a:solidFill>
                <a:latin typeface="Avenir Next" pitchFamily="34" charset="0"/>
                <a:ea typeface="Avenir Next" pitchFamily="34" charset="-122"/>
                <a:cs typeface="Avenir Next" pitchFamily="34" charset="-120"/>
              </a:rPr>
              <a:t>Accent</a:t>
            </a:r>
            <a:endParaRPr lang="en-US" sz="1300" dirty="0"/>
          </a:p>
        </p:txBody>
      </p:sp>
      <p:sp>
        <p:nvSpPr>
          <p:cNvPr id="10" name="Text 8"/>
          <p:cNvSpPr txBox="1"/>
          <p:nvPr/>
        </p:nvSpPr>
        <p:spPr>
          <a:xfrm>
            <a:off x="2166214" y="2788920"/>
            <a:ext cx="1388974" cy="274320"/>
          </a:xfrm>
          <a:prstGeom prst="rect">
            <a:avLst/>
          </a:prstGeom>
          <a:noFill/>
          <a:ln/>
        </p:spPr>
        <p:txBody>
          <a:bodyPr wrap="square" lIns="0" tIns="0" rIns="0" bIns="0" rtlCol="0" anchor="t"/>
          <a:lstStyle/>
          <a:p>
            <a:pPr indent="0" marL="0">
              <a:buNone/>
            </a:pPr>
            <a:r>
              <a:rPr lang="en-US" sz="1200" dirty="0">
                <a:solidFill>
                  <a:srgbClr val="1F2623"/>
                </a:solidFill>
                <a:latin typeface="Menlo" pitchFamily="34" charset="0"/>
                <a:ea typeface="Menlo" pitchFamily="34" charset="-122"/>
                <a:cs typeface="Menlo" pitchFamily="34" charset="-120"/>
              </a:rPr>
              <a:t>#C08A2E</a:t>
            </a:r>
            <a:endParaRPr lang="en-US" sz="1200" dirty="0"/>
          </a:p>
        </p:txBody>
      </p:sp>
      <p:sp>
        <p:nvSpPr>
          <p:cNvPr id="11" name="Text 9"/>
          <p:cNvSpPr txBox="1"/>
          <p:nvPr/>
        </p:nvSpPr>
        <p:spPr>
          <a:xfrm>
            <a:off x="2166214" y="3063240"/>
            <a:ext cx="1388974" cy="685800"/>
          </a:xfrm>
          <a:prstGeom prst="rect">
            <a:avLst/>
          </a:prstGeom>
          <a:noFill/>
          <a:ln/>
        </p:spPr>
        <p:txBody>
          <a:bodyPr wrap="square" lIns="0" tIns="0" rIns="0" bIns="0" rtlCol="0" anchor="t"/>
          <a:lstStyle/>
          <a:p>
            <a:pPr indent="0" marL="0">
              <a:buNone/>
            </a:pPr>
            <a:r>
              <a:rPr lang="en-US" sz="1100" dirty="0">
                <a:solidFill>
                  <a:srgbClr val="6E6F68"/>
                </a:solidFill>
                <a:latin typeface="Avenir Next" pitchFamily="34" charset="0"/>
                <a:ea typeface="Avenir Next" pitchFamily="34" charset="-122"/>
                <a:cs typeface="Avenir Next" pitchFamily="34" charset="-120"/>
              </a:rPr>
              <a:t>Activity slides, big numbers</a:t>
            </a:r>
            <a:endParaRPr lang="en-US" sz="1100" dirty="0"/>
          </a:p>
        </p:txBody>
      </p:sp>
      <p:sp>
        <p:nvSpPr>
          <p:cNvPr id="12" name="Shape 10"/>
          <p:cNvSpPr/>
          <p:nvPr/>
        </p:nvSpPr>
        <p:spPr>
          <a:xfrm>
            <a:off x="3783787" y="1371600"/>
            <a:ext cx="1388974" cy="1051560"/>
          </a:xfrm>
          <a:prstGeom prst="rect">
            <a:avLst/>
          </a:prstGeom>
          <a:solidFill>
            <a:srgbClr val="A4503A"/>
          </a:solidFill>
          <a:ln w="6350">
            <a:solidFill>
              <a:srgbClr val="C9CCD1"/>
            </a:solidFill>
            <a:prstDash val="solid"/>
          </a:ln>
        </p:spPr>
      </p:sp>
      <p:sp>
        <p:nvSpPr>
          <p:cNvPr id="13" name="Text 11"/>
          <p:cNvSpPr txBox="1"/>
          <p:nvPr/>
        </p:nvSpPr>
        <p:spPr>
          <a:xfrm>
            <a:off x="3783787" y="2514600"/>
            <a:ext cx="1388974" cy="274320"/>
          </a:xfrm>
          <a:prstGeom prst="rect">
            <a:avLst/>
          </a:prstGeom>
          <a:noFill/>
          <a:ln/>
        </p:spPr>
        <p:txBody>
          <a:bodyPr wrap="square" lIns="0" tIns="0" rIns="0" bIns="0" rtlCol="0" anchor="t"/>
          <a:lstStyle/>
          <a:p>
            <a:pPr indent="0" marL="0">
              <a:buNone/>
            </a:pPr>
            <a:r>
              <a:rPr lang="en-US" sz="1300" b="1" dirty="0">
                <a:solidFill>
                  <a:srgbClr val="1F2623"/>
                </a:solidFill>
                <a:latin typeface="Avenir Next" pitchFamily="34" charset="0"/>
                <a:ea typeface="Avenir Next" pitchFamily="34" charset="-122"/>
                <a:cs typeface="Avenir Next" pitchFamily="34" charset="-120"/>
              </a:rPr>
              <a:t>Secondary</a:t>
            </a:r>
            <a:endParaRPr lang="en-US" sz="1300" dirty="0"/>
          </a:p>
        </p:txBody>
      </p:sp>
      <p:sp>
        <p:nvSpPr>
          <p:cNvPr id="14" name="Text 12"/>
          <p:cNvSpPr txBox="1"/>
          <p:nvPr/>
        </p:nvSpPr>
        <p:spPr>
          <a:xfrm>
            <a:off x="3783787" y="2788920"/>
            <a:ext cx="1388974" cy="274320"/>
          </a:xfrm>
          <a:prstGeom prst="rect">
            <a:avLst/>
          </a:prstGeom>
          <a:noFill/>
          <a:ln/>
        </p:spPr>
        <p:txBody>
          <a:bodyPr wrap="square" lIns="0" tIns="0" rIns="0" bIns="0" rtlCol="0" anchor="t"/>
          <a:lstStyle/>
          <a:p>
            <a:pPr indent="0" marL="0">
              <a:buNone/>
            </a:pPr>
            <a:r>
              <a:rPr lang="en-US" sz="1200" dirty="0">
                <a:solidFill>
                  <a:srgbClr val="1F2623"/>
                </a:solidFill>
                <a:latin typeface="Menlo" pitchFamily="34" charset="0"/>
                <a:ea typeface="Menlo" pitchFamily="34" charset="-122"/>
                <a:cs typeface="Menlo" pitchFamily="34" charset="-120"/>
              </a:rPr>
              <a:t>#A4503A</a:t>
            </a:r>
            <a:endParaRPr lang="en-US" sz="1200" dirty="0"/>
          </a:p>
        </p:txBody>
      </p:sp>
      <p:sp>
        <p:nvSpPr>
          <p:cNvPr id="15" name="Text 13"/>
          <p:cNvSpPr txBox="1"/>
          <p:nvPr/>
        </p:nvSpPr>
        <p:spPr>
          <a:xfrm>
            <a:off x="3783787" y="3063240"/>
            <a:ext cx="1388974" cy="685800"/>
          </a:xfrm>
          <a:prstGeom prst="rect">
            <a:avLst/>
          </a:prstGeom>
          <a:noFill/>
          <a:ln/>
        </p:spPr>
        <p:txBody>
          <a:bodyPr wrap="square" lIns="0" tIns="0" rIns="0" bIns="0" rtlCol="0" anchor="t"/>
          <a:lstStyle/>
          <a:p>
            <a:pPr indent="0" marL="0">
              <a:buNone/>
            </a:pPr>
            <a:r>
              <a:rPr lang="en-US" sz="1100" dirty="0">
                <a:solidFill>
                  <a:srgbClr val="6E6F68"/>
                </a:solidFill>
                <a:latin typeface="Avenir Next" pitchFamily="34" charset="0"/>
                <a:ea typeface="Avenir Next" pitchFamily="34" charset="-122"/>
                <a:cs typeface="Avenir Next" pitchFamily="34" charset="-120"/>
              </a:rPr>
              <a:t>Check questions, takeaway labels</a:t>
            </a:r>
            <a:endParaRPr lang="en-US" sz="1100" dirty="0"/>
          </a:p>
        </p:txBody>
      </p:sp>
      <p:sp>
        <p:nvSpPr>
          <p:cNvPr id="16" name="Shape 14"/>
          <p:cNvSpPr/>
          <p:nvPr/>
        </p:nvSpPr>
        <p:spPr>
          <a:xfrm>
            <a:off x="5401361" y="1371600"/>
            <a:ext cx="1388974" cy="1051560"/>
          </a:xfrm>
          <a:prstGeom prst="rect">
            <a:avLst/>
          </a:prstGeom>
          <a:solidFill>
            <a:srgbClr val="1F2623"/>
          </a:solidFill>
          <a:ln w="6350">
            <a:solidFill>
              <a:srgbClr val="C9CCD1"/>
            </a:solidFill>
            <a:prstDash val="solid"/>
          </a:ln>
        </p:spPr>
      </p:sp>
      <p:sp>
        <p:nvSpPr>
          <p:cNvPr id="17" name="Text 15"/>
          <p:cNvSpPr txBox="1"/>
          <p:nvPr/>
        </p:nvSpPr>
        <p:spPr>
          <a:xfrm>
            <a:off x="5401361" y="2514600"/>
            <a:ext cx="1388974" cy="274320"/>
          </a:xfrm>
          <a:prstGeom prst="rect">
            <a:avLst/>
          </a:prstGeom>
          <a:noFill/>
          <a:ln/>
        </p:spPr>
        <p:txBody>
          <a:bodyPr wrap="square" lIns="0" tIns="0" rIns="0" bIns="0" rtlCol="0" anchor="t"/>
          <a:lstStyle/>
          <a:p>
            <a:pPr indent="0" marL="0">
              <a:buNone/>
            </a:pPr>
            <a:r>
              <a:rPr lang="en-US" sz="1300" b="1" dirty="0">
                <a:solidFill>
                  <a:srgbClr val="1F2623"/>
                </a:solidFill>
                <a:latin typeface="Avenir Next" pitchFamily="34" charset="0"/>
                <a:ea typeface="Avenir Next" pitchFamily="34" charset="-122"/>
                <a:cs typeface="Avenir Next" pitchFamily="34" charset="-120"/>
              </a:rPr>
              <a:t>Text</a:t>
            </a:r>
            <a:endParaRPr lang="en-US" sz="1300" dirty="0"/>
          </a:p>
        </p:txBody>
      </p:sp>
      <p:sp>
        <p:nvSpPr>
          <p:cNvPr id="18" name="Text 16"/>
          <p:cNvSpPr txBox="1"/>
          <p:nvPr/>
        </p:nvSpPr>
        <p:spPr>
          <a:xfrm>
            <a:off x="5401361" y="2788920"/>
            <a:ext cx="1388974" cy="274320"/>
          </a:xfrm>
          <a:prstGeom prst="rect">
            <a:avLst/>
          </a:prstGeom>
          <a:noFill/>
          <a:ln/>
        </p:spPr>
        <p:txBody>
          <a:bodyPr wrap="square" lIns="0" tIns="0" rIns="0" bIns="0" rtlCol="0" anchor="t"/>
          <a:lstStyle/>
          <a:p>
            <a:pPr indent="0" marL="0">
              <a:buNone/>
            </a:pPr>
            <a:r>
              <a:rPr lang="en-US" sz="1200" dirty="0">
                <a:solidFill>
                  <a:srgbClr val="1F2623"/>
                </a:solidFill>
                <a:latin typeface="Menlo" pitchFamily="34" charset="0"/>
                <a:ea typeface="Menlo" pitchFamily="34" charset="-122"/>
                <a:cs typeface="Menlo" pitchFamily="34" charset="-120"/>
              </a:rPr>
              <a:t>#1F2623</a:t>
            </a:r>
            <a:endParaRPr lang="en-US" sz="1200" dirty="0"/>
          </a:p>
        </p:txBody>
      </p:sp>
      <p:sp>
        <p:nvSpPr>
          <p:cNvPr id="19" name="Text 17"/>
          <p:cNvSpPr txBox="1"/>
          <p:nvPr/>
        </p:nvSpPr>
        <p:spPr>
          <a:xfrm>
            <a:off x="5401361" y="3063240"/>
            <a:ext cx="1388974" cy="685800"/>
          </a:xfrm>
          <a:prstGeom prst="rect">
            <a:avLst/>
          </a:prstGeom>
          <a:noFill/>
          <a:ln/>
        </p:spPr>
        <p:txBody>
          <a:bodyPr wrap="square" lIns="0" tIns="0" rIns="0" bIns="0" rtlCol="0" anchor="t"/>
          <a:lstStyle/>
          <a:p>
            <a:pPr indent="0" marL="0">
              <a:buNone/>
            </a:pPr>
            <a:r>
              <a:rPr lang="en-US" sz="1100" dirty="0">
                <a:solidFill>
                  <a:srgbClr val="6E6F68"/>
                </a:solidFill>
                <a:latin typeface="Avenir Next" pitchFamily="34" charset="0"/>
                <a:ea typeface="Avenir Next" pitchFamily="34" charset="-122"/>
                <a:cs typeface="Avenir Next" pitchFamily="34" charset="-120"/>
              </a:rPr>
              <a:t>Body text</a:t>
            </a:r>
            <a:endParaRPr lang="en-US" sz="1100" dirty="0"/>
          </a:p>
        </p:txBody>
      </p:sp>
      <p:sp>
        <p:nvSpPr>
          <p:cNvPr id="20" name="Shape 18"/>
          <p:cNvSpPr/>
          <p:nvPr/>
        </p:nvSpPr>
        <p:spPr>
          <a:xfrm>
            <a:off x="7018934" y="1371600"/>
            <a:ext cx="1388974" cy="1051560"/>
          </a:xfrm>
          <a:prstGeom prst="rect">
            <a:avLst/>
          </a:prstGeom>
          <a:solidFill>
            <a:srgbClr val="6E6F68"/>
          </a:solidFill>
          <a:ln w="6350">
            <a:solidFill>
              <a:srgbClr val="C9CCD1"/>
            </a:solidFill>
            <a:prstDash val="solid"/>
          </a:ln>
        </p:spPr>
      </p:sp>
      <p:sp>
        <p:nvSpPr>
          <p:cNvPr id="21" name="Text 19"/>
          <p:cNvSpPr txBox="1"/>
          <p:nvPr/>
        </p:nvSpPr>
        <p:spPr>
          <a:xfrm>
            <a:off x="7018934" y="2514600"/>
            <a:ext cx="1388974" cy="274320"/>
          </a:xfrm>
          <a:prstGeom prst="rect">
            <a:avLst/>
          </a:prstGeom>
          <a:noFill/>
          <a:ln/>
        </p:spPr>
        <p:txBody>
          <a:bodyPr wrap="square" lIns="0" tIns="0" rIns="0" bIns="0" rtlCol="0" anchor="t"/>
          <a:lstStyle/>
          <a:p>
            <a:pPr indent="0" marL="0">
              <a:buNone/>
            </a:pPr>
            <a:r>
              <a:rPr lang="en-US" sz="1300" b="1" dirty="0">
                <a:solidFill>
                  <a:srgbClr val="1F2623"/>
                </a:solidFill>
                <a:latin typeface="Avenir Next" pitchFamily="34" charset="0"/>
                <a:ea typeface="Avenir Next" pitchFamily="34" charset="-122"/>
                <a:cs typeface="Avenir Next" pitchFamily="34" charset="-120"/>
              </a:rPr>
              <a:t>Grey</a:t>
            </a:r>
            <a:endParaRPr lang="en-US" sz="1300" dirty="0"/>
          </a:p>
        </p:txBody>
      </p:sp>
      <p:sp>
        <p:nvSpPr>
          <p:cNvPr id="22" name="Text 20"/>
          <p:cNvSpPr txBox="1"/>
          <p:nvPr/>
        </p:nvSpPr>
        <p:spPr>
          <a:xfrm>
            <a:off x="7018934" y="2788920"/>
            <a:ext cx="1388974" cy="274320"/>
          </a:xfrm>
          <a:prstGeom prst="rect">
            <a:avLst/>
          </a:prstGeom>
          <a:noFill/>
          <a:ln/>
        </p:spPr>
        <p:txBody>
          <a:bodyPr wrap="square" lIns="0" tIns="0" rIns="0" bIns="0" rtlCol="0" anchor="t"/>
          <a:lstStyle/>
          <a:p>
            <a:pPr indent="0" marL="0">
              <a:buNone/>
            </a:pPr>
            <a:r>
              <a:rPr lang="en-US" sz="1200" dirty="0">
                <a:solidFill>
                  <a:srgbClr val="1F2623"/>
                </a:solidFill>
                <a:latin typeface="Menlo" pitchFamily="34" charset="0"/>
                <a:ea typeface="Menlo" pitchFamily="34" charset="-122"/>
                <a:cs typeface="Menlo" pitchFamily="34" charset="-120"/>
              </a:rPr>
              <a:t>#6E6F68</a:t>
            </a:r>
            <a:endParaRPr lang="en-US" sz="1200" dirty="0"/>
          </a:p>
        </p:txBody>
      </p:sp>
      <p:sp>
        <p:nvSpPr>
          <p:cNvPr id="23" name="Text 21"/>
          <p:cNvSpPr txBox="1"/>
          <p:nvPr/>
        </p:nvSpPr>
        <p:spPr>
          <a:xfrm>
            <a:off x="7018934" y="3063240"/>
            <a:ext cx="1388974" cy="685800"/>
          </a:xfrm>
          <a:prstGeom prst="rect">
            <a:avLst/>
          </a:prstGeom>
          <a:noFill/>
          <a:ln/>
        </p:spPr>
        <p:txBody>
          <a:bodyPr wrap="square" lIns="0" tIns="0" rIns="0" bIns="0" rtlCol="0" anchor="t"/>
          <a:lstStyle/>
          <a:p>
            <a:pPr indent="0" marL="0">
              <a:buNone/>
            </a:pPr>
            <a:r>
              <a:rPr lang="en-US" sz="1100" dirty="0">
                <a:solidFill>
                  <a:srgbClr val="6E6F68"/>
                </a:solidFill>
                <a:latin typeface="Avenir Next" pitchFamily="34" charset="0"/>
                <a:ea typeface="Avenir Next" pitchFamily="34" charset="-122"/>
                <a:cs typeface="Avenir Next" pitchFamily="34" charset="-120"/>
              </a:rPr>
              <a:t>Captions, footer, context in figures</a:t>
            </a:r>
            <a:endParaRPr lang="en-US" sz="1100" dirty="0"/>
          </a:p>
        </p:txBody>
      </p:sp>
      <p:sp>
        <p:nvSpPr>
          <p:cNvPr id="24" name="Shape 22"/>
          <p:cNvSpPr/>
          <p:nvPr/>
        </p:nvSpPr>
        <p:spPr>
          <a:xfrm>
            <a:off x="8636508" y="1371600"/>
            <a:ext cx="1388974" cy="1051560"/>
          </a:xfrm>
          <a:prstGeom prst="rect">
            <a:avLst/>
          </a:prstGeom>
          <a:solidFill>
            <a:srgbClr val="EFEEE6"/>
          </a:solidFill>
          <a:ln w="6350">
            <a:solidFill>
              <a:srgbClr val="C9CCD1"/>
            </a:solidFill>
            <a:prstDash val="solid"/>
          </a:ln>
        </p:spPr>
      </p:sp>
      <p:sp>
        <p:nvSpPr>
          <p:cNvPr id="25" name="Text 23"/>
          <p:cNvSpPr txBox="1"/>
          <p:nvPr/>
        </p:nvSpPr>
        <p:spPr>
          <a:xfrm>
            <a:off x="8636508" y="2514600"/>
            <a:ext cx="1388974" cy="274320"/>
          </a:xfrm>
          <a:prstGeom prst="rect">
            <a:avLst/>
          </a:prstGeom>
          <a:noFill/>
          <a:ln/>
        </p:spPr>
        <p:txBody>
          <a:bodyPr wrap="square" lIns="0" tIns="0" rIns="0" bIns="0" rtlCol="0" anchor="t"/>
          <a:lstStyle/>
          <a:p>
            <a:pPr indent="0" marL="0">
              <a:buNone/>
            </a:pPr>
            <a:r>
              <a:rPr lang="en-US" sz="1300" b="1" dirty="0">
                <a:solidFill>
                  <a:srgbClr val="1F2623"/>
                </a:solidFill>
                <a:latin typeface="Avenir Next" pitchFamily="34" charset="0"/>
                <a:ea typeface="Avenir Next" pitchFamily="34" charset="-122"/>
                <a:cs typeface="Avenir Next" pitchFamily="34" charset="-120"/>
              </a:rPr>
              <a:t>Panel</a:t>
            </a:r>
            <a:endParaRPr lang="en-US" sz="1300" dirty="0"/>
          </a:p>
        </p:txBody>
      </p:sp>
      <p:sp>
        <p:nvSpPr>
          <p:cNvPr id="26" name="Text 24"/>
          <p:cNvSpPr txBox="1"/>
          <p:nvPr/>
        </p:nvSpPr>
        <p:spPr>
          <a:xfrm>
            <a:off x="8636508" y="2788920"/>
            <a:ext cx="1388974" cy="274320"/>
          </a:xfrm>
          <a:prstGeom prst="rect">
            <a:avLst/>
          </a:prstGeom>
          <a:noFill/>
          <a:ln/>
        </p:spPr>
        <p:txBody>
          <a:bodyPr wrap="square" lIns="0" tIns="0" rIns="0" bIns="0" rtlCol="0" anchor="t"/>
          <a:lstStyle/>
          <a:p>
            <a:pPr indent="0" marL="0">
              <a:buNone/>
            </a:pPr>
            <a:r>
              <a:rPr lang="en-US" sz="1200" dirty="0">
                <a:solidFill>
                  <a:srgbClr val="1F2623"/>
                </a:solidFill>
                <a:latin typeface="Menlo" pitchFamily="34" charset="0"/>
                <a:ea typeface="Menlo" pitchFamily="34" charset="-122"/>
                <a:cs typeface="Menlo" pitchFamily="34" charset="-120"/>
              </a:rPr>
              <a:t>#EFEEE6</a:t>
            </a:r>
            <a:endParaRPr lang="en-US" sz="1200" dirty="0"/>
          </a:p>
        </p:txBody>
      </p:sp>
      <p:sp>
        <p:nvSpPr>
          <p:cNvPr id="27" name="Text 25"/>
          <p:cNvSpPr txBox="1"/>
          <p:nvPr/>
        </p:nvSpPr>
        <p:spPr>
          <a:xfrm>
            <a:off x="8636508" y="3063240"/>
            <a:ext cx="1388974" cy="685800"/>
          </a:xfrm>
          <a:prstGeom prst="rect">
            <a:avLst/>
          </a:prstGeom>
          <a:noFill/>
          <a:ln/>
        </p:spPr>
        <p:txBody>
          <a:bodyPr wrap="square" lIns="0" tIns="0" rIns="0" bIns="0" rtlCol="0" anchor="t"/>
          <a:lstStyle/>
          <a:p>
            <a:pPr indent="0" marL="0">
              <a:buNone/>
            </a:pPr>
            <a:r>
              <a:rPr lang="en-US" sz="1100" dirty="0">
                <a:solidFill>
                  <a:srgbClr val="6E6F68"/>
                </a:solidFill>
                <a:latin typeface="Avenir Next" pitchFamily="34" charset="0"/>
                <a:ea typeface="Avenir Next" pitchFamily="34" charset="-122"/>
                <a:cs typeface="Avenir Next" pitchFamily="34" charset="-120"/>
              </a:rPr>
              <a:t>Key concept, summary, quote backgrounds</a:t>
            </a:r>
            <a:endParaRPr lang="en-US" sz="1100" dirty="0"/>
          </a:p>
        </p:txBody>
      </p:sp>
      <p:sp>
        <p:nvSpPr>
          <p:cNvPr id="28" name="Shape 26"/>
          <p:cNvSpPr/>
          <p:nvPr/>
        </p:nvSpPr>
        <p:spPr>
          <a:xfrm>
            <a:off x="10254082" y="1371600"/>
            <a:ext cx="1388974" cy="1051560"/>
          </a:xfrm>
          <a:prstGeom prst="rect">
            <a:avLst/>
          </a:prstGeom>
          <a:solidFill>
            <a:srgbClr val="FBFAF6"/>
          </a:solidFill>
          <a:ln w="6350">
            <a:solidFill>
              <a:srgbClr val="C9CCD1"/>
            </a:solidFill>
            <a:prstDash val="solid"/>
          </a:ln>
        </p:spPr>
      </p:sp>
      <p:sp>
        <p:nvSpPr>
          <p:cNvPr id="29" name="Text 27"/>
          <p:cNvSpPr txBox="1"/>
          <p:nvPr/>
        </p:nvSpPr>
        <p:spPr>
          <a:xfrm>
            <a:off x="10254082" y="2514600"/>
            <a:ext cx="1388974" cy="274320"/>
          </a:xfrm>
          <a:prstGeom prst="rect">
            <a:avLst/>
          </a:prstGeom>
          <a:noFill/>
          <a:ln/>
        </p:spPr>
        <p:txBody>
          <a:bodyPr wrap="square" lIns="0" tIns="0" rIns="0" bIns="0" rtlCol="0" anchor="t"/>
          <a:lstStyle/>
          <a:p>
            <a:pPr indent="0" marL="0">
              <a:buNone/>
            </a:pPr>
            <a:r>
              <a:rPr lang="en-US" sz="1300" b="1" dirty="0">
                <a:solidFill>
                  <a:srgbClr val="1F2623"/>
                </a:solidFill>
                <a:latin typeface="Avenir Next" pitchFamily="34" charset="0"/>
                <a:ea typeface="Avenir Next" pitchFamily="34" charset="-122"/>
                <a:cs typeface="Avenir Next" pitchFamily="34" charset="-120"/>
              </a:rPr>
              <a:t>Background</a:t>
            </a:r>
            <a:endParaRPr lang="en-US" sz="1300" dirty="0"/>
          </a:p>
        </p:txBody>
      </p:sp>
      <p:sp>
        <p:nvSpPr>
          <p:cNvPr id="30" name="Text 28"/>
          <p:cNvSpPr txBox="1"/>
          <p:nvPr/>
        </p:nvSpPr>
        <p:spPr>
          <a:xfrm>
            <a:off x="10254082" y="2788920"/>
            <a:ext cx="1388974" cy="274320"/>
          </a:xfrm>
          <a:prstGeom prst="rect">
            <a:avLst/>
          </a:prstGeom>
          <a:noFill/>
          <a:ln/>
        </p:spPr>
        <p:txBody>
          <a:bodyPr wrap="square" lIns="0" tIns="0" rIns="0" bIns="0" rtlCol="0" anchor="t"/>
          <a:lstStyle/>
          <a:p>
            <a:pPr indent="0" marL="0">
              <a:buNone/>
            </a:pPr>
            <a:r>
              <a:rPr lang="en-US" sz="1200" dirty="0">
                <a:solidFill>
                  <a:srgbClr val="1F2623"/>
                </a:solidFill>
                <a:latin typeface="Menlo" pitchFamily="34" charset="0"/>
                <a:ea typeface="Menlo" pitchFamily="34" charset="-122"/>
                <a:cs typeface="Menlo" pitchFamily="34" charset="-120"/>
              </a:rPr>
              <a:t>#FBFAF6</a:t>
            </a:r>
            <a:endParaRPr lang="en-US" sz="1200" dirty="0"/>
          </a:p>
        </p:txBody>
      </p:sp>
      <p:sp>
        <p:nvSpPr>
          <p:cNvPr id="31" name="Text 29"/>
          <p:cNvSpPr txBox="1"/>
          <p:nvPr/>
        </p:nvSpPr>
        <p:spPr>
          <a:xfrm>
            <a:off x="10254082" y="3063240"/>
            <a:ext cx="1388974" cy="685800"/>
          </a:xfrm>
          <a:prstGeom prst="rect">
            <a:avLst/>
          </a:prstGeom>
          <a:noFill/>
          <a:ln/>
        </p:spPr>
        <p:txBody>
          <a:bodyPr wrap="square" lIns="0" tIns="0" rIns="0" bIns="0" rtlCol="0" anchor="t"/>
          <a:lstStyle/>
          <a:p>
            <a:pPr indent="0" marL="0">
              <a:buNone/>
            </a:pPr>
            <a:r>
              <a:rPr lang="en-US" sz="1100" dirty="0">
                <a:solidFill>
                  <a:srgbClr val="6E6F68"/>
                </a:solidFill>
                <a:latin typeface="Avenir Next" pitchFamily="34" charset="0"/>
                <a:ea typeface="Avenir Next" pitchFamily="34" charset="-122"/>
                <a:cs typeface="Avenir Next" pitchFamily="34" charset="-120"/>
              </a:rPr>
              <a:t>Content slides</a:t>
            </a:r>
            <a:endParaRPr lang="en-US" sz="1100" dirty="0"/>
          </a:p>
        </p:txBody>
      </p:sp>
      <p:sp>
        <p:nvSpPr>
          <p:cNvPr id="32" name="Shape 30"/>
          <p:cNvSpPr/>
          <p:nvPr/>
        </p:nvSpPr>
        <p:spPr>
          <a:xfrm>
            <a:off x="548640" y="3886200"/>
            <a:ext cx="11094415" cy="0"/>
          </a:xfrm>
          <a:prstGeom prst="line">
            <a:avLst/>
          </a:prstGeom>
          <a:noFill/>
          <a:ln w="12700">
            <a:solidFill>
              <a:srgbClr val="D5D9DF"/>
            </a:solidFill>
            <a:prstDash val="solid"/>
          </a:ln>
        </p:spPr>
      </p:sp>
      <p:sp>
        <p:nvSpPr>
          <p:cNvPr id="33" name="Text 31"/>
          <p:cNvSpPr txBox="1"/>
          <p:nvPr/>
        </p:nvSpPr>
        <p:spPr>
          <a:xfrm>
            <a:off x="548640" y="4069080"/>
            <a:ext cx="2743200" cy="274320"/>
          </a:xfrm>
          <a:prstGeom prst="rect">
            <a:avLst/>
          </a:prstGeom>
          <a:noFill/>
          <a:ln/>
        </p:spPr>
        <p:txBody>
          <a:bodyPr wrap="square" lIns="0" tIns="0" rIns="0" bIns="0" rtlCol="0" anchor="t"/>
          <a:lstStyle/>
          <a:p>
            <a:pPr indent="0" marL="0">
              <a:buNone/>
            </a:pPr>
            <a:r>
              <a:rPr lang="en-US" sz="1200" b="1" spc="300" kern="0" dirty="0">
                <a:solidFill>
                  <a:srgbClr val="6E6F68"/>
                </a:solidFill>
                <a:latin typeface="Avenir Next" pitchFamily="34" charset="0"/>
                <a:ea typeface="Avenir Next" pitchFamily="34" charset="-122"/>
                <a:cs typeface="Avenir Next" pitchFamily="34" charset="-120"/>
              </a:rPr>
              <a:t>FONT</a:t>
            </a:r>
            <a:endParaRPr lang="en-US" sz="1200" dirty="0"/>
          </a:p>
        </p:txBody>
      </p:sp>
      <p:sp>
        <p:nvSpPr>
          <p:cNvPr id="34" name="Text 32"/>
          <p:cNvSpPr txBox="1"/>
          <p:nvPr/>
        </p:nvSpPr>
        <p:spPr>
          <a:xfrm>
            <a:off x="548640" y="4343400"/>
            <a:ext cx="5394960" cy="548640"/>
          </a:xfrm>
          <a:prstGeom prst="rect">
            <a:avLst/>
          </a:prstGeom>
          <a:noFill/>
          <a:ln/>
        </p:spPr>
        <p:txBody>
          <a:bodyPr wrap="square" lIns="0" tIns="0" rIns="0" bIns="0" rtlCol="0" anchor="t"/>
          <a:lstStyle/>
          <a:p>
            <a:pPr indent="0" marL="0">
              <a:buNone/>
            </a:pPr>
            <a:r>
              <a:rPr lang="en-US" sz="1300" dirty="0">
                <a:solidFill>
                  <a:srgbClr val="1F2623"/>
                </a:solidFill>
                <a:latin typeface="Avenir Next" pitchFamily="34" charset="0"/>
                <a:ea typeface="Avenir Next" pitchFamily="34" charset="-122"/>
                <a:cs typeface="Avenir Next" pitchFamily="34" charset="-120"/>
              </a:rPr>
              <a:t>Avenir Next (bold titles, regular body). Export a PDF backup for other computers.</a:t>
            </a:r>
            <a:endParaRPr lang="en-US" sz="1300" dirty="0"/>
          </a:p>
        </p:txBody>
      </p:sp>
      <p:sp>
        <p:nvSpPr>
          <p:cNvPr id="35" name="Text 33"/>
          <p:cNvSpPr txBox="1"/>
          <p:nvPr/>
        </p:nvSpPr>
        <p:spPr>
          <a:xfrm>
            <a:off x="548640" y="4983480"/>
            <a:ext cx="2743200" cy="274320"/>
          </a:xfrm>
          <a:prstGeom prst="rect">
            <a:avLst/>
          </a:prstGeom>
          <a:noFill/>
          <a:ln/>
        </p:spPr>
        <p:txBody>
          <a:bodyPr wrap="square" lIns="0" tIns="0" rIns="0" bIns="0" rtlCol="0" anchor="t"/>
          <a:lstStyle/>
          <a:p>
            <a:pPr indent="0" marL="0">
              <a:buNone/>
            </a:pPr>
            <a:r>
              <a:rPr lang="en-US" sz="1200" b="1" spc="300" kern="0" dirty="0">
                <a:solidFill>
                  <a:srgbClr val="6E6F68"/>
                </a:solidFill>
                <a:latin typeface="Avenir Next" pitchFamily="34" charset="0"/>
                <a:ea typeface="Avenir Next" pitchFamily="34" charset="-122"/>
                <a:cs typeface="Avenir Next" pitchFamily="34" charset="-120"/>
              </a:rPr>
              <a:t>FIGURES IN R</a:t>
            </a:r>
            <a:endParaRPr lang="en-US" sz="1200" dirty="0"/>
          </a:p>
        </p:txBody>
      </p:sp>
      <p:sp>
        <p:nvSpPr>
          <p:cNvPr id="36" name="Shape 34"/>
          <p:cNvSpPr/>
          <p:nvPr/>
        </p:nvSpPr>
        <p:spPr>
          <a:xfrm>
            <a:off x="548640" y="5257800"/>
            <a:ext cx="5394960" cy="868680"/>
          </a:xfrm>
          <a:prstGeom prst="rect">
            <a:avLst/>
          </a:prstGeom>
          <a:solidFill>
            <a:srgbClr val="F1F2F4"/>
          </a:solidFill>
          <a:ln w="12700">
            <a:solidFill>
              <a:srgbClr val="F1F2F4"/>
            </a:solidFill>
            <a:prstDash val="solid"/>
          </a:ln>
        </p:spPr>
      </p:sp>
      <p:sp>
        <p:nvSpPr>
          <p:cNvPr id="37" name="Text 35"/>
          <p:cNvSpPr txBox="1"/>
          <p:nvPr/>
        </p:nvSpPr>
        <p:spPr>
          <a:xfrm>
            <a:off x="658368" y="5321808"/>
            <a:ext cx="5175504" cy="777240"/>
          </a:xfrm>
          <a:prstGeom prst="rect">
            <a:avLst/>
          </a:prstGeom>
          <a:noFill/>
          <a:ln/>
        </p:spPr>
        <p:txBody>
          <a:bodyPr wrap="square" lIns="0" tIns="0" rIns="0" bIns="0" rtlCol="0" anchor="t"/>
          <a:lstStyle/>
          <a:p>
            <a:pPr indent="0" marL="0">
              <a:buNone/>
            </a:pPr>
            <a:r>
              <a:rPr lang="en-US" sz="1100" dirty="0">
                <a:solidFill>
                  <a:srgbClr val="1F2623"/>
                </a:solidFill>
                <a:latin typeface="Menlo" pitchFamily="34" charset="0"/>
                <a:ea typeface="Menlo" pitchFamily="34" charset="-122"/>
                <a:cs typeface="Menlo" pitchFamily="34" charset="-120"/>
              </a:rPr>
              <a:t>scale_colour_manual(values = c("#6E6F68", "#1F4D3F", "#C08A2E", "#A4503A"))</a:t>
            </a:r>
            <a:endParaRPr lang="en-US" sz="1100" dirty="0"/>
          </a:p>
        </p:txBody>
      </p:sp>
      <p:sp>
        <p:nvSpPr>
          <p:cNvPr id="38" name="Text 36"/>
          <p:cNvSpPr txBox="1"/>
          <p:nvPr/>
        </p:nvSpPr>
        <p:spPr>
          <a:xfrm>
            <a:off x="6309360" y="4069080"/>
            <a:ext cx="2743200" cy="274320"/>
          </a:xfrm>
          <a:prstGeom prst="rect">
            <a:avLst/>
          </a:prstGeom>
          <a:noFill/>
          <a:ln/>
        </p:spPr>
        <p:txBody>
          <a:bodyPr wrap="square" lIns="0" tIns="0" rIns="0" bIns="0" rtlCol="0" anchor="t"/>
          <a:lstStyle/>
          <a:p>
            <a:pPr indent="0" marL="0">
              <a:buNone/>
            </a:pPr>
            <a:r>
              <a:rPr lang="en-US" sz="1200" b="1" spc="300" kern="0" dirty="0">
                <a:solidFill>
                  <a:srgbClr val="6E6F68"/>
                </a:solidFill>
                <a:latin typeface="Avenir Next" pitchFamily="34" charset="0"/>
                <a:ea typeface="Avenir Next" pitchFamily="34" charset="-122"/>
                <a:cs typeface="Avenir Next" pitchFamily="34" charset="-120"/>
              </a:rPr>
              <a:t>USAGE</a:t>
            </a:r>
            <a:endParaRPr lang="en-US" sz="1200" dirty="0"/>
          </a:p>
        </p:txBody>
      </p:sp>
      <p:sp>
        <p:nvSpPr>
          <p:cNvPr id="39" name="Text 37"/>
          <p:cNvSpPr txBox="1"/>
          <p:nvPr/>
        </p:nvSpPr>
        <p:spPr>
          <a:xfrm>
            <a:off x="6309360" y="4343400"/>
            <a:ext cx="5333695" cy="411480"/>
          </a:xfrm>
          <a:prstGeom prst="rect">
            <a:avLst/>
          </a:prstGeom>
          <a:noFill/>
          <a:ln/>
        </p:spPr>
        <p:txBody>
          <a:bodyPr wrap="square" lIns="0" tIns="0" rIns="0" bIns="0" rtlCol="0" anchor="t"/>
          <a:lstStyle/>
          <a:p>
            <a:pPr indent="0" marL="0">
              <a:buNone/>
            </a:pPr>
            <a:r>
              <a:rPr lang="en-US" sz="1300" dirty="0">
                <a:solidFill>
                  <a:srgbClr val="1F2623"/>
                </a:solidFill>
                <a:latin typeface="Avenir Next" pitchFamily="34" charset="0"/>
                <a:ea typeface="Avenir Next" pitchFamily="34" charset="-122"/>
                <a:cs typeface="Avenir Next" pitchFamily="34" charset="-120"/>
              </a:rPr>
              <a:t>Main colour marks the course: keep it for titles and dark slides.</a:t>
            </a:r>
            <a:endParaRPr lang="en-US" sz="1300" dirty="0"/>
          </a:p>
        </p:txBody>
      </p:sp>
      <p:sp>
        <p:nvSpPr>
          <p:cNvPr id="40" name="Text 38"/>
          <p:cNvSpPr txBox="1"/>
          <p:nvPr/>
        </p:nvSpPr>
        <p:spPr>
          <a:xfrm>
            <a:off x="6309360" y="4800600"/>
            <a:ext cx="5333695" cy="411480"/>
          </a:xfrm>
          <a:prstGeom prst="rect">
            <a:avLst/>
          </a:prstGeom>
          <a:noFill/>
          <a:ln/>
        </p:spPr>
        <p:txBody>
          <a:bodyPr wrap="square" lIns="0" tIns="0" rIns="0" bIns="0" rtlCol="0" anchor="t"/>
          <a:lstStyle/>
          <a:p>
            <a:pPr indent="0" marL="0">
              <a:buNone/>
            </a:pPr>
            <a:r>
              <a:rPr lang="en-US" sz="1300" dirty="0">
                <a:solidFill>
                  <a:srgbClr val="1F2623"/>
                </a:solidFill>
                <a:latin typeface="Avenir Next" pitchFamily="34" charset="0"/>
                <a:ea typeface="Avenir Next" pitchFamily="34" charset="-122"/>
                <a:cs typeface="Avenir Next" pitchFamily="34" charset="-120"/>
              </a:rPr>
              <a:t>Accent for the one thing to notice; never two accents competing on one slide.</a:t>
            </a:r>
            <a:endParaRPr lang="en-US" sz="1300" dirty="0"/>
          </a:p>
        </p:txBody>
      </p:sp>
      <p:sp>
        <p:nvSpPr>
          <p:cNvPr id="41" name="Text 39"/>
          <p:cNvSpPr txBox="1"/>
          <p:nvPr/>
        </p:nvSpPr>
        <p:spPr>
          <a:xfrm>
            <a:off x="6309360" y="5257800"/>
            <a:ext cx="5333695" cy="411480"/>
          </a:xfrm>
          <a:prstGeom prst="rect">
            <a:avLst/>
          </a:prstGeom>
          <a:noFill/>
          <a:ln/>
        </p:spPr>
        <p:txBody>
          <a:bodyPr wrap="square" lIns="0" tIns="0" rIns="0" bIns="0" rtlCol="0" anchor="t"/>
          <a:lstStyle/>
          <a:p>
            <a:pPr indent="0" marL="0">
              <a:buNone/>
            </a:pPr>
            <a:r>
              <a:rPr lang="en-US" sz="1300" dirty="0">
                <a:solidFill>
                  <a:srgbClr val="1F2623"/>
                </a:solidFill>
                <a:latin typeface="Avenir Next" pitchFamily="34" charset="0"/>
                <a:ea typeface="Avenir Next" pitchFamily="34" charset="-122"/>
                <a:cs typeface="Avenir Next" pitchFamily="34" charset="-120"/>
              </a:rPr>
              <a:t>Figures: plot context in grey, the result in the main or accent colour.</a:t>
            </a:r>
            <a:endParaRPr lang="en-US" sz="1300" dirty="0"/>
          </a:p>
        </p:txBody>
      </p:sp>
      <p:sp>
        <p:nvSpPr>
          <p:cNvPr id="42" name="Text 40"/>
          <p:cNvSpPr txBox="1"/>
          <p:nvPr/>
        </p:nvSpPr>
        <p:spPr>
          <a:xfrm>
            <a:off x="6309360" y="5715000"/>
            <a:ext cx="5333695" cy="411480"/>
          </a:xfrm>
          <a:prstGeom prst="rect">
            <a:avLst/>
          </a:prstGeom>
          <a:noFill/>
          <a:ln/>
        </p:spPr>
        <p:txBody>
          <a:bodyPr wrap="square" lIns="0" tIns="0" rIns="0" bIns="0" rtlCol="0" anchor="t"/>
          <a:lstStyle/>
          <a:p>
            <a:pPr indent="0" marL="0">
              <a:buNone/>
            </a:pPr>
            <a:r>
              <a:rPr lang="en-US" sz="1300" dirty="0">
                <a:solidFill>
                  <a:srgbClr val="1F2623"/>
                </a:solidFill>
                <a:latin typeface="Avenir Next" pitchFamily="34" charset="0"/>
                <a:ea typeface="Avenir Next" pitchFamily="34" charset="-122"/>
                <a:cs typeface="Avenir Next" pitchFamily="34" charset="-120"/>
              </a:rPr>
              <a:t>Course details are fixed in the layouts; edit them in Edit Slide Layouts.</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57255" y="614476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rgbClr val="9DB8AC"/>
                </a:solidFill>
                <a:latin typeface="Avenir Next"/>
                <a:ea typeface="Avenir Next"/>
                <a:cs typeface="Avenir Next"/>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0.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9.jp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title_hatchling.jpg"/>
          <p:cNvPicPr>
            <a:picLocks noGrp="1" noChangeAspect="1"/>
          </p:cNvPicPr>
          <p:nvPr>
            <p:ph type="pic" idx="100"/>
          </p:nvPr>
        </p:nvPicPr>
        <p:blipFill>
          <a:blip r:embed="rId2"/>
          <a:srcRect t="53" b="53"/>
          <a:stretch>
            <a:fillRect/>
          </a:stretch>
        </p:blipFill>
        <p:spPr/>
      </p:pic>
      <p:sp>
        <p:nvSpPr>
          <p:cNvPr id="3" name="Title 2"/>
          <p:cNvSpPr>
            <a:spLocks noGrp="1"/>
          </p:cNvSpPr>
          <p:nvPr>
            <p:ph type="title" idx="103"/>
          </p:nvPr>
        </p:nvSpPr>
        <p:spPr/>
        <p:txBody>
          <a:bodyPr/>
          <a:lstStyle/>
          <a:p>
            <a:pPr/>
            <a:r>
              <a:rPr sz="3800"/>
              <a:t>Age- and stage-structured models</a:t>
            </a:r>
          </a:p>
        </p:txBody>
      </p:sp>
      <p:sp>
        <p:nvSpPr>
          <p:cNvPr id="4" name="Text Placeholder 3"/>
          <p:cNvSpPr>
            <a:spLocks noGrp="1"/>
          </p:cNvSpPr>
          <p:nvPr>
            <p:ph type="body" idx="104"/>
          </p:nvPr>
        </p:nvSpPr>
        <p:spPr/>
        <p:txBody>
          <a:bodyPr/>
          <a:lstStyle/>
          <a:p>
            <a:pPr/>
            <a:r>
              <a:t>Why do individuals of different ages and stages contribute differently to population growth?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p:txBody>
          <a:bodyPr/>
          <a:lstStyle/>
          <a:p>
            <a:pPr/>
            <a:r>
              <a:t>Structured populations</a:t>
            </a:r>
          </a:p>
        </p:txBody>
      </p:sp>
      <p:sp>
        <p:nvSpPr>
          <p:cNvPr id="3" name="Text Placeholder 2"/>
          <p:cNvSpPr>
            <a:spLocks noGrp="1"/>
          </p:cNvSpPr>
          <p:nvPr>
            <p:ph type="body" idx="103"/>
          </p:nvPr>
        </p:nvSpPr>
        <p:spPr/>
        <p:txBody>
          <a:bodyPr/>
          <a:lstStyle/>
          <a:p>
            <a:pPr/>
            <a:r>
              <a:rPr sz="1800"/>
              <a:t>Decide whether an age- or a stage-based model suits a life cycle</a:t>
            </a:r>
          </a:p>
          <a:p>
            <a:pPr/>
            <a:r>
              <a:rPr sz="1800"/>
              <a:t>Turn a life table or life cycle diagram into a projection matrix, including fertility that allows for survival</a:t>
            </a:r>
          </a:p>
          <a:p>
            <a:pPr/>
            <a:r>
              <a:rPr sz="1800"/>
              <a:t>Project a population and interpret λ, the stable stage distribution and transient dynamics</a:t>
            </a:r>
          </a:p>
          <a:p>
            <a:pPr/>
            <a:r>
              <a:rPr sz="1800"/>
              <a:t>Use sensitivity, elasticity and </a:t>
            </a:r>
            <a:r>
              <a:rPr i="1" sz="1800"/>
              <a:t>in silico</a:t>
            </a:r>
            <a:r>
              <a:rPr sz="1800"/>
              <a:t> experiments to compare management options</a:t>
            </a:r>
          </a:p>
          <a:p>
            <a:pPr/>
            <a:r>
              <a:rPr sz="1800"/>
              <a:t>State the assumptions of the basic model, and how stochastic models relax one of them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pPr/>
            <a:r>
              <a:t>01</a:t>
            </a:r>
          </a:p>
        </p:txBody>
      </p:sp>
      <p:sp>
        <p:nvSpPr>
          <p:cNvPr id="3" name="Title 2"/>
          <p:cNvSpPr>
            <a:spLocks noGrp="1"/>
          </p:cNvSpPr>
          <p:nvPr>
            <p:ph type="title" idx="103"/>
          </p:nvPr>
        </p:nvSpPr>
        <p:spPr/>
        <p:txBody>
          <a:bodyPr/>
          <a:lstStyle/>
          <a:p>
            <a:pPr/>
            <a:r>
              <a:t>Age or stage?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Age-based: when age is what matters</a:t>
            </a:r>
          </a:p>
        </p:txBody>
      </p:sp>
      <p:pic>
        <p:nvPicPr>
          <p:cNvPr id="3" name="Picture Placeholder 2" descr="ages.jpg"/>
          <p:cNvPicPr>
            <a:picLocks noGrp="1" noChangeAspect="1"/>
          </p:cNvPicPr>
          <p:nvPr>
            <p:ph type="pic" idx="101"/>
          </p:nvPr>
        </p:nvPicPr>
        <p:blipFill>
          <a:blip r:embed="rId2"/>
          <a:srcRect/>
          <a:stretch>
            <a:fillRect/>
          </a:stretch>
        </p:blipFill>
        <p:spPr/>
      </p:pic>
      <p:sp>
        <p:nvSpPr>
          <p:cNvPr id="4" name="Text Placeholder 3"/>
          <p:cNvSpPr>
            <a:spLocks noGrp="1"/>
          </p:cNvSpPr>
          <p:nvPr>
            <p:ph type="body" idx="103"/>
          </p:nvPr>
        </p:nvSpPr>
        <p:spPr/>
        <p:txBody>
          <a:bodyPr/>
          <a:lstStyle/>
          <a:p>
            <a:pPr/>
            <a:r>
              <a:t>AGE</a:t>
            </a:r>
          </a:p>
        </p:txBody>
      </p:sp>
      <p:sp>
        <p:nvSpPr>
          <p:cNvPr id="5" name="Text Placeholder 4"/>
          <p:cNvSpPr>
            <a:spLocks noGrp="1"/>
          </p:cNvSpPr>
          <p:nvPr>
            <p:ph type="body" idx="105"/>
          </p:nvPr>
        </p:nvSpPr>
        <p:spPr/>
        <p:txBody>
          <a:bodyPr/>
          <a:lstStyle/>
          <a:p>
            <a:pPr/>
            <a:r>
              <a:rPr sz="1800"/>
              <a:t>Survival and reproduction change with age</a:t>
            </a:r>
          </a:p>
          <a:p>
            <a:pPr/>
            <a:r>
              <a:rPr sz="1800"/>
              <a:t>We can tell (or know) how old individuals are</a:t>
            </a:r>
          </a:p>
          <a:p>
            <a:pPr/>
            <a:r>
              <a:rPr sz="1800"/>
              <a:t>Examples: humans, many mammals and birds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Stage-based: when size or stage is what matters</a:t>
            </a:r>
          </a:p>
        </p:txBody>
      </p:sp>
      <p:pic>
        <p:nvPicPr>
          <p:cNvPr id="3" name="Picture Placeholder 2" descr="turtle_stages.jpg"/>
          <p:cNvPicPr>
            <a:picLocks noGrp="1" noChangeAspect="1"/>
          </p:cNvPicPr>
          <p:nvPr>
            <p:ph type="pic" idx="101"/>
          </p:nvPr>
        </p:nvPicPr>
        <p:blipFill>
          <a:blip r:embed="rId2"/>
          <a:srcRect/>
          <a:stretch>
            <a:fillRect/>
          </a:stretch>
        </p:blipFill>
        <p:spPr/>
      </p:pic>
      <p:sp>
        <p:nvSpPr>
          <p:cNvPr id="4" name="Text Placeholder 3"/>
          <p:cNvSpPr>
            <a:spLocks noGrp="1"/>
          </p:cNvSpPr>
          <p:nvPr>
            <p:ph type="body" idx="103"/>
          </p:nvPr>
        </p:nvSpPr>
        <p:spPr/>
        <p:txBody>
          <a:bodyPr/>
          <a:lstStyle/>
          <a:p>
            <a:pPr/>
            <a:r>
              <a:t>STAGE</a:t>
            </a:r>
          </a:p>
        </p:txBody>
      </p:sp>
      <p:sp>
        <p:nvSpPr>
          <p:cNvPr id="5" name="Text Placeholder 4"/>
          <p:cNvSpPr>
            <a:spLocks noGrp="1"/>
          </p:cNvSpPr>
          <p:nvPr>
            <p:ph type="body" idx="105"/>
          </p:nvPr>
        </p:nvSpPr>
        <p:spPr/>
        <p:txBody>
          <a:bodyPr/>
          <a:lstStyle/>
          <a:p>
            <a:pPr/>
            <a:r>
              <a:rPr sz="1800"/>
              <a:t>Fate depends on size or developmental stage, not age</a:t>
            </a:r>
          </a:p>
          <a:p>
            <a:pPr/>
            <a:r>
              <a:rPr sz="1800"/>
              <a:t>Age is often unknown, and individuals can stay in a stage for years</a:t>
            </a:r>
          </a:p>
          <a:p>
            <a:pPr/>
            <a:r>
              <a:rPr sz="1800"/>
              <a:t>Examples: sea turtles, trees, fish, insects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pPr/>
            <a:r>
              <a:t>02</a:t>
            </a:r>
          </a:p>
        </p:txBody>
      </p:sp>
      <p:sp>
        <p:nvSpPr>
          <p:cNvPr id="3" name="Title 2"/>
          <p:cNvSpPr>
            <a:spLocks noGrp="1"/>
          </p:cNvSpPr>
          <p:nvPr>
            <p:ph type="title" idx="103"/>
          </p:nvPr>
        </p:nvSpPr>
        <p:spPr/>
        <p:txBody>
          <a:bodyPr/>
          <a:lstStyle/>
          <a:p>
            <a:pPr/>
            <a:r>
              <a:t>Age-based models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Start with a life table</a:t>
            </a:r>
          </a:p>
        </p:txBody>
      </p:sp>
      <p:graphicFrame>
        <p:nvGraphicFramePr>
          <p:cNvPr id="26" name="Table 25"/>
          <p:cNvGraphicFramePr>
            <a:graphicFrameLocks noGrp="1"/>
          </p:cNvGraphicFramePr>
          <p:nvPr/>
        </p:nvGraphicFramePr>
        <p:xfrm>
          <a:off x="731520" y="2103120"/>
          <a:ext cx="5943600" cy="3182112"/>
        </p:xfrm>
        <a:graphic>
          <a:graphicData uri="http://schemas.openxmlformats.org/drawingml/2006/table">
            <a:tbl>
              <a:tblPr firstRow="0" bandRow="0">
                <a:tableStyleId>{5C22544A-7EE6-4342-B048-85BDC9FD1C3A}</a:tableStyleId>
              </a:tblPr>
              <a:tblGrid>
                <a:gridCol w="1097280"/>
                <a:gridCol w="914400"/>
                <a:gridCol w="914400"/>
                <a:gridCol w="914400"/>
                <a:gridCol w="2103120"/>
              </a:tblGrid>
              <a:tr h="530352">
                <a:tc>
                  <a:txBody>
                    <a:bodyPr/>
                    <a:lstStyle/>
                    <a:p>
                      <a:pPr algn="l"/>
                      <a:r>
                        <a:rPr b="1" sz="1800">
                          <a:solidFill>
                            <a:srgbClr val="FFFFFF"/>
                          </a:solidFill>
                          <a:latin typeface="Avenir Next"/>
                        </a:rPr>
                        <a:t>Age, </a:t>
                      </a:r>
                      <a:r>
                        <a:rPr b="1" i="1" sz="1800">
                          <a:solidFill>
                            <a:srgbClr val="FFFFFF"/>
                          </a:solidFill>
                          <a:latin typeface="Avenir Next"/>
                        </a:rPr>
                        <a:t>x</a:t>
                      </a:r>
                    </a:p>
                  </a:txBody>
                  <a:tcPr anchor="ctr" marL="73152" marR="73152" marT="27432" marB="27432">
                    <a:solidFill>
                      <a:srgbClr val="1F4D3F"/>
                    </a:solidFill>
                  </a:tcPr>
                </a:tc>
                <a:tc>
                  <a:txBody>
                    <a:bodyPr/>
                    <a:lstStyle/>
                    <a:p>
                      <a:pPr algn="ctr"/>
                      <a:r>
                        <a:rPr b="1" sz="1800">
                          <a:solidFill>
                            <a:srgbClr val="FFFFFF"/>
                          </a:solidFill>
                          <a:latin typeface="Avenir Next"/>
                        </a:rPr>
                        <a:t>S</a:t>
                      </a:r>
                      <a:r>
                        <a:rPr b="1" baseline="-25000" sz="1800">
                          <a:solidFill>
                            <a:srgbClr val="FFFFFF"/>
                          </a:solidFill>
                          <a:latin typeface="Avenir Next"/>
                        </a:rPr>
                        <a:t>x</a:t>
                      </a:r>
                    </a:p>
                  </a:txBody>
                  <a:tcPr anchor="ctr" marL="73152" marR="73152" marT="27432" marB="27432">
                    <a:solidFill>
                      <a:srgbClr val="1F4D3F"/>
                    </a:solidFill>
                  </a:tcPr>
                </a:tc>
                <a:tc>
                  <a:txBody>
                    <a:bodyPr/>
                    <a:lstStyle/>
                    <a:p>
                      <a:pPr algn="ctr"/>
                      <a:r>
                        <a:rPr b="1" sz="1800">
                          <a:solidFill>
                            <a:srgbClr val="FFFFFF"/>
                          </a:solidFill>
                          <a:latin typeface="Avenir Next"/>
                        </a:rPr>
                        <a:t>l</a:t>
                      </a:r>
                      <a:r>
                        <a:rPr b="1" baseline="-25000" sz="1800">
                          <a:solidFill>
                            <a:srgbClr val="FFFFFF"/>
                          </a:solidFill>
                          <a:latin typeface="Avenir Next"/>
                        </a:rPr>
                        <a:t>x</a:t>
                      </a:r>
                    </a:p>
                  </a:txBody>
                  <a:tcPr anchor="ctr" marL="73152" marR="73152" marT="27432" marB="27432">
                    <a:solidFill>
                      <a:srgbClr val="1F4D3F"/>
                    </a:solidFill>
                  </a:tcPr>
                </a:tc>
                <a:tc>
                  <a:txBody>
                    <a:bodyPr/>
                    <a:lstStyle/>
                    <a:p>
                      <a:pPr algn="ctr"/>
                      <a:r>
                        <a:rPr b="1" sz="1800">
                          <a:solidFill>
                            <a:srgbClr val="FFFFFF"/>
                          </a:solidFill>
                          <a:latin typeface="Avenir Next"/>
                        </a:rPr>
                        <a:t>m</a:t>
                      </a:r>
                      <a:r>
                        <a:rPr b="1" baseline="-25000" sz="1800">
                          <a:solidFill>
                            <a:srgbClr val="FFFFFF"/>
                          </a:solidFill>
                          <a:latin typeface="Avenir Next"/>
                        </a:rPr>
                        <a:t>x</a:t>
                      </a:r>
                    </a:p>
                  </a:txBody>
                  <a:tcPr anchor="ctr" marL="73152" marR="73152" marT="27432" marB="27432">
                    <a:solidFill>
                      <a:srgbClr val="1F4D3F"/>
                    </a:solidFill>
                  </a:tcPr>
                </a:tc>
                <a:tc>
                  <a:txBody>
                    <a:bodyPr/>
                    <a:lstStyle/>
                    <a:p>
                      <a:pPr algn="ctr"/>
                      <a:r>
                        <a:rPr b="1" sz="1800">
                          <a:solidFill>
                            <a:srgbClr val="FFFFFF"/>
                          </a:solidFill>
                          <a:latin typeface="Avenir Next"/>
                        </a:rPr>
                        <a:t>p</a:t>
                      </a:r>
                      <a:r>
                        <a:rPr b="1" baseline="-25000" sz="1800">
                          <a:solidFill>
                            <a:srgbClr val="FFFFFF"/>
                          </a:solidFill>
                          <a:latin typeface="Avenir Next"/>
                        </a:rPr>
                        <a:t>x</a:t>
                      </a:r>
                      <a:r>
                        <a:rPr b="1" sz="1800">
                          <a:solidFill>
                            <a:srgbClr val="FFFFFF"/>
                          </a:solidFill>
                          <a:latin typeface="Avenir Next"/>
                        </a:rPr>
                        <a:t> = l</a:t>
                      </a:r>
                      <a:r>
                        <a:rPr b="1" baseline="-25000" sz="1800">
                          <a:solidFill>
                            <a:srgbClr val="FFFFFF"/>
                          </a:solidFill>
                          <a:latin typeface="Avenir Next"/>
                        </a:rPr>
                        <a:t>x+1</a:t>
                      </a:r>
                      <a:r>
                        <a:rPr b="1" sz="1800">
                          <a:solidFill>
                            <a:srgbClr val="FFFFFF"/>
                          </a:solidFill>
                          <a:latin typeface="Avenir Next"/>
                        </a:rPr>
                        <a:t>/l</a:t>
                      </a:r>
                      <a:r>
                        <a:rPr b="1" baseline="-25000" sz="1800">
                          <a:solidFill>
                            <a:srgbClr val="FFFFFF"/>
                          </a:solidFill>
                          <a:latin typeface="Avenir Next"/>
                        </a:rPr>
                        <a:t>x</a:t>
                      </a:r>
                    </a:p>
                  </a:txBody>
                  <a:tcPr anchor="ctr" marL="73152" marR="73152" marT="27432" marB="27432">
                    <a:solidFill>
                      <a:srgbClr val="1F4D3F"/>
                    </a:solidFill>
                  </a:tcPr>
                </a:tc>
              </a:tr>
              <a:tr h="530352">
                <a:tc>
                  <a:txBody>
                    <a:bodyPr/>
                    <a:lstStyle/>
                    <a:p>
                      <a:pPr algn="l"/>
                      <a:r>
                        <a:rPr b="1" sz="1800">
                          <a:solidFill>
                            <a:srgbClr val="1F2623"/>
                          </a:solidFill>
                          <a:latin typeface="Avenir Next"/>
                        </a:rPr>
                        <a:t>0</a:t>
                      </a:r>
                    </a:p>
                  </a:txBody>
                  <a:tcPr anchor="ctr" marL="73152" marR="73152" marT="27432" marB="27432">
                    <a:solidFill>
                      <a:srgbClr val="EFEEE6"/>
                    </a:solidFill>
                  </a:tcPr>
                </a:tc>
                <a:tc>
                  <a:txBody>
                    <a:bodyPr/>
                    <a:lstStyle/>
                    <a:p>
                      <a:pPr algn="ctr"/>
                      <a:r>
                        <a:rPr b="0" sz="1800">
                          <a:solidFill>
                            <a:srgbClr val="1F2623"/>
                          </a:solidFill>
                          <a:latin typeface="Avenir Next"/>
                        </a:rPr>
                        <a:t>500</a:t>
                      </a:r>
                    </a:p>
                  </a:txBody>
                  <a:tcPr anchor="ctr" marL="73152" marR="73152" marT="27432" marB="27432">
                    <a:solidFill>
                      <a:srgbClr val="EFEEE6"/>
                    </a:solidFill>
                  </a:tcPr>
                </a:tc>
                <a:tc>
                  <a:txBody>
                    <a:bodyPr/>
                    <a:lstStyle/>
                    <a:p>
                      <a:pPr algn="ctr"/>
                      <a:r>
                        <a:rPr b="0" sz="1800">
                          <a:solidFill>
                            <a:srgbClr val="1F2623"/>
                          </a:solidFill>
                          <a:latin typeface="Avenir Next"/>
                        </a:rPr>
                        <a:t>1.0</a:t>
                      </a:r>
                    </a:p>
                  </a:txBody>
                  <a:tcPr anchor="ctr" marL="73152" marR="73152" marT="27432" marB="27432">
                    <a:solidFill>
                      <a:srgbClr val="EFEEE6"/>
                    </a:solidFill>
                  </a:tcPr>
                </a:tc>
                <a:tc>
                  <a:txBody>
                    <a:bodyPr/>
                    <a:lstStyle/>
                    <a:p>
                      <a:pPr algn="ctr"/>
                      <a:r>
                        <a:rPr b="0" sz="1800">
                          <a:solidFill>
                            <a:srgbClr val="1F2623"/>
                          </a:solidFill>
                          <a:latin typeface="Avenir Next"/>
                        </a:rPr>
                        <a:t>0</a:t>
                      </a:r>
                    </a:p>
                  </a:txBody>
                  <a:tcPr anchor="ctr" marL="73152" marR="73152" marT="27432" marB="27432">
                    <a:solidFill>
                      <a:srgbClr val="EFEEE6"/>
                    </a:solidFill>
                  </a:tcPr>
                </a:tc>
                <a:tc>
                  <a:txBody>
                    <a:bodyPr/>
                    <a:lstStyle/>
                    <a:p>
                      <a:pPr algn="ctr"/>
                      <a:r>
                        <a:rPr b="0" sz="1800">
                          <a:solidFill>
                            <a:srgbClr val="1F2623"/>
                          </a:solidFill>
                          <a:latin typeface="Avenir Next"/>
                        </a:rPr>
                        <a:t>0.80</a:t>
                      </a:r>
                    </a:p>
                  </a:txBody>
                  <a:tcPr anchor="ctr" marL="73152" marR="73152" marT="27432" marB="27432">
                    <a:solidFill>
                      <a:srgbClr val="EFEEE6"/>
                    </a:solidFill>
                  </a:tcPr>
                </a:tc>
              </a:tr>
              <a:tr h="530352">
                <a:tc>
                  <a:txBody>
                    <a:bodyPr/>
                    <a:lstStyle/>
                    <a:p>
                      <a:pPr algn="l"/>
                      <a:r>
                        <a:rPr b="1" sz="1800">
                          <a:solidFill>
                            <a:srgbClr val="1F2623"/>
                          </a:solidFill>
                          <a:latin typeface="Avenir Next"/>
                        </a:rPr>
                        <a:t>1</a:t>
                      </a:r>
                    </a:p>
                  </a:txBody>
                  <a:tcPr anchor="ctr" marL="73152" marR="73152" marT="27432" marB="27432">
                    <a:solidFill>
                      <a:srgbClr val="FBFAF6"/>
                    </a:solidFill>
                  </a:tcPr>
                </a:tc>
                <a:tc>
                  <a:txBody>
                    <a:bodyPr/>
                    <a:lstStyle/>
                    <a:p>
                      <a:pPr algn="ctr"/>
                      <a:r>
                        <a:rPr b="0" sz="1800">
                          <a:solidFill>
                            <a:srgbClr val="1F2623"/>
                          </a:solidFill>
                          <a:latin typeface="Avenir Next"/>
                        </a:rPr>
                        <a:t>400</a:t>
                      </a:r>
                    </a:p>
                  </a:txBody>
                  <a:tcPr anchor="ctr" marL="73152" marR="73152" marT="27432" marB="27432">
                    <a:solidFill>
                      <a:srgbClr val="FBFAF6"/>
                    </a:solidFill>
                  </a:tcPr>
                </a:tc>
                <a:tc>
                  <a:txBody>
                    <a:bodyPr/>
                    <a:lstStyle/>
                    <a:p>
                      <a:pPr algn="ctr"/>
                      <a:r>
                        <a:rPr b="0" sz="1800">
                          <a:solidFill>
                            <a:srgbClr val="1F2623"/>
                          </a:solidFill>
                          <a:latin typeface="Avenir Next"/>
                        </a:rPr>
                        <a:t>0.8</a:t>
                      </a:r>
                    </a:p>
                  </a:txBody>
                  <a:tcPr anchor="ctr" marL="73152" marR="73152" marT="27432" marB="27432">
                    <a:solidFill>
                      <a:srgbClr val="FBFAF6"/>
                    </a:solidFill>
                  </a:tcPr>
                </a:tc>
                <a:tc>
                  <a:txBody>
                    <a:bodyPr/>
                    <a:lstStyle/>
                    <a:p>
                      <a:pPr algn="ctr"/>
                      <a:r>
                        <a:rPr b="0" sz="1800">
                          <a:solidFill>
                            <a:srgbClr val="1F2623"/>
                          </a:solidFill>
                          <a:latin typeface="Avenir Next"/>
                        </a:rPr>
                        <a:t>2</a:t>
                      </a:r>
                    </a:p>
                  </a:txBody>
                  <a:tcPr anchor="ctr" marL="73152" marR="73152" marT="27432" marB="27432">
                    <a:solidFill>
                      <a:srgbClr val="FBFAF6"/>
                    </a:solidFill>
                  </a:tcPr>
                </a:tc>
                <a:tc>
                  <a:txBody>
                    <a:bodyPr/>
                    <a:lstStyle/>
                    <a:p>
                      <a:pPr algn="ctr"/>
                      <a:r>
                        <a:rPr b="0" sz="1800">
                          <a:solidFill>
                            <a:srgbClr val="1F2623"/>
                          </a:solidFill>
                          <a:latin typeface="Avenir Next"/>
                        </a:rPr>
                        <a:t>0.50</a:t>
                      </a:r>
                    </a:p>
                  </a:txBody>
                  <a:tcPr anchor="ctr" marL="73152" marR="73152" marT="27432" marB="27432">
                    <a:solidFill>
                      <a:srgbClr val="FBFAF6"/>
                    </a:solidFill>
                  </a:tcPr>
                </a:tc>
              </a:tr>
              <a:tr h="530352">
                <a:tc>
                  <a:txBody>
                    <a:bodyPr/>
                    <a:lstStyle/>
                    <a:p>
                      <a:pPr algn="l"/>
                      <a:r>
                        <a:rPr b="1" sz="1800">
                          <a:solidFill>
                            <a:srgbClr val="1F2623"/>
                          </a:solidFill>
                          <a:latin typeface="Avenir Next"/>
                        </a:rPr>
                        <a:t>2</a:t>
                      </a:r>
                    </a:p>
                  </a:txBody>
                  <a:tcPr anchor="ctr" marL="73152" marR="73152" marT="27432" marB="27432">
                    <a:solidFill>
                      <a:srgbClr val="EFEEE6"/>
                    </a:solidFill>
                  </a:tcPr>
                </a:tc>
                <a:tc>
                  <a:txBody>
                    <a:bodyPr/>
                    <a:lstStyle/>
                    <a:p>
                      <a:pPr algn="ctr"/>
                      <a:r>
                        <a:rPr b="0" sz="1800">
                          <a:solidFill>
                            <a:srgbClr val="1F2623"/>
                          </a:solidFill>
                          <a:latin typeface="Avenir Next"/>
                        </a:rPr>
                        <a:t>200</a:t>
                      </a:r>
                    </a:p>
                  </a:txBody>
                  <a:tcPr anchor="ctr" marL="73152" marR="73152" marT="27432" marB="27432">
                    <a:solidFill>
                      <a:srgbClr val="EFEEE6"/>
                    </a:solidFill>
                  </a:tcPr>
                </a:tc>
                <a:tc>
                  <a:txBody>
                    <a:bodyPr/>
                    <a:lstStyle/>
                    <a:p>
                      <a:pPr algn="ctr"/>
                      <a:r>
                        <a:rPr b="0" sz="1800">
                          <a:solidFill>
                            <a:srgbClr val="1F2623"/>
                          </a:solidFill>
                          <a:latin typeface="Avenir Next"/>
                        </a:rPr>
                        <a:t>0.4</a:t>
                      </a:r>
                    </a:p>
                  </a:txBody>
                  <a:tcPr anchor="ctr" marL="73152" marR="73152" marT="27432" marB="27432">
                    <a:solidFill>
                      <a:srgbClr val="EFEEE6"/>
                    </a:solidFill>
                  </a:tcPr>
                </a:tc>
                <a:tc>
                  <a:txBody>
                    <a:bodyPr/>
                    <a:lstStyle/>
                    <a:p>
                      <a:pPr algn="ctr"/>
                      <a:r>
                        <a:rPr b="0" sz="1800">
                          <a:solidFill>
                            <a:srgbClr val="1F2623"/>
                          </a:solidFill>
                          <a:latin typeface="Avenir Next"/>
                        </a:rPr>
                        <a:t>3</a:t>
                      </a:r>
                    </a:p>
                  </a:txBody>
                  <a:tcPr anchor="ctr" marL="73152" marR="73152" marT="27432" marB="27432">
                    <a:solidFill>
                      <a:srgbClr val="EFEEE6"/>
                    </a:solidFill>
                  </a:tcPr>
                </a:tc>
                <a:tc>
                  <a:txBody>
                    <a:bodyPr/>
                    <a:lstStyle/>
                    <a:p>
                      <a:pPr algn="ctr"/>
                      <a:r>
                        <a:rPr b="0" sz="1800">
                          <a:solidFill>
                            <a:srgbClr val="1F2623"/>
                          </a:solidFill>
                          <a:latin typeface="Avenir Next"/>
                        </a:rPr>
                        <a:t>0.25</a:t>
                      </a:r>
                    </a:p>
                  </a:txBody>
                  <a:tcPr anchor="ctr" marL="73152" marR="73152" marT="27432" marB="27432">
                    <a:solidFill>
                      <a:srgbClr val="EFEEE6"/>
                    </a:solidFill>
                  </a:tcPr>
                </a:tc>
              </a:tr>
              <a:tr h="530352">
                <a:tc>
                  <a:txBody>
                    <a:bodyPr/>
                    <a:lstStyle/>
                    <a:p>
                      <a:pPr algn="l"/>
                      <a:r>
                        <a:rPr b="1" sz="1800">
                          <a:solidFill>
                            <a:srgbClr val="1F2623"/>
                          </a:solidFill>
                          <a:latin typeface="Avenir Next"/>
                        </a:rPr>
                        <a:t>3</a:t>
                      </a:r>
                    </a:p>
                  </a:txBody>
                  <a:tcPr anchor="ctr" marL="73152" marR="73152" marT="27432" marB="27432">
                    <a:solidFill>
                      <a:srgbClr val="FBFAF6"/>
                    </a:solidFill>
                  </a:tcPr>
                </a:tc>
                <a:tc>
                  <a:txBody>
                    <a:bodyPr/>
                    <a:lstStyle/>
                    <a:p>
                      <a:pPr algn="ctr"/>
                      <a:r>
                        <a:rPr b="0" sz="1800">
                          <a:solidFill>
                            <a:srgbClr val="1F2623"/>
                          </a:solidFill>
                          <a:latin typeface="Avenir Next"/>
                        </a:rPr>
                        <a:t>50</a:t>
                      </a:r>
                    </a:p>
                  </a:txBody>
                  <a:tcPr anchor="ctr" marL="73152" marR="73152" marT="27432" marB="27432">
                    <a:solidFill>
                      <a:srgbClr val="FBFAF6"/>
                    </a:solidFill>
                  </a:tcPr>
                </a:tc>
                <a:tc>
                  <a:txBody>
                    <a:bodyPr/>
                    <a:lstStyle/>
                    <a:p>
                      <a:pPr algn="ctr"/>
                      <a:r>
                        <a:rPr b="0" sz="1800">
                          <a:solidFill>
                            <a:srgbClr val="1F2623"/>
                          </a:solidFill>
                          <a:latin typeface="Avenir Next"/>
                        </a:rPr>
                        <a:t>0.1</a:t>
                      </a:r>
                    </a:p>
                  </a:txBody>
                  <a:tcPr anchor="ctr" marL="73152" marR="73152" marT="27432" marB="27432">
                    <a:solidFill>
                      <a:srgbClr val="FBFAF6"/>
                    </a:solidFill>
                  </a:tcPr>
                </a:tc>
                <a:tc>
                  <a:txBody>
                    <a:bodyPr/>
                    <a:lstStyle/>
                    <a:p>
                      <a:pPr algn="ctr"/>
                      <a:r>
                        <a:rPr b="0" sz="1800">
                          <a:solidFill>
                            <a:srgbClr val="1F2623"/>
                          </a:solidFill>
                          <a:latin typeface="Avenir Next"/>
                        </a:rPr>
                        <a:t>1</a:t>
                      </a:r>
                    </a:p>
                  </a:txBody>
                  <a:tcPr anchor="ctr" marL="73152" marR="73152" marT="27432" marB="27432">
                    <a:solidFill>
                      <a:srgbClr val="FBFAF6"/>
                    </a:solidFill>
                  </a:tcPr>
                </a:tc>
                <a:tc>
                  <a:txBody>
                    <a:bodyPr/>
                    <a:lstStyle/>
                    <a:p>
                      <a:pPr algn="ctr"/>
                      <a:r>
                        <a:rPr b="0" sz="1800">
                          <a:solidFill>
                            <a:srgbClr val="1F2623"/>
                          </a:solidFill>
                          <a:latin typeface="Avenir Next"/>
                        </a:rPr>
                        <a:t>0.00</a:t>
                      </a:r>
                    </a:p>
                  </a:txBody>
                  <a:tcPr anchor="ctr" marL="73152" marR="73152" marT="27432" marB="27432">
                    <a:solidFill>
                      <a:srgbClr val="FBFAF6"/>
                    </a:solidFill>
                  </a:tcPr>
                </a:tc>
              </a:tr>
              <a:tr h="530352">
                <a:tc>
                  <a:txBody>
                    <a:bodyPr/>
                    <a:lstStyle/>
                    <a:p>
                      <a:pPr algn="l"/>
                      <a:r>
                        <a:rPr b="1" sz="1800">
                          <a:solidFill>
                            <a:srgbClr val="1F2623"/>
                          </a:solidFill>
                          <a:latin typeface="Avenir Next"/>
                        </a:rPr>
                        <a:t>4</a:t>
                      </a:r>
                    </a:p>
                  </a:txBody>
                  <a:tcPr anchor="ctr" marL="73152" marR="73152" marT="27432" marB="27432">
                    <a:solidFill>
                      <a:srgbClr val="EFEEE6"/>
                    </a:solidFill>
                  </a:tcPr>
                </a:tc>
                <a:tc>
                  <a:txBody>
                    <a:bodyPr/>
                    <a:lstStyle/>
                    <a:p>
                      <a:pPr algn="ctr"/>
                      <a:r>
                        <a:rPr b="0" sz="1800">
                          <a:solidFill>
                            <a:srgbClr val="1F2623"/>
                          </a:solidFill>
                          <a:latin typeface="Avenir Next"/>
                        </a:rPr>
                        <a:t>0</a:t>
                      </a:r>
                    </a:p>
                  </a:txBody>
                  <a:tcPr anchor="ctr" marL="73152" marR="73152" marT="27432" marB="27432">
                    <a:solidFill>
                      <a:srgbClr val="EFEEE6"/>
                    </a:solidFill>
                  </a:tcPr>
                </a:tc>
                <a:tc>
                  <a:txBody>
                    <a:bodyPr/>
                    <a:lstStyle/>
                    <a:p>
                      <a:pPr algn="ctr"/>
                      <a:r>
                        <a:rPr b="0" sz="1800">
                          <a:solidFill>
                            <a:srgbClr val="1F2623"/>
                          </a:solidFill>
                          <a:latin typeface="Avenir Next"/>
                        </a:rPr>
                        <a:t>0.0</a:t>
                      </a:r>
                    </a:p>
                  </a:txBody>
                  <a:tcPr anchor="ctr" marL="73152" marR="73152" marT="27432" marB="27432">
                    <a:solidFill>
                      <a:srgbClr val="EFEEE6"/>
                    </a:solidFill>
                  </a:tcPr>
                </a:tc>
                <a:tc>
                  <a:txBody>
                    <a:bodyPr/>
                    <a:lstStyle/>
                    <a:p>
                      <a:pPr algn="ctr"/>
                      <a:r>
                        <a:rPr b="0" sz="1800">
                          <a:solidFill>
                            <a:srgbClr val="1F2623"/>
                          </a:solidFill>
                          <a:latin typeface="Avenir Next"/>
                        </a:rPr>
                        <a:t>0</a:t>
                      </a:r>
                    </a:p>
                  </a:txBody>
                  <a:tcPr anchor="ctr" marL="73152" marR="73152" marT="27432" marB="27432">
                    <a:solidFill>
                      <a:srgbClr val="EFEEE6"/>
                    </a:solidFill>
                  </a:tcPr>
                </a:tc>
                <a:tc>
                  <a:txBody>
                    <a:bodyPr/>
                    <a:lstStyle/>
                    <a:p>
                      <a:pPr algn="ctr"/>
                      <a:r>
                        <a:rPr b="0" sz="1800">
                          <a:solidFill>
                            <a:srgbClr val="1F2623"/>
                          </a:solidFill>
                          <a:latin typeface="Avenir Next"/>
                        </a:rPr>
                        <a:t>–</a:t>
                      </a:r>
                    </a:p>
                  </a:txBody>
                  <a:tcPr anchor="ctr" marL="73152" marR="73152" marT="27432" marB="27432">
                    <a:solidFill>
                      <a:srgbClr val="EFEEE6"/>
                    </a:solidFill>
                  </a:tcPr>
                </a:tc>
              </a:tr>
            </a:tbl>
          </a:graphicData>
        </a:graphic>
      </p:graphicFrame>
      <p:sp>
        <p:nvSpPr>
          <p:cNvPr id="27" name="TextBox 26"/>
          <p:cNvSpPr txBox="1"/>
          <p:nvPr/>
        </p:nvSpPr>
        <p:spPr>
          <a:xfrm>
            <a:off x="7498079" y="2286000"/>
            <a:ext cx="3931920" cy="3200400"/>
          </a:xfrm>
          <a:prstGeom prst="rect">
            <a:avLst/>
          </a:prstGeom>
          <a:noFill/>
        </p:spPr>
        <p:txBody>
          <a:bodyPr wrap="square">
            <a:spAutoFit/>
          </a:bodyPr>
          <a:lstStyle/>
          <a:p>
            <a:pPr algn="l"/>
            <a:r>
              <a:rPr b="1" sz="1900">
                <a:solidFill>
                  <a:srgbClr val="1F2623"/>
                </a:solidFill>
                <a:latin typeface="Avenir Next"/>
              </a:rPr>
              <a:t>m</a:t>
            </a:r>
            <a:r>
              <a:rPr baseline="-25000" sz="1900">
                <a:solidFill>
                  <a:srgbClr val="1F2623"/>
                </a:solidFill>
                <a:latin typeface="Avenir Next"/>
              </a:rPr>
              <a:t>x</a:t>
            </a:r>
            <a:r>
              <a:rPr sz="1900">
                <a:solidFill>
                  <a:srgbClr val="1F2623"/>
                </a:solidFill>
                <a:latin typeface="Avenir Next"/>
              </a:rPr>
              <a:t>: female offspring per female aged </a:t>
            </a:r>
            <a:r>
              <a:rPr i="1" sz="1900">
                <a:solidFill>
                  <a:srgbClr val="1F2623"/>
                </a:solidFill>
                <a:latin typeface="Avenir Next"/>
              </a:rPr>
              <a:t>x</a:t>
            </a:r>
          </a:p>
          <a:p>
            <a:pPr algn="l"/>
          </a:p>
          <a:p>
            <a:pPr algn="l"/>
            <a:r>
              <a:rPr b="1" sz="1900">
                <a:solidFill>
                  <a:srgbClr val="1F2623"/>
                </a:solidFill>
                <a:latin typeface="Avenir Next"/>
              </a:rPr>
              <a:t>p</a:t>
            </a:r>
            <a:r>
              <a:rPr baseline="-25000" sz="1900">
                <a:solidFill>
                  <a:srgbClr val="1F2623"/>
                </a:solidFill>
                <a:latin typeface="Avenir Next"/>
              </a:rPr>
              <a:t>x</a:t>
            </a:r>
            <a:r>
              <a:rPr sz="1900">
                <a:solidFill>
                  <a:srgbClr val="1F2623"/>
                </a:solidFill>
                <a:latin typeface="Avenir Next"/>
              </a:rPr>
              <a:t>: chance of surviving from age </a:t>
            </a:r>
            <a:r>
              <a:rPr i="1" sz="1900">
                <a:solidFill>
                  <a:srgbClr val="1F2623"/>
                </a:solidFill>
                <a:latin typeface="Avenir Next"/>
              </a:rPr>
              <a:t>x</a:t>
            </a:r>
            <a:r>
              <a:rPr sz="1900">
                <a:solidFill>
                  <a:srgbClr val="1F2623"/>
                </a:solidFill>
                <a:latin typeface="Avenir Next"/>
              </a:rPr>
              <a:t> to </a:t>
            </a:r>
            <a:r>
              <a:rPr i="1" sz="1900">
                <a:solidFill>
                  <a:srgbClr val="1F2623"/>
                </a:solidFill>
                <a:latin typeface="Avenir Next"/>
              </a:rPr>
              <a:t>x</a:t>
            </a:r>
            <a:r>
              <a:rPr sz="1900">
                <a:solidFill>
                  <a:srgbClr val="1F2623"/>
                </a:solidFill>
                <a:latin typeface="Avenir Next"/>
              </a:rPr>
              <a:t> + 1</a:t>
            </a:r>
          </a:p>
          <a:p>
            <a:pPr algn="l"/>
          </a:p>
          <a:p>
            <a:pPr algn="l"/>
            <a:r>
              <a:rPr sz="1900">
                <a:solidFill>
                  <a:srgbClr val="1F2623"/>
                </a:solidFill>
                <a:latin typeface="Avenir Next"/>
              </a:rPr>
              <a:t>These two columns are all the matrix needs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Survival moves individuals one age class along</a:t>
            </a:r>
          </a:p>
        </p:txBody>
      </p:sp>
      <p:pic>
        <p:nvPicPr>
          <p:cNvPr id="3" name="Picture Placeholder 2" descr="01a_leslie_survival.png"/>
          <p:cNvPicPr>
            <a:picLocks noGrp="1" noChangeAspect="1"/>
          </p:cNvPicPr>
          <p:nvPr>
            <p:ph type="pic" idx="101"/>
          </p:nvPr>
        </p:nvPicPr>
        <p:blipFill>
          <a:blip r:embed="rId2"/>
          <a:srcRect t="13" b="13"/>
          <a:stretch>
            <a:fillRect/>
          </a:stretch>
        </p:blipFill>
        <p:spPr/>
      </p:pic>
      <p:sp>
        <p:nvSpPr>
          <p:cNvPr id="4" name="Text Placeholder 3"/>
          <p:cNvSpPr>
            <a:spLocks noGrp="1"/>
          </p:cNvSpPr>
          <p:nvPr>
            <p:ph type="body" idx="102"/>
          </p:nvPr>
        </p:nvSpPr>
        <p:spPr/>
        <p:txBody>
          <a:bodyPr/>
          <a:lstStyle/>
          <a:p>
            <a:pPr/>
            <a:r>
              <a:t>Post-breeding census: individuals are counted just after breeding, so newborns are age 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2"/>
          </p:nvPr>
        </p:nvSpPr>
        <p:spPr/>
        <p:txBody>
          <a:bodyPr/>
          <a:lstStyle/>
          <a:p>
            <a:pPr/>
            <a:r>
              <a:t>Fertility = survival × births</a:t>
            </a:r>
          </a:p>
        </p:txBody>
      </p:sp>
      <p:sp>
        <p:nvSpPr>
          <p:cNvPr id="3" name="Text Placeholder 2"/>
          <p:cNvSpPr>
            <a:spLocks noGrp="1"/>
          </p:cNvSpPr>
          <p:nvPr>
            <p:ph type="body" idx="103"/>
          </p:nvPr>
        </p:nvSpPr>
        <p:spPr/>
        <p:txBody>
          <a:bodyPr/>
          <a:lstStyle/>
          <a:p>
            <a:pPr/>
            <a:r>
              <a:t>An individual counted at age </a:t>
            </a:r>
            <a:r>
              <a:rPr i="1"/>
              <a:t>x</a:t>
            </a:r>
            <a:r>
              <a:t> adds offspring to the next census only if it survives the year, p</a:t>
            </a:r>
            <a:r>
              <a:rPr baseline="-25000"/>
              <a:t>x</a:t>
            </a:r>
            <a:r>
              <a:t>, and then breeds, m</a:t>
            </a:r>
            <a:r>
              <a:rPr baseline="-25000"/>
              <a:t>x+1</a:t>
            </a:r>
            <a:r>
              <a:t>.</a:t>
            </a:r>
          </a:p>
        </p:txBody>
      </p:sp>
      <p:sp>
        <p:nvSpPr>
          <p:cNvPr id="4" name="Text Placeholder 3"/>
          <p:cNvSpPr>
            <a:spLocks noGrp="1"/>
          </p:cNvSpPr>
          <p:nvPr>
            <p:ph type="body" idx="105"/>
          </p:nvPr>
        </p:nvSpPr>
        <p:spPr/>
        <p:txBody>
          <a:bodyPr/>
          <a:lstStyle/>
          <a:p>
            <a:pPr/>
            <a:r>
              <a:t>F</a:t>
            </a:r>
            <a:r>
              <a:rPr baseline="-25000"/>
              <a:t>x</a:t>
            </a:r>
            <a:r>
              <a:t> = p</a:t>
            </a:r>
            <a:r>
              <a:rPr baseline="-25000"/>
              <a:t>x</a:t>
            </a:r>
            <a:r>
              <a:t> × m</a:t>
            </a:r>
            <a:r>
              <a:rPr baseline="-25000"/>
              <a:t>x+1</a:t>
            </a:r>
            <a:r>
              <a:t>.  Age 0: 0.80 × 2 = 1.6.  Age 1: 0.50 × 3 = 1.5.  Age 2: 0.25 × 1 = 0.25.  Common mistake: putting m</a:t>
            </a:r>
            <a:r>
              <a:rPr baseline="-25000"/>
              <a:t>x</a:t>
            </a:r>
            <a:r>
              <a:t> straight into the matrix.</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Add reproduction: arrows back to age 0</a:t>
            </a:r>
          </a:p>
        </p:txBody>
      </p:sp>
      <p:pic>
        <p:nvPicPr>
          <p:cNvPr id="3" name="Picture Placeholder 2" descr="01b_leslie_full.png"/>
          <p:cNvPicPr>
            <a:picLocks noGrp="1" noChangeAspect="1"/>
          </p:cNvPicPr>
          <p:nvPr>
            <p:ph type="pic" idx="101"/>
          </p:nvPr>
        </p:nvPicPr>
        <p:blipFill>
          <a:blip r:embed="rId2"/>
          <a:srcRect t="13" b="13"/>
          <a:stretch>
            <a:fillRect/>
          </a:stretch>
        </p:blipFill>
        <p:spPr/>
      </p:pic>
      <p:sp>
        <p:nvSpPr>
          <p:cNvPr id="4" name="Text Placeholder 3"/>
          <p:cNvSpPr>
            <a:spLocks noGrp="1"/>
          </p:cNvSpPr>
          <p:nvPr>
            <p:ph type="body" idx="102"/>
          </p:nvPr>
        </p:nvSpPr>
        <p:spPr/>
        <p:txBody>
          <a:bodyPr/>
          <a:lstStyle/>
          <a:p>
            <a:pPr/>
            <a:r>
              <a:t>Clay: fertility, F</a:t>
            </a:r>
            <a:r>
              <a:rPr baseline="-25000"/>
              <a:t>x</a:t>
            </a:r>
            <a:r>
              <a:t> = p</a:t>
            </a:r>
            <a:r>
              <a:rPr baseline="-25000"/>
              <a:t>x</a:t>
            </a:r>
            <a:r>
              <a:t> m</a:t>
            </a:r>
            <a:r>
              <a:rPr baseline="-25000"/>
              <a:t>x+1</a:t>
            </a:r>
            <a:r>
              <a:t>. Green: survival, p</a:t>
            </a:r>
            <a:r>
              <a:rPr baseline="-25000"/>
              <a:t>x</a:t>
            </a:r>
            <a:r>
              <a:t>. Age-3 individuals have bred and do not survive.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The Leslie matrix</a:t>
            </a:r>
          </a:p>
        </p:txBody>
      </p:sp>
      <p:sp>
        <p:nvSpPr>
          <p:cNvPr id="26" name="TextBox 25"/>
          <p:cNvSpPr txBox="1"/>
          <p:nvPr/>
        </p:nvSpPr>
        <p:spPr>
          <a:xfrm>
            <a:off x="960119" y="3749040"/>
            <a:ext cx="1005840" cy="548640"/>
          </a:xfrm>
          <a:prstGeom prst="rect">
            <a:avLst/>
          </a:prstGeom>
          <a:noFill/>
        </p:spPr>
        <p:txBody>
          <a:bodyPr wrap="square">
            <a:spAutoFit/>
          </a:bodyPr>
          <a:lstStyle/>
          <a:p>
            <a:pPr algn="r"/>
            <a:r>
              <a:rPr b="1" sz="3000">
                <a:solidFill>
                  <a:srgbClr val="1F2623"/>
                </a:solidFill>
                <a:latin typeface="Avenir Next"/>
              </a:rPr>
              <a:t>A</a:t>
            </a:r>
            <a:r>
              <a:rPr sz="3000">
                <a:solidFill>
                  <a:srgbClr val="1F2623"/>
                </a:solidFill>
                <a:latin typeface="Avenir Next"/>
              </a:rPr>
              <a:t> =</a:t>
            </a:r>
          </a:p>
        </p:txBody>
      </p:sp>
      <p:sp>
        <p:nvSpPr>
          <p:cNvPr id="27" name="TextBox 26"/>
          <p:cNvSpPr txBox="1"/>
          <p:nvPr/>
        </p:nvSpPr>
        <p:spPr>
          <a:xfrm>
            <a:off x="2103120" y="2651760"/>
            <a:ext cx="1143000" cy="685800"/>
          </a:xfrm>
          <a:prstGeom prst="rect">
            <a:avLst/>
          </a:prstGeom>
          <a:noFill/>
        </p:spPr>
        <p:txBody>
          <a:bodyPr wrap="none" anchor="ctr" lIns="0" rIns="0">
            <a:spAutoFit/>
          </a:bodyPr>
          <a:lstStyle/>
          <a:p>
            <a:pPr algn="ctr"/>
            <a:r>
              <a:rPr sz="2600">
                <a:solidFill>
                  <a:srgbClr val="A4503A"/>
                </a:solidFill>
                <a:latin typeface="Avenir Next"/>
              </a:rPr>
              <a:t>1.6</a:t>
            </a:r>
          </a:p>
        </p:txBody>
      </p:sp>
      <p:sp>
        <p:nvSpPr>
          <p:cNvPr id="28" name="TextBox 27"/>
          <p:cNvSpPr txBox="1"/>
          <p:nvPr/>
        </p:nvSpPr>
        <p:spPr>
          <a:xfrm>
            <a:off x="3246120" y="2651760"/>
            <a:ext cx="1143000" cy="685800"/>
          </a:xfrm>
          <a:prstGeom prst="rect">
            <a:avLst/>
          </a:prstGeom>
          <a:noFill/>
        </p:spPr>
        <p:txBody>
          <a:bodyPr wrap="none" anchor="ctr" lIns="0" rIns="0">
            <a:spAutoFit/>
          </a:bodyPr>
          <a:lstStyle/>
          <a:p>
            <a:pPr algn="ctr"/>
            <a:r>
              <a:rPr sz="2600">
                <a:solidFill>
                  <a:srgbClr val="A4503A"/>
                </a:solidFill>
                <a:latin typeface="Avenir Next"/>
              </a:rPr>
              <a:t>1.5</a:t>
            </a:r>
          </a:p>
        </p:txBody>
      </p:sp>
      <p:sp>
        <p:nvSpPr>
          <p:cNvPr id="29" name="TextBox 28"/>
          <p:cNvSpPr txBox="1"/>
          <p:nvPr/>
        </p:nvSpPr>
        <p:spPr>
          <a:xfrm>
            <a:off x="4389120" y="2651760"/>
            <a:ext cx="1143000" cy="685800"/>
          </a:xfrm>
          <a:prstGeom prst="rect">
            <a:avLst/>
          </a:prstGeom>
          <a:noFill/>
        </p:spPr>
        <p:txBody>
          <a:bodyPr wrap="none" anchor="ctr" lIns="0" rIns="0">
            <a:spAutoFit/>
          </a:bodyPr>
          <a:lstStyle/>
          <a:p>
            <a:pPr algn="ctr"/>
            <a:r>
              <a:rPr sz="2600">
                <a:solidFill>
                  <a:srgbClr val="A4503A"/>
                </a:solidFill>
                <a:latin typeface="Avenir Next"/>
              </a:rPr>
              <a:t>0.25</a:t>
            </a:r>
          </a:p>
        </p:txBody>
      </p:sp>
      <p:sp>
        <p:nvSpPr>
          <p:cNvPr id="30" name="TextBox 29"/>
          <p:cNvSpPr txBox="1"/>
          <p:nvPr/>
        </p:nvSpPr>
        <p:spPr>
          <a:xfrm>
            <a:off x="5532120" y="2651760"/>
            <a:ext cx="1143000" cy="685800"/>
          </a:xfrm>
          <a:prstGeom prst="rect">
            <a:avLst/>
          </a:prstGeom>
          <a:noFill/>
        </p:spPr>
        <p:txBody>
          <a:bodyPr wrap="none" anchor="ctr" lIns="0" rIns="0">
            <a:spAutoFit/>
          </a:bodyPr>
          <a:lstStyle/>
          <a:p>
            <a:pPr algn="ctr"/>
            <a:r>
              <a:rPr sz="2600">
                <a:solidFill>
                  <a:srgbClr val="9AAE9F"/>
                </a:solidFill>
                <a:latin typeface="Avenir Next"/>
              </a:rPr>
              <a:t>0</a:t>
            </a:r>
          </a:p>
        </p:txBody>
      </p:sp>
      <p:sp>
        <p:nvSpPr>
          <p:cNvPr id="31" name="TextBox 30"/>
          <p:cNvSpPr txBox="1"/>
          <p:nvPr/>
        </p:nvSpPr>
        <p:spPr>
          <a:xfrm>
            <a:off x="2103120" y="3337560"/>
            <a:ext cx="1143000" cy="685800"/>
          </a:xfrm>
          <a:prstGeom prst="rect">
            <a:avLst/>
          </a:prstGeom>
          <a:noFill/>
        </p:spPr>
        <p:txBody>
          <a:bodyPr wrap="none" anchor="ctr" lIns="0" rIns="0">
            <a:spAutoFit/>
          </a:bodyPr>
          <a:lstStyle/>
          <a:p>
            <a:pPr algn="ctr"/>
            <a:r>
              <a:rPr sz="2600">
                <a:solidFill>
                  <a:srgbClr val="1F4D3F"/>
                </a:solidFill>
                <a:latin typeface="Avenir Next"/>
              </a:rPr>
              <a:t>0.8</a:t>
            </a:r>
          </a:p>
        </p:txBody>
      </p:sp>
      <p:sp>
        <p:nvSpPr>
          <p:cNvPr id="32" name="TextBox 31"/>
          <p:cNvSpPr txBox="1"/>
          <p:nvPr/>
        </p:nvSpPr>
        <p:spPr>
          <a:xfrm>
            <a:off x="3246120" y="3337560"/>
            <a:ext cx="1143000" cy="685800"/>
          </a:xfrm>
          <a:prstGeom prst="rect">
            <a:avLst/>
          </a:prstGeom>
          <a:noFill/>
        </p:spPr>
        <p:txBody>
          <a:bodyPr wrap="none" anchor="ctr" lIns="0" rIns="0">
            <a:spAutoFit/>
          </a:bodyPr>
          <a:lstStyle/>
          <a:p>
            <a:pPr algn="ctr"/>
            <a:r>
              <a:rPr sz="2600">
                <a:solidFill>
                  <a:srgbClr val="9AAE9F"/>
                </a:solidFill>
                <a:latin typeface="Avenir Next"/>
              </a:rPr>
              <a:t>0</a:t>
            </a:r>
          </a:p>
        </p:txBody>
      </p:sp>
      <p:sp>
        <p:nvSpPr>
          <p:cNvPr id="33" name="TextBox 32"/>
          <p:cNvSpPr txBox="1"/>
          <p:nvPr/>
        </p:nvSpPr>
        <p:spPr>
          <a:xfrm>
            <a:off x="4389120" y="3337560"/>
            <a:ext cx="1143000" cy="685800"/>
          </a:xfrm>
          <a:prstGeom prst="rect">
            <a:avLst/>
          </a:prstGeom>
          <a:noFill/>
        </p:spPr>
        <p:txBody>
          <a:bodyPr wrap="none" anchor="ctr" lIns="0" rIns="0">
            <a:spAutoFit/>
          </a:bodyPr>
          <a:lstStyle/>
          <a:p>
            <a:pPr algn="ctr"/>
            <a:r>
              <a:rPr sz="2600">
                <a:solidFill>
                  <a:srgbClr val="9AAE9F"/>
                </a:solidFill>
                <a:latin typeface="Avenir Next"/>
              </a:rPr>
              <a:t>0</a:t>
            </a:r>
          </a:p>
        </p:txBody>
      </p:sp>
      <p:sp>
        <p:nvSpPr>
          <p:cNvPr id="34" name="TextBox 33"/>
          <p:cNvSpPr txBox="1"/>
          <p:nvPr/>
        </p:nvSpPr>
        <p:spPr>
          <a:xfrm>
            <a:off x="5532120" y="3337560"/>
            <a:ext cx="1143000" cy="685800"/>
          </a:xfrm>
          <a:prstGeom prst="rect">
            <a:avLst/>
          </a:prstGeom>
          <a:noFill/>
        </p:spPr>
        <p:txBody>
          <a:bodyPr wrap="none" anchor="ctr" lIns="0" rIns="0">
            <a:spAutoFit/>
          </a:bodyPr>
          <a:lstStyle/>
          <a:p>
            <a:pPr algn="ctr"/>
            <a:r>
              <a:rPr sz="2600">
                <a:solidFill>
                  <a:srgbClr val="9AAE9F"/>
                </a:solidFill>
                <a:latin typeface="Avenir Next"/>
              </a:rPr>
              <a:t>0</a:t>
            </a:r>
          </a:p>
        </p:txBody>
      </p:sp>
      <p:sp>
        <p:nvSpPr>
          <p:cNvPr id="35" name="TextBox 34"/>
          <p:cNvSpPr txBox="1"/>
          <p:nvPr/>
        </p:nvSpPr>
        <p:spPr>
          <a:xfrm>
            <a:off x="2103120" y="4023360"/>
            <a:ext cx="1143000" cy="685800"/>
          </a:xfrm>
          <a:prstGeom prst="rect">
            <a:avLst/>
          </a:prstGeom>
          <a:noFill/>
        </p:spPr>
        <p:txBody>
          <a:bodyPr wrap="none" anchor="ctr" lIns="0" rIns="0">
            <a:spAutoFit/>
          </a:bodyPr>
          <a:lstStyle/>
          <a:p>
            <a:pPr algn="ctr"/>
            <a:r>
              <a:rPr sz="2600">
                <a:solidFill>
                  <a:srgbClr val="9AAE9F"/>
                </a:solidFill>
                <a:latin typeface="Avenir Next"/>
              </a:rPr>
              <a:t>0</a:t>
            </a:r>
          </a:p>
        </p:txBody>
      </p:sp>
      <p:sp>
        <p:nvSpPr>
          <p:cNvPr id="36" name="TextBox 35"/>
          <p:cNvSpPr txBox="1"/>
          <p:nvPr/>
        </p:nvSpPr>
        <p:spPr>
          <a:xfrm>
            <a:off x="3246120" y="4023360"/>
            <a:ext cx="1143000" cy="685800"/>
          </a:xfrm>
          <a:prstGeom prst="rect">
            <a:avLst/>
          </a:prstGeom>
          <a:noFill/>
        </p:spPr>
        <p:txBody>
          <a:bodyPr wrap="none" anchor="ctr" lIns="0" rIns="0">
            <a:spAutoFit/>
          </a:bodyPr>
          <a:lstStyle/>
          <a:p>
            <a:pPr algn="ctr"/>
            <a:r>
              <a:rPr sz="2600">
                <a:solidFill>
                  <a:srgbClr val="1F4D3F"/>
                </a:solidFill>
                <a:latin typeface="Avenir Next"/>
              </a:rPr>
              <a:t>0.5</a:t>
            </a:r>
          </a:p>
        </p:txBody>
      </p:sp>
      <p:sp>
        <p:nvSpPr>
          <p:cNvPr id="37" name="TextBox 36"/>
          <p:cNvSpPr txBox="1"/>
          <p:nvPr/>
        </p:nvSpPr>
        <p:spPr>
          <a:xfrm>
            <a:off x="4389120" y="4023360"/>
            <a:ext cx="1143000" cy="685800"/>
          </a:xfrm>
          <a:prstGeom prst="rect">
            <a:avLst/>
          </a:prstGeom>
          <a:noFill/>
        </p:spPr>
        <p:txBody>
          <a:bodyPr wrap="none" anchor="ctr" lIns="0" rIns="0">
            <a:spAutoFit/>
          </a:bodyPr>
          <a:lstStyle/>
          <a:p>
            <a:pPr algn="ctr"/>
            <a:r>
              <a:rPr sz="2600">
                <a:solidFill>
                  <a:srgbClr val="9AAE9F"/>
                </a:solidFill>
                <a:latin typeface="Avenir Next"/>
              </a:rPr>
              <a:t>0</a:t>
            </a:r>
          </a:p>
        </p:txBody>
      </p:sp>
      <p:sp>
        <p:nvSpPr>
          <p:cNvPr id="38" name="TextBox 37"/>
          <p:cNvSpPr txBox="1"/>
          <p:nvPr/>
        </p:nvSpPr>
        <p:spPr>
          <a:xfrm>
            <a:off x="5532120" y="4023360"/>
            <a:ext cx="1143000" cy="685800"/>
          </a:xfrm>
          <a:prstGeom prst="rect">
            <a:avLst/>
          </a:prstGeom>
          <a:noFill/>
        </p:spPr>
        <p:txBody>
          <a:bodyPr wrap="none" anchor="ctr" lIns="0" rIns="0">
            <a:spAutoFit/>
          </a:bodyPr>
          <a:lstStyle/>
          <a:p>
            <a:pPr algn="ctr"/>
            <a:r>
              <a:rPr sz="2600">
                <a:solidFill>
                  <a:srgbClr val="9AAE9F"/>
                </a:solidFill>
                <a:latin typeface="Avenir Next"/>
              </a:rPr>
              <a:t>0</a:t>
            </a:r>
          </a:p>
        </p:txBody>
      </p:sp>
      <p:sp>
        <p:nvSpPr>
          <p:cNvPr id="39" name="TextBox 38"/>
          <p:cNvSpPr txBox="1"/>
          <p:nvPr/>
        </p:nvSpPr>
        <p:spPr>
          <a:xfrm>
            <a:off x="2103120" y="4709160"/>
            <a:ext cx="1143000" cy="685800"/>
          </a:xfrm>
          <a:prstGeom prst="rect">
            <a:avLst/>
          </a:prstGeom>
          <a:noFill/>
        </p:spPr>
        <p:txBody>
          <a:bodyPr wrap="none" anchor="ctr" lIns="0" rIns="0">
            <a:spAutoFit/>
          </a:bodyPr>
          <a:lstStyle/>
          <a:p>
            <a:pPr algn="ctr"/>
            <a:r>
              <a:rPr sz="2600">
                <a:solidFill>
                  <a:srgbClr val="9AAE9F"/>
                </a:solidFill>
                <a:latin typeface="Avenir Next"/>
              </a:rPr>
              <a:t>0</a:t>
            </a:r>
          </a:p>
        </p:txBody>
      </p:sp>
      <p:sp>
        <p:nvSpPr>
          <p:cNvPr id="40" name="TextBox 39"/>
          <p:cNvSpPr txBox="1"/>
          <p:nvPr/>
        </p:nvSpPr>
        <p:spPr>
          <a:xfrm>
            <a:off x="3246120" y="4709160"/>
            <a:ext cx="1143000" cy="685800"/>
          </a:xfrm>
          <a:prstGeom prst="rect">
            <a:avLst/>
          </a:prstGeom>
          <a:noFill/>
        </p:spPr>
        <p:txBody>
          <a:bodyPr wrap="none" anchor="ctr" lIns="0" rIns="0">
            <a:spAutoFit/>
          </a:bodyPr>
          <a:lstStyle/>
          <a:p>
            <a:pPr algn="ctr"/>
            <a:r>
              <a:rPr sz="2600">
                <a:solidFill>
                  <a:srgbClr val="9AAE9F"/>
                </a:solidFill>
                <a:latin typeface="Avenir Next"/>
              </a:rPr>
              <a:t>0</a:t>
            </a:r>
          </a:p>
        </p:txBody>
      </p:sp>
      <p:sp>
        <p:nvSpPr>
          <p:cNvPr id="41" name="TextBox 40"/>
          <p:cNvSpPr txBox="1"/>
          <p:nvPr/>
        </p:nvSpPr>
        <p:spPr>
          <a:xfrm>
            <a:off x="4389120" y="4709160"/>
            <a:ext cx="1143000" cy="685800"/>
          </a:xfrm>
          <a:prstGeom prst="rect">
            <a:avLst/>
          </a:prstGeom>
          <a:noFill/>
        </p:spPr>
        <p:txBody>
          <a:bodyPr wrap="none" anchor="ctr" lIns="0" rIns="0">
            <a:spAutoFit/>
          </a:bodyPr>
          <a:lstStyle/>
          <a:p>
            <a:pPr algn="ctr"/>
            <a:r>
              <a:rPr sz="2600">
                <a:solidFill>
                  <a:srgbClr val="1F4D3F"/>
                </a:solidFill>
                <a:latin typeface="Avenir Next"/>
              </a:rPr>
              <a:t>0.25</a:t>
            </a:r>
          </a:p>
        </p:txBody>
      </p:sp>
      <p:sp>
        <p:nvSpPr>
          <p:cNvPr id="42" name="TextBox 41"/>
          <p:cNvSpPr txBox="1"/>
          <p:nvPr/>
        </p:nvSpPr>
        <p:spPr>
          <a:xfrm>
            <a:off x="5532120" y="4709160"/>
            <a:ext cx="1143000" cy="685800"/>
          </a:xfrm>
          <a:prstGeom prst="rect">
            <a:avLst/>
          </a:prstGeom>
          <a:noFill/>
        </p:spPr>
        <p:txBody>
          <a:bodyPr wrap="none" anchor="ctr" lIns="0" rIns="0">
            <a:spAutoFit/>
          </a:bodyPr>
          <a:lstStyle/>
          <a:p>
            <a:pPr algn="ctr"/>
            <a:r>
              <a:rPr sz="2600">
                <a:solidFill>
                  <a:srgbClr val="9AAE9F"/>
                </a:solidFill>
                <a:latin typeface="Avenir Next"/>
              </a:rPr>
              <a:t>0</a:t>
            </a:r>
          </a:p>
        </p:txBody>
      </p:sp>
      <p:cxnSp>
        <p:nvCxnSpPr>
          <p:cNvPr id="43" name="Connector 42"/>
          <p:cNvCxnSpPr/>
          <p:nvPr/>
        </p:nvCxnSpPr>
        <p:spPr>
          <a:xfrm>
            <a:off x="2057400" y="2651760"/>
            <a:ext cx="0" cy="274320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2057400" y="2651760"/>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2057400" y="5394960"/>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6720840" y="2651760"/>
            <a:ext cx="0" cy="274320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6592824" y="2651760"/>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6592824" y="5394960"/>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2103120" y="2240279"/>
            <a:ext cx="1143000" cy="365760"/>
          </a:xfrm>
          <a:prstGeom prst="rect">
            <a:avLst/>
          </a:prstGeom>
          <a:noFill/>
        </p:spPr>
        <p:txBody>
          <a:bodyPr wrap="square">
            <a:spAutoFit/>
          </a:bodyPr>
          <a:lstStyle/>
          <a:p>
            <a:pPr algn="ctr"/>
            <a:r>
              <a:rPr sz="1400">
                <a:solidFill>
                  <a:srgbClr val="6E6F68"/>
                </a:solidFill>
                <a:latin typeface="Avenir Next"/>
              </a:rPr>
              <a:t>Age 0</a:t>
            </a:r>
          </a:p>
        </p:txBody>
      </p:sp>
      <p:sp>
        <p:nvSpPr>
          <p:cNvPr id="50" name="TextBox 49"/>
          <p:cNvSpPr txBox="1"/>
          <p:nvPr/>
        </p:nvSpPr>
        <p:spPr>
          <a:xfrm>
            <a:off x="3246120" y="2240279"/>
            <a:ext cx="1143000" cy="365760"/>
          </a:xfrm>
          <a:prstGeom prst="rect">
            <a:avLst/>
          </a:prstGeom>
          <a:noFill/>
        </p:spPr>
        <p:txBody>
          <a:bodyPr wrap="square">
            <a:spAutoFit/>
          </a:bodyPr>
          <a:lstStyle/>
          <a:p>
            <a:pPr algn="ctr"/>
            <a:r>
              <a:rPr sz="1400">
                <a:solidFill>
                  <a:srgbClr val="6E6F68"/>
                </a:solidFill>
                <a:latin typeface="Avenir Next"/>
              </a:rPr>
              <a:t>Age 1</a:t>
            </a:r>
          </a:p>
        </p:txBody>
      </p:sp>
      <p:sp>
        <p:nvSpPr>
          <p:cNvPr id="51" name="TextBox 50"/>
          <p:cNvSpPr txBox="1"/>
          <p:nvPr/>
        </p:nvSpPr>
        <p:spPr>
          <a:xfrm>
            <a:off x="4389120" y="2240279"/>
            <a:ext cx="1143000" cy="365760"/>
          </a:xfrm>
          <a:prstGeom prst="rect">
            <a:avLst/>
          </a:prstGeom>
          <a:noFill/>
        </p:spPr>
        <p:txBody>
          <a:bodyPr wrap="square">
            <a:spAutoFit/>
          </a:bodyPr>
          <a:lstStyle/>
          <a:p>
            <a:pPr algn="ctr"/>
            <a:r>
              <a:rPr sz="1400">
                <a:solidFill>
                  <a:srgbClr val="6E6F68"/>
                </a:solidFill>
                <a:latin typeface="Avenir Next"/>
              </a:rPr>
              <a:t>Age 2</a:t>
            </a:r>
          </a:p>
        </p:txBody>
      </p:sp>
      <p:sp>
        <p:nvSpPr>
          <p:cNvPr id="52" name="TextBox 51"/>
          <p:cNvSpPr txBox="1"/>
          <p:nvPr/>
        </p:nvSpPr>
        <p:spPr>
          <a:xfrm>
            <a:off x="5532120" y="2240279"/>
            <a:ext cx="1143000" cy="365760"/>
          </a:xfrm>
          <a:prstGeom prst="rect">
            <a:avLst/>
          </a:prstGeom>
          <a:noFill/>
        </p:spPr>
        <p:txBody>
          <a:bodyPr wrap="square">
            <a:spAutoFit/>
          </a:bodyPr>
          <a:lstStyle/>
          <a:p>
            <a:pPr algn="ctr"/>
            <a:r>
              <a:rPr sz="1400">
                <a:solidFill>
                  <a:srgbClr val="6E6F68"/>
                </a:solidFill>
                <a:latin typeface="Avenir Next"/>
              </a:rPr>
              <a:t>Age 3</a:t>
            </a:r>
          </a:p>
        </p:txBody>
      </p:sp>
      <p:sp>
        <p:nvSpPr>
          <p:cNvPr id="53" name="TextBox 52"/>
          <p:cNvSpPr txBox="1"/>
          <p:nvPr/>
        </p:nvSpPr>
        <p:spPr>
          <a:xfrm>
            <a:off x="6812280" y="2651760"/>
            <a:ext cx="1463040" cy="685800"/>
          </a:xfrm>
          <a:prstGeom prst="rect">
            <a:avLst/>
          </a:prstGeom>
          <a:noFill/>
        </p:spPr>
        <p:txBody>
          <a:bodyPr wrap="square" anchor="ctr">
            <a:spAutoFit/>
          </a:bodyPr>
          <a:lstStyle/>
          <a:p>
            <a:pPr algn="l"/>
            <a:r>
              <a:rPr sz="1400">
                <a:solidFill>
                  <a:srgbClr val="6E6F68"/>
                </a:solidFill>
                <a:latin typeface="Avenir Next"/>
              </a:rPr>
              <a:t>Age 0</a:t>
            </a:r>
          </a:p>
        </p:txBody>
      </p:sp>
      <p:sp>
        <p:nvSpPr>
          <p:cNvPr id="54" name="TextBox 53"/>
          <p:cNvSpPr txBox="1"/>
          <p:nvPr/>
        </p:nvSpPr>
        <p:spPr>
          <a:xfrm>
            <a:off x="6812280" y="3337560"/>
            <a:ext cx="1463040" cy="685800"/>
          </a:xfrm>
          <a:prstGeom prst="rect">
            <a:avLst/>
          </a:prstGeom>
          <a:noFill/>
        </p:spPr>
        <p:txBody>
          <a:bodyPr wrap="square" anchor="ctr">
            <a:spAutoFit/>
          </a:bodyPr>
          <a:lstStyle/>
          <a:p>
            <a:pPr algn="l"/>
            <a:r>
              <a:rPr sz="1400">
                <a:solidFill>
                  <a:srgbClr val="6E6F68"/>
                </a:solidFill>
                <a:latin typeface="Avenir Next"/>
              </a:rPr>
              <a:t>Age 1</a:t>
            </a:r>
          </a:p>
        </p:txBody>
      </p:sp>
      <p:sp>
        <p:nvSpPr>
          <p:cNvPr id="55" name="TextBox 54"/>
          <p:cNvSpPr txBox="1"/>
          <p:nvPr/>
        </p:nvSpPr>
        <p:spPr>
          <a:xfrm>
            <a:off x="6812280" y="4023360"/>
            <a:ext cx="1463040" cy="685800"/>
          </a:xfrm>
          <a:prstGeom prst="rect">
            <a:avLst/>
          </a:prstGeom>
          <a:noFill/>
        </p:spPr>
        <p:txBody>
          <a:bodyPr wrap="square" anchor="ctr">
            <a:spAutoFit/>
          </a:bodyPr>
          <a:lstStyle/>
          <a:p>
            <a:pPr algn="l"/>
            <a:r>
              <a:rPr sz="1400">
                <a:solidFill>
                  <a:srgbClr val="6E6F68"/>
                </a:solidFill>
                <a:latin typeface="Avenir Next"/>
              </a:rPr>
              <a:t>Age 2</a:t>
            </a:r>
          </a:p>
        </p:txBody>
      </p:sp>
      <p:sp>
        <p:nvSpPr>
          <p:cNvPr id="56" name="TextBox 55"/>
          <p:cNvSpPr txBox="1"/>
          <p:nvPr/>
        </p:nvSpPr>
        <p:spPr>
          <a:xfrm>
            <a:off x="6812280" y="4709160"/>
            <a:ext cx="1463040" cy="685800"/>
          </a:xfrm>
          <a:prstGeom prst="rect">
            <a:avLst/>
          </a:prstGeom>
          <a:noFill/>
        </p:spPr>
        <p:txBody>
          <a:bodyPr wrap="square" anchor="ctr">
            <a:spAutoFit/>
          </a:bodyPr>
          <a:lstStyle/>
          <a:p>
            <a:pPr algn="l"/>
            <a:r>
              <a:rPr sz="1400">
                <a:solidFill>
                  <a:srgbClr val="6E6F68"/>
                </a:solidFill>
                <a:latin typeface="Avenir Next"/>
              </a:rPr>
              <a:t>Age 3</a:t>
            </a:r>
          </a:p>
        </p:txBody>
      </p:sp>
      <p:sp>
        <p:nvSpPr>
          <p:cNvPr id="57" name="TextBox 56"/>
          <p:cNvSpPr txBox="1"/>
          <p:nvPr/>
        </p:nvSpPr>
        <p:spPr>
          <a:xfrm>
            <a:off x="2103120" y="1874519"/>
            <a:ext cx="4572000" cy="365760"/>
          </a:xfrm>
          <a:prstGeom prst="rect">
            <a:avLst/>
          </a:prstGeom>
          <a:noFill/>
        </p:spPr>
        <p:txBody>
          <a:bodyPr wrap="square">
            <a:spAutoFit/>
          </a:bodyPr>
          <a:lstStyle/>
          <a:p>
            <a:pPr algn="ctr"/>
            <a:r>
              <a:rPr sz="1400">
                <a:solidFill>
                  <a:srgbClr val="6E6F68"/>
                </a:solidFill>
                <a:latin typeface="Avenir Next"/>
              </a:rPr>
              <a:t>FROM (this year) →</a:t>
            </a:r>
          </a:p>
        </p:txBody>
      </p:sp>
      <p:sp>
        <p:nvSpPr>
          <p:cNvPr id="58" name="TextBox 57"/>
          <p:cNvSpPr txBox="1"/>
          <p:nvPr/>
        </p:nvSpPr>
        <p:spPr>
          <a:xfrm>
            <a:off x="7863840" y="2286000"/>
            <a:ext cx="3657600" cy="3474720"/>
          </a:xfrm>
          <a:prstGeom prst="rect">
            <a:avLst/>
          </a:prstGeom>
          <a:noFill/>
        </p:spPr>
        <p:txBody>
          <a:bodyPr wrap="square">
            <a:spAutoFit/>
          </a:bodyPr>
          <a:lstStyle/>
          <a:p>
            <a:pPr algn="l"/>
            <a:r>
              <a:rPr b="1" sz="1900">
                <a:solidFill>
                  <a:srgbClr val="1F2623"/>
                </a:solidFill>
                <a:latin typeface="Avenir Next"/>
              </a:rPr>
              <a:t>Columns:</a:t>
            </a:r>
            <a:r>
              <a:rPr sz="1900">
                <a:solidFill>
                  <a:srgbClr val="1F2623"/>
                </a:solidFill>
                <a:latin typeface="Avenir Next"/>
              </a:rPr>
              <a:t> age this year (from)</a:t>
            </a:r>
          </a:p>
          <a:p>
            <a:pPr algn="l"/>
            <a:r>
              <a:rPr b="1" sz="1900">
                <a:solidFill>
                  <a:srgbClr val="1F2623"/>
                </a:solidFill>
                <a:latin typeface="Avenir Next"/>
              </a:rPr>
              <a:t>Rows:</a:t>
            </a:r>
            <a:r>
              <a:rPr sz="1900">
                <a:solidFill>
                  <a:srgbClr val="1F2623"/>
                </a:solidFill>
                <a:latin typeface="Avenir Next"/>
              </a:rPr>
              <a:t> age next year (to)</a:t>
            </a:r>
          </a:p>
          <a:p>
            <a:pPr algn="l"/>
          </a:p>
          <a:p>
            <a:pPr algn="l"/>
            <a:r>
              <a:rPr sz="1900">
                <a:solidFill>
                  <a:srgbClr val="1F2623"/>
                </a:solidFill>
                <a:latin typeface="Avenir Next"/>
              </a:rPr>
              <a:t>Top row: fertilities, F</a:t>
            </a:r>
            <a:r>
              <a:rPr baseline="-25000" sz="1900">
                <a:solidFill>
                  <a:srgbClr val="1F2623"/>
                </a:solidFill>
                <a:latin typeface="Avenir Next"/>
              </a:rPr>
              <a:t>x</a:t>
            </a:r>
          </a:p>
          <a:p>
            <a:pPr algn="l"/>
            <a:r>
              <a:rPr sz="1900">
                <a:solidFill>
                  <a:srgbClr val="1F2623"/>
                </a:solidFill>
                <a:latin typeface="Avenir Next"/>
              </a:rPr>
              <a:t>Sub-diagonal: survival, p</a:t>
            </a:r>
            <a:r>
              <a:rPr baseline="-25000" sz="1900">
                <a:solidFill>
                  <a:srgbClr val="1F2623"/>
                </a:solidFill>
                <a:latin typeface="Avenir Next"/>
              </a:rPr>
              <a:t>x</a:t>
            </a:r>
          </a:p>
          <a:p>
            <a:pPr algn="l"/>
            <a:r>
              <a:rPr sz="1900">
                <a:solidFill>
                  <a:srgbClr val="1F2623"/>
                </a:solidFill>
                <a:latin typeface="Avenir Next"/>
              </a:rPr>
              <a:t>(Neal: F</a:t>
            </a:r>
            <a:r>
              <a:rPr baseline="-25000" sz="1900">
                <a:solidFill>
                  <a:srgbClr val="1F2623"/>
                </a:solidFill>
                <a:latin typeface="Avenir Next"/>
              </a:rPr>
              <a:t>i</a:t>
            </a:r>
            <a:r>
              <a:rPr sz="1900">
                <a:solidFill>
                  <a:srgbClr val="1F2623"/>
                </a:solidFill>
                <a:latin typeface="Avenir Next"/>
              </a:rPr>
              <a:t> and P</a:t>
            </a:r>
            <a:r>
              <a:rPr baseline="-25000" sz="1900">
                <a:solidFill>
                  <a:srgbClr val="1F2623"/>
                </a:solidFill>
                <a:latin typeface="Avenir Next"/>
              </a:rPr>
              <a:t>i</a:t>
            </a:r>
            <a:r>
              <a:rPr sz="1900">
                <a:solidFill>
                  <a:srgbClr val="1F2623"/>
                </a:solidFill>
                <a:latin typeface="Avenir Next"/>
              </a:rPr>
              <a:t>)</a:t>
            </a:r>
          </a:p>
          <a:p>
            <a:pPr algn="l"/>
          </a:p>
          <a:p>
            <a:pPr algn="l"/>
            <a:r>
              <a:rPr sz="1900">
                <a:solidFill>
                  <a:srgbClr val="1F2623"/>
                </a:solidFill>
                <a:latin typeface="Avenir Next"/>
              </a:rPr>
              <a:t>One arrow = one non-zero cell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Generation time: three answers</a:t>
            </a:r>
          </a:p>
        </p:txBody>
      </p:sp>
      <p:graphicFrame>
        <p:nvGraphicFramePr>
          <p:cNvPr id="26" name="Table 25"/>
          <p:cNvGraphicFramePr>
            <a:graphicFrameLocks noGrp="1"/>
          </p:cNvGraphicFramePr>
          <p:nvPr/>
        </p:nvGraphicFramePr>
        <p:xfrm>
          <a:off x="731520" y="2240280"/>
          <a:ext cx="9784080" cy="2267712"/>
        </p:xfrm>
        <a:graphic>
          <a:graphicData uri="http://schemas.openxmlformats.org/drawingml/2006/table">
            <a:tbl>
              <a:tblPr firstRow="0" bandRow="0">
                <a:tableStyleId>{5C22544A-7EE6-4342-B048-85BDC9FD1C3A}</a:tableStyleId>
              </a:tblPr>
              <a:tblGrid>
                <a:gridCol w="4754880"/>
                <a:gridCol w="3291840"/>
                <a:gridCol w="1737360"/>
              </a:tblGrid>
              <a:tr h="566928">
                <a:tc>
                  <a:txBody>
                    <a:bodyPr/>
                    <a:lstStyle/>
                    <a:p>
                      <a:pPr algn="l"/>
                      <a:r>
                        <a:rPr b="1" sz="1800">
                          <a:solidFill>
                            <a:srgbClr val="FFFFFF"/>
                          </a:solidFill>
                          <a:latin typeface="Avenir Next"/>
                        </a:rPr>
                        <a:t>Definition</a:t>
                      </a:r>
                    </a:p>
                  </a:txBody>
                  <a:tcPr anchor="ctr" marL="73152" marR="73152" marT="27432" marB="27432">
                    <a:solidFill>
                      <a:srgbClr val="1F4D3F"/>
                    </a:solidFill>
                  </a:tcPr>
                </a:tc>
                <a:tc>
                  <a:txBody>
                    <a:bodyPr/>
                    <a:lstStyle/>
                    <a:p>
                      <a:pPr algn="ctr"/>
                      <a:r>
                        <a:rPr b="1" sz="1800">
                          <a:solidFill>
                            <a:srgbClr val="FFFFFF"/>
                          </a:solidFill>
                          <a:latin typeface="Avenir Next"/>
                        </a:rPr>
                        <a:t>Formula</a:t>
                      </a:r>
                    </a:p>
                  </a:txBody>
                  <a:tcPr anchor="ctr" marL="73152" marR="73152" marT="27432" marB="27432">
                    <a:solidFill>
                      <a:srgbClr val="1F4D3F"/>
                    </a:solidFill>
                  </a:tcPr>
                </a:tc>
                <a:tc>
                  <a:txBody>
                    <a:bodyPr/>
                    <a:lstStyle/>
                    <a:p>
                      <a:pPr algn="ctr"/>
                      <a:r>
                        <a:rPr b="1" sz="1800">
                          <a:solidFill>
                            <a:srgbClr val="FFFFFF"/>
                          </a:solidFill>
                          <a:latin typeface="Avenir Next"/>
                        </a:rPr>
                        <a:t>Value</a:t>
                      </a:r>
                    </a:p>
                  </a:txBody>
                  <a:tcPr anchor="ctr" marL="73152" marR="73152" marT="27432" marB="27432">
                    <a:solidFill>
                      <a:srgbClr val="1F4D3F"/>
                    </a:solidFill>
                  </a:tcPr>
                </a:tc>
              </a:tr>
              <a:tr h="566928">
                <a:tc>
                  <a:txBody>
                    <a:bodyPr/>
                    <a:lstStyle/>
                    <a:p>
                      <a:pPr algn="l"/>
                      <a:r>
                        <a:rPr b="0" sz="1800">
                          <a:solidFill>
                            <a:srgbClr val="1F2623"/>
                          </a:solidFill>
                          <a:latin typeface="Avenir Next"/>
                        </a:rPr>
                        <a:t>Cohort generation time (lecture 05)</a:t>
                      </a:r>
                    </a:p>
                  </a:txBody>
                  <a:tcPr anchor="ctr" marL="73152" marR="73152" marT="27432" marB="27432">
                    <a:solidFill>
                      <a:srgbClr val="EFEEE6"/>
                    </a:solidFill>
                  </a:tcPr>
                </a:tc>
                <a:tc>
                  <a:txBody>
                    <a:bodyPr/>
                    <a:lstStyle/>
                    <a:p>
                      <a:pPr algn="ctr"/>
                      <a:r>
                        <a:rPr b="0" sz="1800">
                          <a:solidFill>
                            <a:srgbClr val="1F2623"/>
                          </a:solidFill>
                          <a:latin typeface="Avenir Next"/>
                        </a:rPr>
                        <a:t>Σ </a:t>
                      </a:r>
                      <a:r>
                        <a:rPr b="0" i="1" sz="1800">
                          <a:solidFill>
                            <a:srgbClr val="1F2623"/>
                          </a:solidFill>
                          <a:latin typeface="Avenir Next"/>
                        </a:rPr>
                        <a:t>x</a:t>
                      </a:r>
                      <a:r>
                        <a:rPr b="0" sz="1800">
                          <a:solidFill>
                            <a:srgbClr val="1F2623"/>
                          </a:solidFill>
                          <a:latin typeface="Avenir Next"/>
                        </a:rPr>
                        <a:t> l</a:t>
                      </a:r>
                      <a:r>
                        <a:rPr b="0" baseline="-25000" sz="1800">
                          <a:solidFill>
                            <a:srgbClr val="1F2623"/>
                          </a:solidFill>
                          <a:latin typeface="Avenir Next"/>
                        </a:rPr>
                        <a:t>x</a:t>
                      </a:r>
                      <a:r>
                        <a:rPr b="0" sz="1800">
                          <a:solidFill>
                            <a:srgbClr val="1F2623"/>
                          </a:solidFill>
                          <a:latin typeface="Avenir Next"/>
                        </a:rPr>
                        <a:t>m</a:t>
                      </a:r>
                      <a:r>
                        <a:rPr b="0" baseline="-25000" sz="1800">
                          <a:solidFill>
                            <a:srgbClr val="1F2623"/>
                          </a:solidFill>
                          <a:latin typeface="Avenir Next"/>
                        </a:rPr>
                        <a:t>x</a:t>
                      </a:r>
                      <a:r>
                        <a:rPr b="0" sz="1800">
                          <a:solidFill>
                            <a:srgbClr val="1F2623"/>
                          </a:solidFill>
                          <a:latin typeface="Avenir Next"/>
                        </a:rPr>
                        <a:t> / R</a:t>
                      </a:r>
                      <a:r>
                        <a:rPr b="0" baseline="-25000" sz="1800">
                          <a:solidFill>
                            <a:srgbClr val="1F2623"/>
                          </a:solidFill>
                          <a:latin typeface="Avenir Next"/>
                        </a:rPr>
                        <a:t>0</a:t>
                      </a:r>
                    </a:p>
                  </a:txBody>
                  <a:tcPr anchor="ctr" marL="73152" marR="73152" marT="27432" marB="27432">
                    <a:solidFill>
                      <a:srgbClr val="EFEEE6"/>
                    </a:solidFill>
                  </a:tcPr>
                </a:tc>
                <a:tc>
                  <a:txBody>
                    <a:bodyPr/>
                    <a:lstStyle/>
                    <a:p>
                      <a:pPr algn="ctr"/>
                      <a:r>
                        <a:rPr b="0" sz="1800">
                          <a:solidFill>
                            <a:srgbClr val="1F2623"/>
                          </a:solidFill>
                          <a:latin typeface="Avenir Next"/>
                        </a:rPr>
                        <a:t>1.48 years</a:t>
                      </a:r>
                    </a:p>
                  </a:txBody>
                  <a:tcPr anchor="ctr" marL="73152" marR="73152" marT="27432" marB="27432">
                    <a:solidFill>
                      <a:srgbClr val="EFEEE6"/>
                    </a:solidFill>
                  </a:tcPr>
                </a:tc>
              </a:tr>
              <a:tr h="566928">
                <a:tc>
                  <a:txBody>
                    <a:bodyPr/>
                    <a:lstStyle/>
                    <a:p>
                      <a:pPr algn="l"/>
                      <a:r>
                        <a:rPr b="0" sz="1800">
                          <a:solidFill>
                            <a:srgbClr val="1F2623"/>
                          </a:solidFill>
                          <a:latin typeface="Avenir Next"/>
                        </a:rPr>
                        <a:t>Time to grow by R</a:t>
                      </a:r>
                      <a:r>
                        <a:rPr b="0" baseline="-25000" sz="1800">
                          <a:solidFill>
                            <a:srgbClr val="1F2623"/>
                          </a:solidFill>
                          <a:latin typeface="Avenir Next"/>
                        </a:rPr>
                        <a:t>0</a:t>
                      </a:r>
                      <a:r>
                        <a:rPr b="0" sz="1800">
                          <a:solidFill>
                            <a:srgbClr val="1F2623"/>
                          </a:solidFill>
                          <a:latin typeface="Avenir Next"/>
                        </a:rPr>
                        <a:t> at rate λ</a:t>
                      </a:r>
                    </a:p>
                  </a:txBody>
                  <a:tcPr anchor="ctr" marL="73152" marR="73152" marT="27432" marB="27432">
                    <a:solidFill>
                      <a:srgbClr val="FBFAF6"/>
                    </a:solidFill>
                  </a:tcPr>
                </a:tc>
                <a:tc>
                  <a:txBody>
                    <a:bodyPr/>
                    <a:lstStyle/>
                    <a:p>
                      <a:pPr algn="ctr"/>
                      <a:r>
                        <a:rPr b="0" sz="1800">
                          <a:solidFill>
                            <a:srgbClr val="1F2623"/>
                          </a:solidFill>
                          <a:latin typeface="Avenir Next"/>
                        </a:rPr>
                        <a:t>ln R</a:t>
                      </a:r>
                      <a:r>
                        <a:rPr b="0" baseline="-25000" sz="1800">
                          <a:solidFill>
                            <a:srgbClr val="1F2623"/>
                          </a:solidFill>
                          <a:latin typeface="Avenir Next"/>
                        </a:rPr>
                        <a:t>0</a:t>
                      </a:r>
                      <a:r>
                        <a:rPr b="0" sz="1800">
                          <a:solidFill>
                            <a:srgbClr val="1F2623"/>
                          </a:solidFill>
                          <a:latin typeface="Avenir Next"/>
                        </a:rPr>
                        <a:t> / ln λ</a:t>
                      </a:r>
                    </a:p>
                  </a:txBody>
                  <a:tcPr anchor="ctr" marL="73152" marR="73152" marT="27432" marB="27432">
                    <a:solidFill>
                      <a:srgbClr val="FBFAF6"/>
                    </a:solidFill>
                  </a:tcPr>
                </a:tc>
                <a:tc>
                  <a:txBody>
                    <a:bodyPr/>
                    <a:lstStyle/>
                    <a:p>
                      <a:pPr algn="ctr"/>
                      <a:r>
                        <a:rPr b="0" sz="1800">
                          <a:solidFill>
                            <a:srgbClr val="1F2623"/>
                          </a:solidFill>
                          <a:latin typeface="Avenir Next"/>
                        </a:rPr>
                        <a:t>1.37 years</a:t>
                      </a:r>
                    </a:p>
                  </a:txBody>
                  <a:tcPr anchor="ctr" marL="73152" marR="73152" marT="27432" marB="27432">
                    <a:solidFill>
                      <a:srgbClr val="FBFAF6"/>
                    </a:solidFill>
                  </a:tcPr>
                </a:tc>
              </a:tr>
              <a:tr h="566928">
                <a:tc>
                  <a:txBody>
                    <a:bodyPr/>
                    <a:lstStyle/>
                    <a:p>
                      <a:pPr algn="l"/>
                      <a:r>
                        <a:rPr b="0" sz="1800">
                          <a:solidFill>
                            <a:srgbClr val="1F2623"/>
                          </a:solidFill>
                          <a:latin typeface="Avenir Next"/>
                        </a:rPr>
                        <a:t>Mean age of mothers, stable population</a:t>
                      </a:r>
                    </a:p>
                  </a:txBody>
                  <a:tcPr anchor="ctr" marL="73152" marR="73152" marT="27432" marB="27432">
                    <a:solidFill>
                      <a:srgbClr val="EFEEE6"/>
                    </a:solidFill>
                  </a:tcPr>
                </a:tc>
                <a:tc>
                  <a:txBody>
                    <a:bodyPr/>
                    <a:lstStyle/>
                    <a:p>
                      <a:pPr algn="ctr"/>
                      <a:r>
                        <a:rPr b="0" sz="1800">
                          <a:solidFill>
                            <a:srgbClr val="1F2623"/>
                          </a:solidFill>
                          <a:latin typeface="Avenir Next"/>
                        </a:rPr>
                        <a:t>Σ </a:t>
                      </a:r>
                      <a:r>
                        <a:rPr b="0" i="1" sz="1800">
                          <a:solidFill>
                            <a:srgbClr val="1F2623"/>
                          </a:solidFill>
                          <a:latin typeface="Avenir Next"/>
                        </a:rPr>
                        <a:t>x</a:t>
                      </a:r>
                      <a:r>
                        <a:rPr b="0" sz="1800">
                          <a:solidFill>
                            <a:srgbClr val="1F2623"/>
                          </a:solidFill>
                          <a:latin typeface="Avenir Next"/>
                        </a:rPr>
                        <a:t> λ</a:t>
                      </a:r>
                      <a:r>
                        <a:rPr b="0" baseline="30000" sz="1800">
                          <a:solidFill>
                            <a:srgbClr val="1F2623"/>
                          </a:solidFill>
                          <a:latin typeface="Avenir Next"/>
                        </a:rPr>
                        <a:t>−x</a:t>
                      </a:r>
                      <a:r>
                        <a:rPr b="0" sz="1800">
                          <a:solidFill>
                            <a:srgbClr val="1F2623"/>
                          </a:solidFill>
                          <a:latin typeface="Avenir Next"/>
                        </a:rPr>
                        <a:t> l</a:t>
                      </a:r>
                      <a:r>
                        <a:rPr b="0" baseline="-25000" sz="1800">
                          <a:solidFill>
                            <a:srgbClr val="1F2623"/>
                          </a:solidFill>
                          <a:latin typeface="Avenir Next"/>
                        </a:rPr>
                        <a:t>x</a:t>
                      </a:r>
                      <a:r>
                        <a:rPr b="0" sz="1800">
                          <a:solidFill>
                            <a:srgbClr val="1F2623"/>
                          </a:solidFill>
                          <a:latin typeface="Avenir Next"/>
                        </a:rPr>
                        <a:t>m</a:t>
                      </a:r>
                      <a:r>
                        <a:rPr b="0" baseline="-25000" sz="1800">
                          <a:solidFill>
                            <a:srgbClr val="1F2623"/>
                          </a:solidFill>
                          <a:latin typeface="Avenir Next"/>
                        </a:rPr>
                        <a:t>x</a:t>
                      </a:r>
                    </a:p>
                  </a:txBody>
                  <a:tcPr anchor="ctr" marL="73152" marR="73152" marT="27432" marB="27432">
                    <a:solidFill>
                      <a:srgbClr val="EFEEE6"/>
                    </a:solidFill>
                  </a:tcPr>
                </a:tc>
                <a:tc>
                  <a:txBody>
                    <a:bodyPr/>
                    <a:lstStyle/>
                    <a:p>
                      <a:pPr algn="ctr"/>
                      <a:r>
                        <a:rPr b="0" sz="1800">
                          <a:solidFill>
                            <a:srgbClr val="1F2623"/>
                          </a:solidFill>
                          <a:latin typeface="Avenir Next"/>
                        </a:rPr>
                        <a:t>1.27 years</a:t>
                      </a:r>
                    </a:p>
                  </a:txBody>
                  <a:tcPr anchor="ctr" marL="73152" marR="73152" marT="27432" marB="27432">
                    <a:solidFill>
                      <a:srgbClr val="EFEEE6"/>
                    </a:solidFill>
                  </a:tcPr>
                </a:tc>
              </a:tr>
            </a:tbl>
          </a:graphicData>
        </a:graphic>
      </p:graphicFrame>
      <p:sp>
        <p:nvSpPr>
          <p:cNvPr id="27" name="TextBox 26"/>
          <p:cNvSpPr txBox="1"/>
          <p:nvPr/>
        </p:nvSpPr>
        <p:spPr>
          <a:xfrm>
            <a:off x="731520" y="4572000"/>
            <a:ext cx="10515600" cy="1097280"/>
          </a:xfrm>
          <a:prstGeom prst="rect">
            <a:avLst/>
          </a:prstGeom>
          <a:noFill/>
        </p:spPr>
        <p:txBody>
          <a:bodyPr wrap="square">
            <a:spAutoFit/>
          </a:bodyPr>
          <a:lstStyle/>
          <a:p>
            <a:pPr algn="l"/>
            <a:r>
              <a:rPr sz="1900">
                <a:solidFill>
                  <a:srgbClr val="1F2623"/>
                </a:solidFill>
                <a:latin typeface="Avenir Next"/>
              </a:rPr>
              <a:t>In a growing population young mothers are over-represented, so the answers differ.</a:t>
            </a:r>
          </a:p>
          <a:p>
            <a:pPr algn="l"/>
            <a:r>
              <a:rPr sz="1900">
                <a:solidFill>
                  <a:srgbClr val="1F2623"/>
                </a:solidFill>
                <a:latin typeface="Avenir Next"/>
              </a:rPr>
              <a:t>In a stationary population (λ = 1) they are the same.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pPr/>
            <a:r>
              <a:t>03</a:t>
            </a:r>
          </a:p>
        </p:txBody>
      </p:sp>
      <p:sp>
        <p:nvSpPr>
          <p:cNvPr id="3" name="Title 2"/>
          <p:cNvSpPr>
            <a:spLocks noGrp="1"/>
          </p:cNvSpPr>
          <p:nvPr>
            <p:ph type="title" idx="103"/>
          </p:nvPr>
        </p:nvSpPr>
        <p:spPr/>
        <p:txBody>
          <a:bodyPr/>
          <a:lstStyle/>
          <a:p>
            <a:pPr/>
            <a:r>
              <a:t>Stage-based models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Individuals grow from stage to stage</a:t>
            </a:r>
          </a:p>
        </p:txBody>
      </p:sp>
      <p:pic>
        <p:nvPicPr>
          <p:cNvPr id="3" name="Picture Placeholder 2" descr="02a_stage_progression.png"/>
          <p:cNvPicPr>
            <a:picLocks noGrp="1" noChangeAspect="1"/>
          </p:cNvPicPr>
          <p:nvPr>
            <p:ph type="pic" idx="101"/>
          </p:nvPr>
        </p:nvPicPr>
        <p:blipFill>
          <a:blip r:embed="rId2"/>
          <a:srcRect t="13" b="13"/>
          <a:stretch>
            <a:fillRect/>
          </a:stretch>
        </p:blipFill>
        <p:spPr/>
      </p:pic>
      <p:sp>
        <p:nvSpPr>
          <p:cNvPr id="4" name="Text Placeholder 3"/>
          <p:cNvSpPr>
            <a:spLocks noGrp="1"/>
          </p:cNvSpPr>
          <p:nvPr>
            <p:ph type="body" idx="102"/>
          </p:nvPr>
        </p:nvSpPr>
        <p:spPr/>
        <p:txBody>
          <a:bodyPr/>
          <a:lstStyle/>
          <a:p>
            <a:pPr/>
            <a:r>
              <a:t>Each arrow: probability of moving to the next stage in one year. Illustrative values.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Adults produce juveniles</a:t>
            </a:r>
          </a:p>
        </p:txBody>
      </p:sp>
      <p:pic>
        <p:nvPicPr>
          <p:cNvPr id="3" name="Picture Placeholder 2" descr="02b_stage_reproduction.png"/>
          <p:cNvPicPr>
            <a:picLocks noGrp="1" noChangeAspect="1"/>
          </p:cNvPicPr>
          <p:nvPr>
            <p:ph type="pic" idx="101"/>
          </p:nvPr>
        </p:nvPicPr>
        <p:blipFill>
          <a:blip r:embed="rId2"/>
          <a:srcRect t="13" b="13"/>
          <a:stretch>
            <a:fillRect/>
          </a:stretch>
        </p:blipFill>
        <p:spPr/>
      </p:pic>
      <p:sp>
        <p:nvSpPr>
          <p:cNvPr id="4" name="Text Placeholder 3"/>
          <p:cNvSpPr>
            <a:spLocks noGrp="1"/>
          </p:cNvSpPr>
          <p:nvPr>
            <p:ph type="body" idx="102"/>
          </p:nvPr>
        </p:nvSpPr>
        <p:spPr/>
        <p:txBody>
          <a:bodyPr/>
          <a:lstStyle/>
          <a:p>
            <a:pPr/>
            <a:r>
              <a:t>Fertility (the practical says fecundity): 4.55 new juveniles per adult per year.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Individuals can also stay in a stage</a:t>
            </a:r>
          </a:p>
        </p:txBody>
      </p:sp>
      <p:pic>
        <p:nvPicPr>
          <p:cNvPr id="3" name="Picture Placeholder 2" descr="02c_stage_full.png"/>
          <p:cNvPicPr>
            <a:picLocks noGrp="1" noChangeAspect="1"/>
          </p:cNvPicPr>
          <p:nvPr>
            <p:ph type="pic" idx="101"/>
          </p:nvPr>
        </p:nvPicPr>
        <p:blipFill>
          <a:blip r:embed="rId2"/>
          <a:srcRect t="13" b="13"/>
          <a:stretch>
            <a:fillRect/>
          </a:stretch>
        </p:blipFill>
        <p:spPr/>
      </p:pic>
      <p:sp>
        <p:nvSpPr>
          <p:cNvPr id="4" name="Text Placeholder 3"/>
          <p:cNvSpPr>
            <a:spLocks noGrp="1"/>
          </p:cNvSpPr>
          <p:nvPr>
            <p:ph type="body" idx="102"/>
          </p:nvPr>
        </p:nvSpPr>
        <p:spPr/>
        <p:txBody>
          <a:bodyPr/>
          <a:lstStyle/>
          <a:p>
            <a:pPr/>
            <a:r>
              <a:t>Staying (stasis): a juvenile can remain a juvenile for several years. Age-based models cannot do this.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Write the matrix for this life cycle</a:t>
            </a:r>
          </a:p>
        </p:txBody>
      </p:sp>
      <p:pic>
        <p:nvPicPr>
          <p:cNvPr id="3" name="Picture Placeholder 2" descr="02d_stage_full_takeaway.png"/>
          <p:cNvPicPr>
            <a:picLocks noGrp="1" noChangeAspect="1"/>
          </p:cNvPicPr>
          <p:nvPr>
            <p:ph type="pic" idx="101"/>
          </p:nvPr>
        </p:nvPicPr>
        <p:blipFill>
          <a:blip r:embed="rId2"/>
          <a:srcRect/>
          <a:stretch>
            <a:fillRect/>
          </a:stretch>
        </p:blipFill>
        <p:spPr/>
      </p:pic>
      <p:sp>
        <p:nvSpPr>
          <p:cNvPr id="4" name="Text Placeholder 3"/>
          <p:cNvSpPr>
            <a:spLocks noGrp="1"/>
          </p:cNvSpPr>
          <p:nvPr>
            <p:ph type="body" idx="103"/>
          </p:nvPr>
        </p:nvSpPr>
        <p:spPr/>
        <p:txBody>
          <a:bodyPr/>
          <a:lstStyle/>
          <a:p>
            <a:pPr/>
            <a:r>
              <a:t>YOUR TURN · 2 MIN</a:t>
            </a:r>
          </a:p>
        </p:txBody>
      </p:sp>
      <p:sp>
        <p:nvSpPr>
          <p:cNvPr id="5" name="Text Placeholder 4"/>
          <p:cNvSpPr>
            <a:spLocks noGrp="1"/>
          </p:cNvSpPr>
          <p:nvPr>
            <p:ph type="body" idx="105"/>
          </p:nvPr>
        </p:nvSpPr>
        <p:spPr/>
        <p:txBody>
          <a:bodyPr/>
          <a:lstStyle/>
          <a:p>
            <a:pPr/>
            <a:r>
              <a:rPr sz="1800"/>
              <a:t>Pairs: fill in a 3 × 3 matrix</a:t>
            </a:r>
          </a:p>
          <a:p>
            <a:pPr/>
            <a:r>
              <a:rPr sz="1800"/>
              <a:t>Columns = from, rows = to</a:t>
            </a:r>
          </a:p>
          <a:p>
            <a:pPr/>
            <a:r>
              <a:rPr sz="1800"/>
              <a:t>One arrow = one non-zero cell</a:t>
            </a:r>
          </a:p>
          <a:p>
            <a:pPr/>
            <a:r>
              <a:rPr sz="1800"/>
              <a:t>Leave the rest as 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A stage-classified (Lefkovitch) matrix</a:t>
            </a:r>
          </a:p>
        </p:txBody>
      </p:sp>
      <p:sp>
        <p:nvSpPr>
          <p:cNvPr id="26" name="TextBox 25"/>
          <p:cNvSpPr txBox="1"/>
          <p:nvPr/>
        </p:nvSpPr>
        <p:spPr>
          <a:xfrm>
            <a:off x="1234440" y="3543300"/>
            <a:ext cx="1005840" cy="548640"/>
          </a:xfrm>
          <a:prstGeom prst="rect">
            <a:avLst/>
          </a:prstGeom>
          <a:noFill/>
        </p:spPr>
        <p:txBody>
          <a:bodyPr wrap="square">
            <a:spAutoFit/>
          </a:bodyPr>
          <a:lstStyle/>
          <a:p>
            <a:pPr algn="r"/>
            <a:r>
              <a:rPr b="1" sz="3000">
                <a:solidFill>
                  <a:srgbClr val="1F2623"/>
                </a:solidFill>
                <a:latin typeface="Avenir Next"/>
              </a:rPr>
              <a:t>A</a:t>
            </a:r>
            <a:r>
              <a:rPr sz="3000">
                <a:solidFill>
                  <a:srgbClr val="1F2623"/>
                </a:solidFill>
                <a:latin typeface="Avenir Next"/>
              </a:rPr>
              <a:t> =</a:t>
            </a:r>
          </a:p>
        </p:txBody>
      </p:sp>
      <p:sp>
        <p:nvSpPr>
          <p:cNvPr id="27" name="TextBox 26"/>
          <p:cNvSpPr txBox="1"/>
          <p:nvPr/>
        </p:nvSpPr>
        <p:spPr>
          <a:xfrm>
            <a:off x="2377440" y="2651760"/>
            <a:ext cx="1280160" cy="777240"/>
          </a:xfrm>
          <a:prstGeom prst="rect">
            <a:avLst/>
          </a:prstGeom>
          <a:noFill/>
        </p:spPr>
        <p:txBody>
          <a:bodyPr wrap="none" anchor="ctr" lIns="0" rIns="0">
            <a:spAutoFit/>
          </a:bodyPr>
          <a:lstStyle/>
          <a:p>
            <a:pPr algn="ctr"/>
            <a:r>
              <a:rPr sz="2800">
                <a:solidFill>
                  <a:srgbClr val="1F4D3F"/>
                </a:solidFill>
                <a:latin typeface="Avenir Next"/>
              </a:rPr>
              <a:t>0.14</a:t>
            </a:r>
          </a:p>
        </p:txBody>
      </p:sp>
      <p:sp>
        <p:nvSpPr>
          <p:cNvPr id="28" name="TextBox 27"/>
          <p:cNvSpPr txBox="1"/>
          <p:nvPr/>
        </p:nvSpPr>
        <p:spPr>
          <a:xfrm>
            <a:off x="3657600" y="2651760"/>
            <a:ext cx="1280160" cy="777240"/>
          </a:xfrm>
          <a:prstGeom prst="rect">
            <a:avLst/>
          </a:prstGeom>
          <a:noFill/>
        </p:spPr>
        <p:txBody>
          <a:bodyPr wrap="none" anchor="ctr" lIns="0" rIns="0">
            <a:spAutoFit/>
          </a:bodyPr>
          <a:lstStyle/>
          <a:p>
            <a:pPr algn="ctr"/>
            <a:r>
              <a:rPr sz="2800">
                <a:solidFill>
                  <a:srgbClr val="A4503A"/>
                </a:solidFill>
                <a:latin typeface="Avenir Next"/>
              </a:rPr>
              <a:t>4.55</a:t>
            </a:r>
          </a:p>
        </p:txBody>
      </p:sp>
      <p:sp>
        <p:nvSpPr>
          <p:cNvPr id="29" name="TextBox 28"/>
          <p:cNvSpPr txBox="1"/>
          <p:nvPr/>
        </p:nvSpPr>
        <p:spPr>
          <a:xfrm>
            <a:off x="4937760" y="2651760"/>
            <a:ext cx="1280160" cy="777240"/>
          </a:xfrm>
          <a:prstGeom prst="rect">
            <a:avLst/>
          </a:prstGeom>
          <a:noFill/>
        </p:spPr>
        <p:txBody>
          <a:bodyPr wrap="none" anchor="ctr" lIns="0" rIns="0">
            <a:spAutoFit/>
          </a:bodyPr>
          <a:lstStyle/>
          <a:p>
            <a:pPr algn="ctr"/>
            <a:r>
              <a:rPr sz="2800">
                <a:solidFill>
                  <a:srgbClr val="9AAE9F"/>
                </a:solidFill>
                <a:latin typeface="Avenir Next"/>
              </a:rPr>
              <a:t>0</a:t>
            </a:r>
          </a:p>
        </p:txBody>
      </p:sp>
      <p:sp>
        <p:nvSpPr>
          <p:cNvPr id="30" name="TextBox 29"/>
          <p:cNvSpPr txBox="1"/>
          <p:nvPr/>
        </p:nvSpPr>
        <p:spPr>
          <a:xfrm>
            <a:off x="2377440" y="3429000"/>
            <a:ext cx="1280160" cy="777240"/>
          </a:xfrm>
          <a:prstGeom prst="rect">
            <a:avLst/>
          </a:prstGeom>
          <a:noFill/>
        </p:spPr>
        <p:txBody>
          <a:bodyPr wrap="none" anchor="ctr" lIns="0" rIns="0">
            <a:spAutoFit/>
          </a:bodyPr>
          <a:lstStyle/>
          <a:p>
            <a:pPr algn="ctr"/>
            <a:r>
              <a:rPr sz="2800">
                <a:solidFill>
                  <a:srgbClr val="1F4D3F"/>
                </a:solidFill>
                <a:latin typeface="Avenir Next"/>
              </a:rPr>
              <a:t>0.26</a:t>
            </a:r>
          </a:p>
        </p:txBody>
      </p:sp>
      <p:sp>
        <p:nvSpPr>
          <p:cNvPr id="31" name="TextBox 30"/>
          <p:cNvSpPr txBox="1"/>
          <p:nvPr/>
        </p:nvSpPr>
        <p:spPr>
          <a:xfrm>
            <a:off x="3657600" y="3429000"/>
            <a:ext cx="1280160" cy="777240"/>
          </a:xfrm>
          <a:prstGeom prst="rect">
            <a:avLst/>
          </a:prstGeom>
          <a:noFill/>
        </p:spPr>
        <p:txBody>
          <a:bodyPr wrap="none" anchor="ctr" lIns="0" rIns="0">
            <a:spAutoFit/>
          </a:bodyPr>
          <a:lstStyle/>
          <a:p>
            <a:pPr algn="ctr"/>
            <a:r>
              <a:rPr sz="2800">
                <a:solidFill>
                  <a:srgbClr val="1F4D3F"/>
                </a:solidFill>
                <a:latin typeface="Avenir Next"/>
              </a:rPr>
              <a:t>0.32</a:t>
            </a:r>
          </a:p>
        </p:txBody>
      </p:sp>
      <p:sp>
        <p:nvSpPr>
          <p:cNvPr id="32" name="TextBox 31"/>
          <p:cNvSpPr txBox="1"/>
          <p:nvPr/>
        </p:nvSpPr>
        <p:spPr>
          <a:xfrm>
            <a:off x="4937760" y="3429000"/>
            <a:ext cx="1280160" cy="777240"/>
          </a:xfrm>
          <a:prstGeom prst="rect">
            <a:avLst/>
          </a:prstGeom>
          <a:noFill/>
        </p:spPr>
        <p:txBody>
          <a:bodyPr wrap="none" anchor="ctr" lIns="0" rIns="0">
            <a:spAutoFit/>
          </a:bodyPr>
          <a:lstStyle/>
          <a:p>
            <a:pPr algn="ctr"/>
            <a:r>
              <a:rPr sz="2800">
                <a:solidFill>
                  <a:srgbClr val="9AAE9F"/>
                </a:solidFill>
                <a:latin typeface="Avenir Next"/>
              </a:rPr>
              <a:t>0</a:t>
            </a:r>
          </a:p>
        </p:txBody>
      </p:sp>
      <p:sp>
        <p:nvSpPr>
          <p:cNvPr id="33" name="TextBox 32"/>
          <p:cNvSpPr txBox="1"/>
          <p:nvPr/>
        </p:nvSpPr>
        <p:spPr>
          <a:xfrm>
            <a:off x="2377440" y="4206240"/>
            <a:ext cx="1280160" cy="777240"/>
          </a:xfrm>
          <a:prstGeom prst="rect">
            <a:avLst/>
          </a:prstGeom>
          <a:noFill/>
        </p:spPr>
        <p:txBody>
          <a:bodyPr wrap="none" anchor="ctr" lIns="0" rIns="0">
            <a:spAutoFit/>
          </a:bodyPr>
          <a:lstStyle/>
          <a:p>
            <a:pPr algn="ctr"/>
            <a:r>
              <a:rPr sz="2800">
                <a:solidFill>
                  <a:srgbClr val="9AAE9F"/>
                </a:solidFill>
                <a:latin typeface="Avenir Next"/>
              </a:rPr>
              <a:t>0</a:t>
            </a:r>
          </a:p>
        </p:txBody>
      </p:sp>
      <p:sp>
        <p:nvSpPr>
          <p:cNvPr id="34" name="TextBox 33"/>
          <p:cNvSpPr txBox="1"/>
          <p:nvPr/>
        </p:nvSpPr>
        <p:spPr>
          <a:xfrm>
            <a:off x="3657600" y="4206240"/>
            <a:ext cx="1280160" cy="777240"/>
          </a:xfrm>
          <a:prstGeom prst="rect">
            <a:avLst/>
          </a:prstGeom>
          <a:noFill/>
        </p:spPr>
        <p:txBody>
          <a:bodyPr wrap="none" anchor="ctr" lIns="0" rIns="0">
            <a:spAutoFit/>
          </a:bodyPr>
          <a:lstStyle/>
          <a:p>
            <a:pPr algn="ctr"/>
            <a:r>
              <a:rPr sz="2800">
                <a:solidFill>
                  <a:srgbClr val="1F4D3F"/>
                </a:solidFill>
                <a:latin typeface="Avenir Next"/>
              </a:rPr>
              <a:t>0.12</a:t>
            </a:r>
          </a:p>
        </p:txBody>
      </p:sp>
      <p:sp>
        <p:nvSpPr>
          <p:cNvPr id="35" name="TextBox 34"/>
          <p:cNvSpPr txBox="1"/>
          <p:nvPr/>
        </p:nvSpPr>
        <p:spPr>
          <a:xfrm>
            <a:off x="4937760" y="4206240"/>
            <a:ext cx="1280160" cy="777240"/>
          </a:xfrm>
          <a:prstGeom prst="rect">
            <a:avLst/>
          </a:prstGeom>
          <a:noFill/>
        </p:spPr>
        <p:txBody>
          <a:bodyPr wrap="none" anchor="ctr" lIns="0" rIns="0">
            <a:spAutoFit/>
          </a:bodyPr>
          <a:lstStyle/>
          <a:p>
            <a:pPr algn="ctr"/>
            <a:r>
              <a:rPr sz="2800">
                <a:solidFill>
                  <a:srgbClr val="1F4D3F"/>
                </a:solidFill>
                <a:latin typeface="Avenir Next"/>
              </a:rPr>
              <a:t>0.18</a:t>
            </a:r>
          </a:p>
        </p:txBody>
      </p:sp>
      <p:cxnSp>
        <p:nvCxnSpPr>
          <p:cNvPr id="36" name="Connector 35"/>
          <p:cNvCxnSpPr/>
          <p:nvPr/>
        </p:nvCxnSpPr>
        <p:spPr>
          <a:xfrm>
            <a:off x="2331720" y="2651760"/>
            <a:ext cx="0" cy="2331719"/>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2331720" y="2651760"/>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2331720" y="4983479"/>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263639" y="2651760"/>
            <a:ext cx="0" cy="2331719"/>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6135623" y="2651760"/>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6135623" y="4983479"/>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2377440" y="2240279"/>
            <a:ext cx="1280160" cy="365760"/>
          </a:xfrm>
          <a:prstGeom prst="rect">
            <a:avLst/>
          </a:prstGeom>
          <a:noFill/>
        </p:spPr>
        <p:txBody>
          <a:bodyPr wrap="square">
            <a:spAutoFit/>
          </a:bodyPr>
          <a:lstStyle/>
          <a:p>
            <a:pPr algn="ctr"/>
            <a:r>
              <a:rPr sz="1400">
                <a:solidFill>
                  <a:srgbClr val="6E6F68"/>
                </a:solidFill>
                <a:latin typeface="Avenir Next"/>
              </a:rPr>
              <a:t>Juvenile</a:t>
            </a:r>
          </a:p>
        </p:txBody>
      </p:sp>
      <p:sp>
        <p:nvSpPr>
          <p:cNvPr id="43" name="TextBox 42"/>
          <p:cNvSpPr txBox="1"/>
          <p:nvPr/>
        </p:nvSpPr>
        <p:spPr>
          <a:xfrm>
            <a:off x="3657600" y="2240279"/>
            <a:ext cx="1280160" cy="365760"/>
          </a:xfrm>
          <a:prstGeom prst="rect">
            <a:avLst/>
          </a:prstGeom>
          <a:noFill/>
        </p:spPr>
        <p:txBody>
          <a:bodyPr wrap="square">
            <a:spAutoFit/>
          </a:bodyPr>
          <a:lstStyle/>
          <a:p>
            <a:pPr algn="ctr"/>
            <a:r>
              <a:rPr sz="1400">
                <a:solidFill>
                  <a:srgbClr val="6E6F68"/>
                </a:solidFill>
                <a:latin typeface="Avenir Next"/>
              </a:rPr>
              <a:t>Adult</a:t>
            </a:r>
          </a:p>
        </p:txBody>
      </p:sp>
      <p:sp>
        <p:nvSpPr>
          <p:cNvPr id="44" name="TextBox 43"/>
          <p:cNvSpPr txBox="1"/>
          <p:nvPr/>
        </p:nvSpPr>
        <p:spPr>
          <a:xfrm>
            <a:off x="4937760" y="2240279"/>
            <a:ext cx="1280160" cy="365760"/>
          </a:xfrm>
          <a:prstGeom prst="rect">
            <a:avLst/>
          </a:prstGeom>
          <a:noFill/>
        </p:spPr>
        <p:txBody>
          <a:bodyPr wrap="square">
            <a:spAutoFit/>
          </a:bodyPr>
          <a:lstStyle/>
          <a:p>
            <a:pPr algn="ctr"/>
            <a:r>
              <a:rPr sz="1400">
                <a:solidFill>
                  <a:srgbClr val="6E6F68"/>
                </a:solidFill>
                <a:latin typeface="Avenir Next"/>
              </a:rPr>
              <a:t>Post-repro.</a:t>
            </a:r>
          </a:p>
        </p:txBody>
      </p:sp>
      <p:sp>
        <p:nvSpPr>
          <p:cNvPr id="45" name="TextBox 44"/>
          <p:cNvSpPr txBox="1"/>
          <p:nvPr/>
        </p:nvSpPr>
        <p:spPr>
          <a:xfrm>
            <a:off x="6355079" y="2651760"/>
            <a:ext cx="1463040" cy="777240"/>
          </a:xfrm>
          <a:prstGeom prst="rect">
            <a:avLst/>
          </a:prstGeom>
          <a:noFill/>
        </p:spPr>
        <p:txBody>
          <a:bodyPr wrap="square" anchor="ctr">
            <a:spAutoFit/>
          </a:bodyPr>
          <a:lstStyle/>
          <a:p>
            <a:pPr algn="l"/>
            <a:r>
              <a:rPr sz="1400">
                <a:solidFill>
                  <a:srgbClr val="6E6F68"/>
                </a:solidFill>
                <a:latin typeface="Avenir Next"/>
              </a:rPr>
              <a:t>Juvenile</a:t>
            </a:r>
          </a:p>
        </p:txBody>
      </p:sp>
      <p:sp>
        <p:nvSpPr>
          <p:cNvPr id="46" name="TextBox 45"/>
          <p:cNvSpPr txBox="1"/>
          <p:nvPr/>
        </p:nvSpPr>
        <p:spPr>
          <a:xfrm>
            <a:off x="6355079" y="3429000"/>
            <a:ext cx="1463040" cy="777240"/>
          </a:xfrm>
          <a:prstGeom prst="rect">
            <a:avLst/>
          </a:prstGeom>
          <a:noFill/>
        </p:spPr>
        <p:txBody>
          <a:bodyPr wrap="square" anchor="ctr">
            <a:spAutoFit/>
          </a:bodyPr>
          <a:lstStyle/>
          <a:p>
            <a:pPr algn="l"/>
            <a:r>
              <a:rPr sz="1400">
                <a:solidFill>
                  <a:srgbClr val="6E6F68"/>
                </a:solidFill>
                <a:latin typeface="Avenir Next"/>
              </a:rPr>
              <a:t>Adult</a:t>
            </a:r>
          </a:p>
        </p:txBody>
      </p:sp>
      <p:sp>
        <p:nvSpPr>
          <p:cNvPr id="47" name="TextBox 46"/>
          <p:cNvSpPr txBox="1"/>
          <p:nvPr/>
        </p:nvSpPr>
        <p:spPr>
          <a:xfrm>
            <a:off x="6355079" y="4206240"/>
            <a:ext cx="1463040" cy="777240"/>
          </a:xfrm>
          <a:prstGeom prst="rect">
            <a:avLst/>
          </a:prstGeom>
          <a:noFill/>
        </p:spPr>
        <p:txBody>
          <a:bodyPr wrap="square" anchor="ctr">
            <a:spAutoFit/>
          </a:bodyPr>
          <a:lstStyle/>
          <a:p>
            <a:pPr algn="l"/>
            <a:r>
              <a:rPr sz="1400">
                <a:solidFill>
                  <a:srgbClr val="6E6F68"/>
                </a:solidFill>
                <a:latin typeface="Avenir Next"/>
              </a:rPr>
              <a:t>Post-repro.</a:t>
            </a:r>
          </a:p>
        </p:txBody>
      </p:sp>
      <p:sp>
        <p:nvSpPr>
          <p:cNvPr id="48" name="TextBox 47"/>
          <p:cNvSpPr txBox="1"/>
          <p:nvPr/>
        </p:nvSpPr>
        <p:spPr>
          <a:xfrm>
            <a:off x="2377440" y="1874519"/>
            <a:ext cx="3840480" cy="365760"/>
          </a:xfrm>
          <a:prstGeom prst="rect">
            <a:avLst/>
          </a:prstGeom>
          <a:noFill/>
        </p:spPr>
        <p:txBody>
          <a:bodyPr wrap="square">
            <a:spAutoFit/>
          </a:bodyPr>
          <a:lstStyle/>
          <a:p>
            <a:pPr algn="ctr"/>
            <a:r>
              <a:rPr sz="1400">
                <a:solidFill>
                  <a:srgbClr val="6E6F68"/>
                </a:solidFill>
                <a:latin typeface="Avenir Next"/>
              </a:rPr>
              <a:t>FROM (this year) →</a:t>
            </a:r>
          </a:p>
        </p:txBody>
      </p:sp>
      <p:sp>
        <p:nvSpPr>
          <p:cNvPr id="49" name="TextBox 48"/>
          <p:cNvSpPr txBox="1"/>
          <p:nvPr/>
        </p:nvSpPr>
        <p:spPr>
          <a:xfrm>
            <a:off x="7863840" y="2194560"/>
            <a:ext cx="3657600" cy="3657600"/>
          </a:xfrm>
          <a:prstGeom prst="rect">
            <a:avLst/>
          </a:prstGeom>
          <a:noFill/>
        </p:spPr>
        <p:txBody>
          <a:bodyPr wrap="square">
            <a:spAutoFit/>
          </a:bodyPr>
          <a:lstStyle/>
          <a:p>
            <a:pPr algn="l"/>
            <a:r>
              <a:rPr sz="1900">
                <a:solidFill>
                  <a:srgbClr val="1F2623"/>
                </a:solidFill>
                <a:latin typeface="Avenir Next"/>
              </a:rPr>
              <a:t>7 arrows, 7 non-zero cells</a:t>
            </a:r>
          </a:p>
          <a:p>
            <a:pPr algn="l"/>
          </a:p>
          <a:p>
            <a:pPr algn="l"/>
            <a:r>
              <a:rPr sz="1900">
                <a:solidFill>
                  <a:srgbClr val="1F2623"/>
                </a:solidFill>
                <a:latin typeface="Avenir Next"/>
              </a:rPr>
              <a:t>Survival out of a stage ≤ 1:</a:t>
            </a:r>
          </a:p>
          <a:p>
            <a:pPr algn="l"/>
            <a:r>
              <a:rPr sz="1900">
                <a:solidFill>
                  <a:srgbClr val="1F2623"/>
                </a:solidFill>
                <a:latin typeface="Avenir Next"/>
              </a:rPr>
              <a:t>juveniles 0.14 + 0.26 = 0.40</a:t>
            </a:r>
          </a:p>
          <a:p>
            <a:pPr algn="l"/>
          </a:p>
          <a:p>
            <a:pPr algn="l"/>
            <a:r>
              <a:rPr sz="1900">
                <a:solidFill>
                  <a:srgbClr val="1F2623"/>
                </a:solidFill>
                <a:latin typeface="Avenir Next"/>
              </a:rPr>
              <a:t>Fertility can be greater than 1</a:t>
            </a:r>
          </a:p>
          <a:p>
            <a:pPr algn="l"/>
          </a:p>
          <a:p>
            <a:pPr algn="l"/>
            <a:r>
              <a:rPr sz="1900">
                <a:solidFill>
                  <a:srgbClr val="1F2623"/>
                </a:solidFill>
                <a:latin typeface="Avenir Next"/>
              </a:rPr>
              <a:t>Same rules as the Leslie matrix</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Matrix models fit almost any life cycle</a:t>
            </a:r>
          </a:p>
        </p:txBody>
      </p:sp>
      <p:pic>
        <p:nvPicPr>
          <p:cNvPr id="3" name="Picture Placeholder 2" descr="mpm_examples.jpg"/>
          <p:cNvPicPr>
            <a:picLocks noGrp="1" noChangeAspect="1"/>
          </p:cNvPicPr>
          <p:nvPr>
            <p:ph type="pic" idx="101"/>
          </p:nvPr>
        </p:nvPicPr>
        <p:blipFill>
          <a:blip r:embed="rId2"/>
          <a:srcRect/>
          <a:stretch>
            <a:fillRect/>
          </a:stretch>
        </p:blipFill>
        <p:spPr/>
      </p:pic>
      <p:sp>
        <p:nvSpPr>
          <p:cNvPr id="4" name="Text Placeholder 3"/>
          <p:cNvSpPr>
            <a:spLocks noGrp="1"/>
          </p:cNvSpPr>
          <p:nvPr>
            <p:ph type="body" idx="103"/>
          </p:nvPr>
        </p:nvSpPr>
        <p:spPr/>
        <p:txBody>
          <a:bodyPr/>
          <a:lstStyle/>
          <a:p>
            <a:pPr/>
            <a:r>
              <a:t>USES</a:t>
            </a:r>
          </a:p>
        </p:txBody>
      </p:sp>
      <p:sp>
        <p:nvSpPr>
          <p:cNvPr id="5" name="Text Placeholder 4"/>
          <p:cNvSpPr>
            <a:spLocks noGrp="1"/>
          </p:cNvSpPr>
          <p:nvPr>
            <p:ph type="body" idx="105"/>
          </p:nvPr>
        </p:nvSpPr>
        <p:spPr/>
        <p:txBody>
          <a:bodyPr/>
          <a:lstStyle/>
          <a:p>
            <a:pPr/>
            <a:r>
              <a:rPr sz="1800"/>
              <a:t>Project population size and structure</a:t>
            </a:r>
          </a:p>
          <a:p>
            <a:pPr/>
            <a:r>
              <a:rPr sz="1800"/>
              <a:t>Find which transitions matter most (elasticity)</a:t>
            </a:r>
          </a:p>
          <a:p>
            <a:pPr/>
            <a:r>
              <a:rPr sz="1800"/>
              <a:t>Run </a:t>
            </a:r>
            <a:r>
              <a:rPr i="1" sz="1800"/>
              <a:t>in silico</a:t>
            </a:r>
            <a:r>
              <a:rPr sz="1800"/>
              <a:t> experiments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pPr/>
            <a:r>
              <a:t>04</a:t>
            </a:r>
          </a:p>
        </p:txBody>
      </p:sp>
      <p:sp>
        <p:nvSpPr>
          <p:cNvPr id="3" name="Title 2"/>
          <p:cNvSpPr>
            <a:spLocks noGrp="1"/>
          </p:cNvSpPr>
          <p:nvPr>
            <p:ph type="title" idx="103"/>
          </p:nvPr>
        </p:nvSpPr>
        <p:spPr/>
        <p:txBody>
          <a:bodyPr/>
          <a:lstStyle/>
          <a:p>
            <a:pPr/>
            <a:r>
              <a:t>Projecting the population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2"/>
          </p:nvPr>
        </p:nvSpPr>
        <p:spPr/>
        <p:txBody>
          <a:bodyPr/>
          <a:lstStyle/>
          <a:p>
            <a:pPr/>
            <a:r>
              <a:t>n</a:t>
            </a:r>
            <a:r>
              <a:rPr baseline="-25000"/>
              <a:t>t+1</a:t>
            </a:r>
            <a:r>
              <a:t> = </a:t>
            </a:r>
            <a:r>
              <a:rPr b="1"/>
              <a:t>A</a:t>
            </a:r>
            <a:r>
              <a:t> n</a:t>
            </a:r>
            <a:r>
              <a:rPr baseline="-25000"/>
              <a:t>t</a:t>
            </a:r>
          </a:p>
        </p:txBody>
      </p:sp>
      <p:sp>
        <p:nvSpPr>
          <p:cNvPr id="3" name="Text Placeholder 2"/>
          <p:cNvSpPr>
            <a:spLocks noGrp="1"/>
          </p:cNvSpPr>
          <p:nvPr>
            <p:ph type="body" idx="103"/>
          </p:nvPr>
        </p:nvSpPr>
        <p:spPr/>
        <p:txBody>
          <a:bodyPr/>
          <a:lstStyle/>
          <a:p>
            <a:pPr/>
            <a:r>
              <a:t>Multiply the projection matrix (also called a transition matrix) by this year's population vector to get next year's. It is geometric growth, n</a:t>
            </a:r>
            <a:r>
              <a:rPr baseline="-25000"/>
              <a:t>t+1</a:t>
            </a:r>
            <a:r>
              <a:t> = λn</a:t>
            </a:r>
            <a:r>
              <a:rPr baseline="-25000"/>
              <a:t>t</a:t>
            </a:r>
            <a:r>
              <a:t>, with the single number λ replaced by a matrix.</a:t>
            </a:r>
          </a:p>
        </p:txBody>
      </p:sp>
      <p:sp>
        <p:nvSpPr>
          <p:cNvPr id="4" name="Text Placeholder 3"/>
          <p:cNvSpPr>
            <a:spLocks noGrp="1"/>
          </p:cNvSpPr>
          <p:nvPr>
            <p:ph type="body" idx="105"/>
          </p:nvPr>
        </p:nvSpPr>
        <p:spPr/>
        <p:txBody>
          <a:bodyPr/>
          <a:lstStyle/>
          <a:p>
            <a:pPr/>
            <a:r>
              <a:t>Order matters: </a:t>
            </a:r>
            <a:r>
              <a:rPr b="1"/>
              <a:t>A</a:t>
            </a:r>
            <a:r>
              <a:t> × n</a:t>
            </a:r>
            <a:r>
              <a:rPr baseline="-25000"/>
              <a:t>t</a:t>
            </a:r>
            <a:r>
              <a:t>, matrix first. Each row of </a:t>
            </a:r>
            <a:r>
              <a:rPr b="1"/>
              <a:t>A</a:t>
            </a:r>
            <a:r>
              <a:t> says where next year's individuals in that stage come from.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Projecting one year: your turn</a:t>
            </a:r>
          </a:p>
        </p:txBody>
      </p:sp>
      <p:sp>
        <p:nvSpPr>
          <p:cNvPr id="26" name="TextBox 25"/>
          <p:cNvSpPr txBox="1"/>
          <p:nvPr/>
        </p:nvSpPr>
        <p:spPr>
          <a:xfrm>
            <a:off x="1280160" y="2377440"/>
            <a:ext cx="960120" cy="640080"/>
          </a:xfrm>
          <a:prstGeom prst="rect">
            <a:avLst/>
          </a:prstGeom>
          <a:noFill/>
        </p:spPr>
        <p:txBody>
          <a:bodyPr wrap="none" anchor="ctr" lIns="0" rIns="0">
            <a:spAutoFit/>
          </a:bodyPr>
          <a:lstStyle/>
          <a:p>
            <a:pPr algn="ctr"/>
            <a:r>
              <a:rPr sz="2200">
                <a:solidFill>
                  <a:srgbClr val="A4503A"/>
                </a:solidFill>
                <a:latin typeface="Avenir Next"/>
              </a:rPr>
              <a:t>0.14</a:t>
            </a:r>
          </a:p>
        </p:txBody>
      </p:sp>
      <p:sp>
        <p:nvSpPr>
          <p:cNvPr id="27" name="TextBox 26"/>
          <p:cNvSpPr txBox="1"/>
          <p:nvPr/>
        </p:nvSpPr>
        <p:spPr>
          <a:xfrm>
            <a:off x="2240280" y="2377440"/>
            <a:ext cx="960120" cy="640080"/>
          </a:xfrm>
          <a:prstGeom prst="rect">
            <a:avLst/>
          </a:prstGeom>
          <a:noFill/>
        </p:spPr>
        <p:txBody>
          <a:bodyPr wrap="none" anchor="ctr" lIns="0" rIns="0">
            <a:spAutoFit/>
          </a:bodyPr>
          <a:lstStyle/>
          <a:p>
            <a:pPr algn="ctr"/>
            <a:r>
              <a:rPr sz="2200">
                <a:solidFill>
                  <a:srgbClr val="A4503A"/>
                </a:solidFill>
                <a:latin typeface="Avenir Next"/>
              </a:rPr>
              <a:t>4.55</a:t>
            </a:r>
          </a:p>
        </p:txBody>
      </p:sp>
      <p:sp>
        <p:nvSpPr>
          <p:cNvPr id="28" name="TextBox 27"/>
          <p:cNvSpPr txBox="1"/>
          <p:nvPr/>
        </p:nvSpPr>
        <p:spPr>
          <a:xfrm>
            <a:off x="3200400" y="2377440"/>
            <a:ext cx="960120" cy="640080"/>
          </a:xfrm>
          <a:prstGeom prst="rect">
            <a:avLst/>
          </a:prstGeom>
          <a:noFill/>
        </p:spPr>
        <p:txBody>
          <a:bodyPr wrap="none" anchor="ctr" lIns="0" rIns="0">
            <a:spAutoFit/>
          </a:bodyPr>
          <a:lstStyle/>
          <a:p>
            <a:pPr algn="ctr"/>
            <a:r>
              <a:rPr sz="2200">
                <a:solidFill>
                  <a:srgbClr val="9AAE9F"/>
                </a:solidFill>
                <a:latin typeface="Avenir Next"/>
              </a:rPr>
              <a:t>0</a:t>
            </a:r>
          </a:p>
        </p:txBody>
      </p:sp>
      <p:sp>
        <p:nvSpPr>
          <p:cNvPr id="29" name="TextBox 28"/>
          <p:cNvSpPr txBox="1"/>
          <p:nvPr/>
        </p:nvSpPr>
        <p:spPr>
          <a:xfrm>
            <a:off x="1280160" y="3017520"/>
            <a:ext cx="960120" cy="640080"/>
          </a:xfrm>
          <a:prstGeom prst="rect">
            <a:avLst/>
          </a:prstGeom>
          <a:noFill/>
        </p:spPr>
        <p:txBody>
          <a:bodyPr wrap="none" anchor="ctr" lIns="0" rIns="0">
            <a:spAutoFit/>
          </a:bodyPr>
          <a:lstStyle/>
          <a:p>
            <a:pPr algn="ctr"/>
            <a:r>
              <a:rPr sz="2200">
                <a:solidFill>
                  <a:srgbClr val="1F4D3F"/>
                </a:solidFill>
                <a:latin typeface="Avenir Next"/>
              </a:rPr>
              <a:t>0.26</a:t>
            </a:r>
          </a:p>
        </p:txBody>
      </p:sp>
      <p:sp>
        <p:nvSpPr>
          <p:cNvPr id="30" name="TextBox 29"/>
          <p:cNvSpPr txBox="1"/>
          <p:nvPr/>
        </p:nvSpPr>
        <p:spPr>
          <a:xfrm>
            <a:off x="2240280" y="3017520"/>
            <a:ext cx="960120" cy="640080"/>
          </a:xfrm>
          <a:prstGeom prst="rect">
            <a:avLst/>
          </a:prstGeom>
          <a:noFill/>
        </p:spPr>
        <p:txBody>
          <a:bodyPr wrap="none" anchor="ctr" lIns="0" rIns="0">
            <a:spAutoFit/>
          </a:bodyPr>
          <a:lstStyle/>
          <a:p>
            <a:pPr algn="ctr"/>
            <a:r>
              <a:rPr sz="2200">
                <a:solidFill>
                  <a:srgbClr val="1F4D3F"/>
                </a:solidFill>
                <a:latin typeface="Avenir Next"/>
              </a:rPr>
              <a:t>0.32</a:t>
            </a:r>
          </a:p>
        </p:txBody>
      </p:sp>
      <p:sp>
        <p:nvSpPr>
          <p:cNvPr id="31" name="TextBox 30"/>
          <p:cNvSpPr txBox="1"/>
          <p:nvPr/>
        </p:nvSpPr>
        <p:spPr>
          <a:xfrm>
            <a:off x="3200400" y="3017520"/>
            <a:ext cx="960120" cy="640080"/>
          </a:xfrm>
          <a:prstGeom prst="rect">
            <a:avLst/>
          </a:prstGeom>
          <a:noFill/>
        </p:spPr>
        <p:txBody>
          <a:bodyPr wrap="none" anchor="ctr" lIns="0" rIns="0">
            <a:spAutoFit/>
          </a:bodyPr>
          <a:lstStyle/>
          <a:p>
            <a:pPr algn="ctr"/>
            <a:r>
              <a:rPr sz="2200">
                <a:solidFill>
                  <a:srgbClr val="9AAE9F"/>
                </a:solidFill>
                <a:latin typeface="Avenir Next"/>
              </a:rPr>
              <a:t>0</a:t>
            </a:r>
          </a:p>
        </p:txBody>
      </p:sp>
      <p:sp>
        <p:nvSpPr>
          <p:cNvPr id="32" name="TextBox 31"/>
          <p:cNvSpPr txBox="1"/>
          <p:nvPr/>
        </p:nvSpPr>
        <p:spPr>
          <a:xfrm>
            <a:off x="1280160" y="3657600"/>
            <a:ext cx="960120" cy="640080"/>
          </a:xfrm>
          <a:prstGeom prst="rect">
            <a:avLst/>
          </a:prstGeom>
          <a:noFill/>
        </p:spPr>
        <p:txBody>
          <a:bodyPr wrap="none" anchor="ctr" lIns="0" rIns="0">
            <a:spAutoFit/>
          </a:bodyPr>
          <a:lstStyle/>
          <a:p>
            <a:pPr algn="ctr"/>
            <a:r>
              <a:rPr sz="2200">
                <a:solidFill>
                  <a:srgbClr val="9AAE9F"/>
                </a:solidFill>
                <a:latin typeface="Avenir Next"/>
              </a:rPr>
              <a:t>0</a:t>
            </a:r>
          </a:p>
        </p:txBody>
      </p:sp>
      <p:sp>
        <p:nvSpPr>
          <p:cNvPr id="33" name="TextBox 32"/>
          <p:cNvSpPr txBox="1"/>
          <p:nvPr/>
        </p:nvSpPr>
        <p:spPr>
          <a:xfrm>
            <a:off x="2240280" y="3657600"/>
            <a:ext cx="960120" cy="640080"/>
          </a:xfrm>
          <a:prstGeom prst="rect">
            <a:avLst/>
          </a:prstGeom>
          <a:noFill/>
        </p:spPr>
        <p:txBody>
          <a:bodyPr wrap="none" anchor="ctr" lIns="0" rIns="0">
            <a:spAutoFit/>
          </a:bodyPr>
          <a:lstStyle/>
          <a:p>
            <a:pPr algn="ctr"/>
            <a:r>
              <a:rPr sz="2200">
                <a:solidFill>
                  <a:srgbClr val="1F4D3F"/>
                </a:solidFill>
                <a:latin typeface="Avenir Next"/>
              </a:rPr>
              <a:t>0.12</a:t>
            </a:r>
          </a:p>
        </p:txBody>
      </p:sp>
      <p:sp>
        <p:nvSpPr>
          <p:cNvPr id="34" name="TextBox 33"/>
          <p:cNvSpPr txBox="1"/>
          <p:nvPr/>
        </p:nvSpPr>
        <p:spPr>
          <a:xfrm>
            <a:off x="3200400" y="3657600"/>
            <a:ext cx="960120" cy="640080"/>
          </a:xfrm>
          <a:prstGeom prst="rect">
            <a:avLst/>
          </a:prstGeom>
          <a:noFill/>
        </p:spPr>
        <p:txBody>
          <a:bodyPr wrap="none" anchor="ctr" lIns="0" rIns="0">
            <a:spAutoFit/>
          </a:bodyPr>
          <a:lstStyle/>
          <a:p>
            <a:pPr algn="ctr"/>
            <a:r>
              <a:rPr sz="2200">
                <a:solidFill>
                  <a:srgbClr val="1F4D3F"/>
                </a:solidFill>
                <a:latin typeface="Avenir Next"/>
              </a:rPr>
              <a:t>0.18</a:t>
            </a:r>
          </a:p>
        </p:txBody>
      </p:sp>
      <p:cxnSp>
        <p:nvCxnSpPr>
          <p:cNvPr id="35" name="Connector 34"/>
          <p:cNvCxnSpPr/>
          <p:nvPr/>
        </p:nvCxnSpPr>
        <p:spPr>
          <a:xfrm>
            <a:off x="1234439" y="2377440"/>
            <a:ext cx="0" cy="1920239"/>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34439" y="2377440"/>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234439" y="4297679"/>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206240" y="2377440"/>
            <a:ext cx="0" cy="1920239"/>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4078224" y="2377440"/>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4078224" y="4297679"/>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1280160" y="1965960"/>
            <a:ext cx="960120" cy="365760"/>
          </a:xfrm>
          <a:prstGeom prst="rect">
            <a:avLst/>
          </a:prstGeom>
          <a:noFill/>
        </p:spPr>
        <p:txBody>
          <a:bodyPr wrap="square">
            <a:spAutoFit/>
          </a:bodyPr>
          <a:lstStyle/>
          <a:p>
            <a:pPr algn="ctr"/>
            <a:r>
              <a:rPr sz="1400">
                <a:solidFill>
                  <a:srgbClr val="6E6F68"/>
                </a:solidFill>
                <a:latin typeface="Avenir Next"/>
              </a:rPr>
              <a:t>Juv.</a:t>
            </a:r>
          </a:p>
        </p:txBody>
      </p:sp>
      <p:sp>
        <p:nvSpPr>
          <p:cNvPr id="42" name="TextBox 41"/>
          <p:cNvSpPr txBox="1"/>
          <p:nvPr/>
        </p:nvSpPr>
        <p:spPr>
          <a:xfrm>
            <a:off x="2240280" y="1965960"/>
            <a:ext cx="960120" cy="365760"/>
          </a:xfrm>
          <a:prstGeom prst="rect">
            <a:avLst/>
          </a:prstGeom>
          <a:noFill/>
        </p:spPr>
        <p:txBody>
          <a:bodyPr wrap="square">
            <a:spAutoFit/>
          </a:bodyPr>
          <a:lstStyle/>
          <a:p>
            <a:pPr algn="ctr"/>
            <a:r>
              <a:rPr sz="1400">
                <a:solidFill>
                  <a:srgbClr val="6E6F68"/>
                </a:solidFill>
                <a:latin typeface="Avenir Next"/>
              </a:rPr>
              <a:t>Adult</a:t>
            </a:r>
          </a:p>
        </p:txBody>
      </p:sp>
      <p:sp>
        <p:nvSpPr>
          <p:cNvPr id="43" name="TextBox 42"/>
          <p:cNvSpPr txBox="1"/>
          <p:nvPr/>
        </p:nvSpPr>
        <p:spPr>
          <a:xfrm>
            <a:off x="3200400" y="1965960"/>
            <a:ext cx="960120" cy="365760"/>
          </a:xfrm>
          <a:prstGeom prst="rect">
            <a:avLst/>
          </a:prstGeom>
          <a:noFill/>
        </p:spPr>
        <p:txBody>
          <a:bodyPr wrap="square">
            <a:spAutoFit/>
          </a:bodyPr>
          <a:lstStyle/>
          <a:p>
            <a:pPr algn="ctr"/>
            <a:r>
              <a:rPr sz="1400">
                <a:solidFill>
                  <a:srgbClr val="6E6F68"/>
                </a:solidFill>
                <a:latin typeface="Avenir Next"/>
              </a:rPr>
              <a:t>Post-r.</a:t>
            </a:r>
          </a:p>
        </p:txBody>
      </p:sp>
      <p:sp>
        <p:nvSpPr>
          <p:cNvPr id="44" name="TextBox 43"/>
          <p:cNvSpPr txBox="1"/>
          <p:nvPr/>
        </p:nvSpPr>
        <p:spPr>
          <a:xfrm>
            <a:off x="4343400" y="2743200"/>
            <a:ext cx="457200" cy="731520"/>
          </a:xfrm>
          <a:prstGeom prst="rect">
            <a:avLst/>
          </a:prstGeom>
          <a:noFill/>
        </p:spPr>
        <p:txBody>
          <a:bodyPr wrap="square">
            <a:spAutoFit/>
          </a:bodyPr>
          <a:lstStyle/>
          <a:p>
            <a:pPr algn="ctr"/>
            <a:r>
              <a:rPr sz="3000">
                <a:solidFill>
                  <a:srgbClr val="1F2623"/>
                </a:solidFill>
                <a:latin typeface="Avenir Next"/>
              </a:rPr>
              <a:t>×</a:t>
            </a:r>
          </a:p>
        </p:txBody>
      </p:sp>
      <p:sp>
        <p:nvSpPr>
          <p:cNvPr id="45" name="TextBox 44"/>
          <p:cNvSpPr txBox="1"/>
          <p:nvPr/>
        </p:nvSpPr>
        <p:spPr>
          <a:xfrm>
            <a:off x="4937760" y="2377440"/>
            <a:ext cx="868680" cy="640080"/>
          </a:xfrm>
          <a:prstGeom prst="rect">
            <a:avLst/>
          </a:prstGeom>
          <a:noFill/>
        </p:spPr>
        <p:txBody>
          <a:bodyPr wrap="none" anchor="ctr" lIns="0" rIns="0">
            <a:spAutoFit/>
          </a:bodyPr>
          <a:lstStyle/>
          <a:p>
            <a:pPr algn="ctr"/>
            <a:r>
              <a:rPr sz="2200">
                <a:solidFill>
                  <a:srgbClr val="1F2623"/>
                </a:solidFill>
                <a:latin typeface="Avenir Next"/>
              </a:rPr>
              <a:t>100</a:t>
            </a:r>
          </a:p>
        </p:txBody>
      </p:sp>
      <p:sp>
        <p:nvSpPr>
          <p:cNvPr id="46" name="TextBox 45"/>
          <p:cNvSpPr txBox="1"/>
          <p:nvPr/>
        </p:nvSpPr>
        <p:spPr>
          <a:xfrm>
            <a:off x="4937760" y="3017520"/>
            <a:ext cx="868680" cy="640080"/>
          </a:xfrm>
          <a:prstGeom prst="rect">
            <a:avLst/>
          </a:prstGeom>
          <a:noFill/>
        </p:spPr>
        <p:txBody>
          <a:bodyPr wrap="none" anchor="ctr" lIns="0" rIns="0">
            <a:spAutoFit/>
          </a:bodyPr>
          <a:lstStyle/>
          <a:p>
            <a:pPr algn="ctr"/>
            <a:r>
              <a:rPr sz="2200">
                <a:solidFill>
                  <a:srgbClr val="1F2623"/>
                </a:solidFill>
                <a:latin typeface="Avenir Next"/>
              </a:rPr>
              <a:t>50</a:t>
            </a:r>
          </a:p>
        </p:txBody>
      </p:sp>
      <p:sp>
        <p:nvSpPr>
          <p:cNvPr id="47" name="TextBox 46"/>
          <p:cNvSpPr txBox="1"/>
          <p:nvPr/>
        </p:nvSpPr>
        <p:spPr>
          <a:xfrm>
            <a:off x="4937760" y="3657600"/>
            <a:ext cx="868680" cy="640080"/>
          </a:xfrm>
          <a:prstGeom prst="rect">
            <a:avLst/>
          </a:prstGeom>
          <a:noFill/>
        </p:spPr>
        <p:txBody>
          <a:bodyPr wrap="none" anchor="ctr" lIns="0" rIns="0">
            <a:spAutoFit/>
          </a:bodyPr>
          <a:lstStyle/>
          <a:p>
            <a:pPr algn="ctr"/>
            <a:r>
              <a:rPr sz="2200">
                <a:solidFill>
                  <a:srgbClr val="1F2623"/>
                </a:solidFill>
                <a:latin typeface="Avenir Next"/>
              </a:rPr>
              <a:t>20</a:t>
            </a:r>
          </a:p>
        </p:txBody>
      </p:sp>
      <p:cxnSp>
        <p:nvCxnSpPr>
          <p:cNvPr id="48" name="Connector 47"/>
          <p:cNvCxnSpPr/>
          <p:nvPr/>
        </p:nvCxnSpPr>
        <p:spPr>
          <a:xfrm>
            <a:off x="4892040" y="2377440"/>
            <a:ext cx="0" cy="1920239"/>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4892040" y="2377440"/>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4892040" y="4297679"/>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5852160" y="2377440"/>
            <a:ext cx="0" cy="1920239"/>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5724144" y="2377440"/>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5724144" y="4297679"/>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4937760" y="1965960"/>
            <a:ext cx="868680" cy="365760"/>
          </a:xfrm>
          <a:prstGeom prst="rect">
            <a:avLst/>
          </a:prstGeom>
          <a:noFill/>
        </p:spPr>
        <p:txBody>
          <a:bodyPr wrap="square">
            <a:spAutoFit/>
          </a:bodyPr>
          <a:lstStyle/>
          <a:p>
            <a:pPr algn="ctr"/>
            <a:r>
              <a:rPr sz="1600">
                <a:solidFill>
                  <a:srgbClr val="6E6F68"/>
                </a:solidFill>
                <a:latin typeface="Avenir Next"/>
              </a:rPr>
              <a:t>n</a:t>
            </a:r>
            <a:r>
              <a:rPr baseline="-25000" sz="1600">
                <a:solidFill>
                  <a:srgbClr val="6E6F68"/>
                </a:solidFill>
                <a:latin typeface="Avenir Next"/>
              </a:rPr>
              <a:t>t</a:t>
            </a:r>
          </a:p>
        </p:txBody>
      </p:sp>
      <p:sp>
        <p:nvSpPr>
          <p:cNvPr id="55" name="TextBox 54"/>
          <p:cNvSpPr txBox="1"/>
          <p:nvPr/>
        </p:nvSpPr>
        <p:spPr>
          <a:xfrm>
            <a:off x="5989320" y="2743200"/>
            <a:ext cx="457200" cy="731520"/>
          </a:xfrm>
          <a:prstGeom prst="rect">
            <a:avLst/>
          </a:prstGeom>
          <a:noFill/>
        </p:spPr>
        <p:txBody>
          <a:bodyPr wrap="square">
            <a:spAutoFit/>
          </a:bodyPr>
          <a:lstStyle/>
          <a:p>
            <a:pPr algn="ctr"/>
            <a:r>
              <a:rPr sz="3000">
                <a:solidFill>
                  <a:srgbClr val="1F2623"/>
                </a:solidFill>
                <a:latin typeface="Avenir Next"/>
              </a:rPr>
              <a:t>=</a:t>
            </a:r>
          </a:p>
        </p:txBody>
      </p:sp>
      <p:sp>
        <p:nvSpPr>
          <p:cNvPr id="56" name="TextBox 55"/>
          <p:cNvSpPr txBox="1"/>
          <p:nvPr/>
        </p:nvSpPr>
        <p:spPr>
          <a:xfrm>
            <a:off x="6583680" y="2377440"/>
            <a:ext cx="1005840" cy="640080"/>
          </a:xfrm>
          <a:prstGeom prst="rect">
            <a:avLst/>
          </a:prstGeom>
          <a:noFill/>
        </p:spPr>
        <p:txBody>
          <a:bodyPr wrap="none" anchor="ctr" lIns="0" rIns="0">
            <a:spAutoFit/>
          </a:bodyPr>
          <a:lstStyle/>
          <a:p>
            <a:pPr algn="ctr"/>
            <a:r>
              <a:rPr sz="2200" b="1">
                <a:solidFill>
                  <a:srgbClr val="1F2623"/>
                </a:solidFill>
                <a:latin typeface="Avenir Next"/>
              </a:rPr>
              <a:t>241.5</a:t>
            </a:r>
          </a:p>
        </p:txBody>
      </p:sp>
      <p:sp>
        <p:nvSpPr>
          <p:cNvPr id="57" name="TextBox 56"/>
          <p:cNvSpPr txBox="1"/>
          <p:nvPr/>
        </p:nvSpPr>
        <p:spPr>
          <a:xfrm>
            <a:off x="6583680" y="3017520"/>
            <a:ext cx="1005840" cy="640080"/>
          </a:xfrm>
          <a:prstGeom prst="rect">
            <a:avLst/>
          </a:prstGeom>
          <a:noFill/>
        </p:spPr>
        <p:txBody>
          <a:bodyPr wrap="none" anchor="ctr" lIns="0" rIns="0">
            <a:spAutoFit/>
          </a:bodyPr>
          <a:lstStyle/>
          <a:p>
            <a:pPr algn="ctr"/>
            <a:r>
              <a:rPr sz="2200" b="1">
                <a:solidFill>
                  <a:srgbClr val="C08A2E"/>
                </a:solidFill>
                <a:latin typeface="Avenir Next"/>
              </a:rPr>
              <a:t>?</a:t>
            </a:r>
          </a:p>
        </p:txBody>
      </p:sp>
      <p:sp>
        <p:nvSpPr>
          <p:cNvPr id="58" name="TextBox 57"/>
          <p:cNvSpPr txBox="1"/>
          <p:nvPr/>
        </p:nvSpPr>
        <p:spPr>
          <a:xfrm>
            <a:off x="6583680" y="3657600"/>
            <a:ext cx="1005840" cy="640080"/>
          </a:xfrm>
          <a:prstGeom prst="rect">
            <a:avLst/>
          </a:prstGeom>
          <a:noFill/>
        </p:spPr>
        <p:txBody>
          <a:bodyPr wrap="none" anchor="ctr" lIns="0" rIns="0">
            <a:spAutoFit/>
          </a:bodyPr>
          <a:lstStyle/>
          <a:p>
            <a:pPr algn="ctr"/>
            <a:r>
              <a:rPr sz="2200" b="1">
                <a:solidFill>
                  <a:srgbClr val="C08A2E"/>
                </a:solidFill>
                <a:latin typeface="Avenir Next"/>
              </a:rPr>
              <a:t>?</a:t>
            </a:r>
          </a:p>
        </p:txBody>
      </p:sp>
      <p:cxnSp>
        <p:nvCxnSpPr>
          <p:cNvPr id="59" name="Connector 58"/>
          <p:cNvCxnSpPr/>
          <p:nvPr/>
        </p:nvCxnSpPr>
        <p:spPr>
          <a:xfrm>
            <a:off x="6537960" y="2377440"/>
            <a:ext cx="0" cy="1920239"/>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6537960" y="2377440"/>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6537960" y="4297679"/>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7635240" y="2377440"/>
            <a:ext cx="0" cy="1920239"/>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a:off x="7507224" y="2377440"/>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a:off x="7507224" y="4297679"/>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6583680" y="1965960"/>
            <a:ext cx="1005840" cy="365760"/>
          </a:xfrm>
          <a:prstGeom prst="rect">
            <a:avLst/>
          </a:prstGeom>
          <a:noFill/>
        </p:spPr>
        <p:txBody>
          <a:bodyPr wrap="square">
            <a:spAutoFit/>
          </a:bodyPr>
          <a:lstStyle/>
          <a:p>
            <a:pPr algn="ctr"/>
            <a:r>
              <a:rPr sz="1600">
                <a:solidFill>
                  <a:srgbClr val="6E6F68"/>
                </a:solidFill>
                <a:latin typeface="Avenir Next"/>
              </a:rPr>
              <a:t>n</a:t>
            </a:r>
            <a:r>
              <a:rPr baseline="-25000" sz="1600">
                <a:solidFill>
                  <a:srgbClr val="6E6F68"/>
                </a:solidFill>
                <a:latin typeface="Avenir Next"/>
              </a:rPr>
              <a:t>t+1</a:t>
            </a:r>
          </a:p>
        </p:txBody>
      </p:sp>
      <p:sp>
        <p:nvSpPr>
          <p:cNvPr id="66" name="TextBox 65"/>
          <p:cNvSpPr txBox="1"/>
          <p:nvPr/>
        </p:nvSpPr>
        <p:spPr>
          <a:xfrm>
            <a:off x="7726680" y="2377440"/>
            <a:ext cx="1463040" cy="640080"/>
          </a:xfrm>
          <a:prstGeom prst="rect">
            <a:avLst/>
          </a:prstGeom>
          <a:noFill/>
        </p:spPr>
        <p:txBody>
          <a:bodyPr wrap="square" anchor="ctr">
            <a:spAutoFit/>
          </a:bodyPr>
          <a:lstStyle/>
          <a:p>
            <a:pPr algn="l"/>
            <a:r>
              <a:rPr sz="1600">
                <a:solidFill>
                  <a:srgbClr val="6E6F68"/>
                </a:solidFill>
                <a:latin typeface="Avenir Next"/>
              </a:rPr>
              <a:t>Juveniles</a:t>
            </a:r>
          </a:p>
        </p:txBody>
      </p:sp>
      <p:sp>
        <p:nvSpPr>
          <p:cNvPr id="67" name="TextBox 66"/>
          <p:cNvSpPr txBox="1"/>
          <p:nvPr/>
        </p:nvSpPr>
        <p:spPr>
          <a:xfrm>
            <a:off x="7726680" y="3017520"/>
            <a:ext cx="1463040" cy="640080"/>
          </a:xfrm>
          <a:prstGeom prst="rect">
            <a:avLst/>
          </a:prstGeom>
          <a:noFill/>
        </p:spPr>
        <p:txBody>
          <a:bodyPr wrap="square" anchor="ctr">
            <a:spAutoFit/>
          </a:bodyPr>
          <a:lstStyle/>
          <a:p>
            <a:pPr algn="l"/>
            <a:r>
              <a:rPr sz="1600">
                <a:solidFill>
                  <a:srgbClr val="6E6F68"/>
                </a:solidFill>
                <a:latin typeface="Avenir Next"/>
              </a:rPr>
              <a:t>Adults</a:t>
            </a:r>
          </a:p>
        </p:txBody>
      </p:sp>
      <p:sp>
        <p:nvSpPr>
          <p:cNvPr id="68" name="TextBox 67"/>
          <p:cNvSpPr txBox="1"/>
          <p:nvPr/>
        </p:nvSpPr>
        <p:spPr>
          <a:xfrm>
            <a:off x="7726680" y="3657600"/>
            <a:ext cx="1463040" cy="640080"/>
          </a:xfrm>
          <a:prstGeom prst="rect">
            <a:avLst/>
          </a:prstGeom>
          <a:noFill/>
        </p:spPr>
        <p:txBody>
          <a:bodyPr wrap="square" anchor="ctr">
            <a:spAutoFit/>
          </a:bodyPr>
          <a:lstStyle/>
          <a:p>
            <a:pPr algn="l"/>
            <a:r>
              <a:rPr sz="1600">
                <a:solidFill>
                  <a:srgbClr val="6E6F68"/>
                </a:solidFill>
                <a:latin typeface="Avenir Next"/>
              </a:rPr>
              <a:t>Post-repro.</a:t>
            </a:r>
          </a:p>
        </p:txBody>
      </p:sp>
      <p:sp>
        <p:nvSpPr>
          <p:cNvPr id="69" name="TextBox 68"/>
          <p:cNvSpPr txBox="1"/>
          <p:nvPr/>
        </p:nvSpPr>
        <p:spPr>
          <a:xfrm>
            <a:off x="914400" y="4617720"/>
            <a:ext cx="10332720" cy="1371600"/>
          </a:xfrm>
          <a:prstGeom prst="rect">
            <a:avLst/>
          </a:prstGeom>
          <a:noFill/>
        </p:spPr>
        <p:txBody>
          <a:bodyPr wrap="square">
            <a:spAutoFit/>
          </a:bodyPr>
          <a:lstStyle/>
          <a:p>
            <a:pPr algn="l"/>
            <a:r>
              <a:rPr b="1" sz="1800">
                <a:solidFill>
                  <a:srgbClr val="1F2623"/>
                </a:solidFill>
                <a:latin typeface="Avenir Next"/>
              </a:rPr>
              <a:t>Juveniles:</a:t>
            </a:r>
            <a:r>
              <a:rPr sz="1800">
                <a:solidFill>
                  <a:srgbClr val="1F2623"/>
                </a:solidFill>
                <a:latin typeface="Avenir Next"/>
              </a:rPr>
              <a:t> 0.14 × 100 + 4.55 × 50 + 0 × 20 = 14 + 227.5 = 241.5</a:t>
            </a:r>
          </a:p>
          <a:p>
            <a:pPr algn="l"/>
            <a:r>
              <a:rPr b="1" sz="1800">
                <a:solidFill>
                  <a:srgbClr val="1F2623"/>
                </a:solidFill>
                <a:latin typeface="Avenir Next"/>
              </a:rPr>
              <a:t>Your turn:</a:t>
            </a:r>
            <a:r>
              <a:rPr sz="1800">
                <a:solidFill>
                  <a:srgbClr val="1F2623"/>
                </a:solidFill>
                <a:latin typeface="Avenir Next"/>
              </a:rPr>
              <a:t> use the adult row and the post-reproductive row in the same way.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Projecting one year: the answer</a:t>
            </a:r>
          </a:p>
        </p:txBody>
      </p:sp>
      <p:sp>
        <p:nvSpPr>
          <p:cNvPr id="26" name="TextBox 25"/>
          <p:cNvSpPr txBox="1"/>
          <p:nvPr/>
        </p:nvSpPr>
        <p:spPr>
          <a:xfrm>
            <a:off x="1280160" y="2377440"/>
            <a:ext cx="960120" cy="640080"/>
          </a:xfrm>
          <a:prstGeom prst="rect">
            <a:avLst/>
          </a:prstGeom>
          <a:noFill/>
        </p:spPr>
        <p:txBody>
          <a:bodyPr wrap="none" anchor="ctr" lIns="0" rIns="0">
            <a:spAutoFit/>
          </a:bodyPr>
          <a:lstStyle/>
          <a:p>
            <a:pPr algn="ctr"/>
            <a:r>
              <a:rPr sz="2200">
                <a:solidFill>
                  <a:srgbClr val="A4503A"/>
                </a:solidFill>
                <a:latin typeface="Avenir Next"/>
              </a:rPr>
              <a:t>0.14</a:t>
            </a:r>
          </a:p>
        </p:txBody>
      </p:sp>
      <p:sp>
        <p:nvSpPr>
          <p:cNvPr id="27" name="TextBox 26"/>
          <p:cNvSpPr txBox="1"/>
          <p:nvPr/>
        </p:nvSpPr>
        <p:spPr>
          <a:xfrm>
            <a:off x="2240280" y="2377440"/>
            <a:ext cx="960120" cy="640080"/>
          </a:xfrm>
          <a:prstGeom prst="rect">
            <a:avLst/>
          </a:prstGeom>
          <a:noFill/>
        </p:spPr>
        <p:txBody>
          <a:bodyPr wrap="none" anchor="ctr" lIns="0" rIns="0">
            <a:spAutoFit/>
          </a:bodyPr>
          <a:lstStyle/>
          <a:p>
            <a:pPr algn="ctr"/>
            <a:r>
              <a:rPr sz="2200">
                <a:solidFill>
                  <a:srgbClr val="A4503A"/>
                </a:solidFill>
                <a:latin typeface="Avenir Next"/>
              </a:rPr>
              <a:t>4.55</a:t>
            </a:r>
          </a:p>
        </p:txBody>
      </p:sp>
      <p:sp>
        <p:nvSpPr>
          <p:cNvPr id="28" name="TextBox 27"/>
          <p:cNvSpPr txBox="1"/>
          <p:nvPr/>
        </p:nvSpPr>
        <p:spPr>
          <a:xfrm>
            <a:off x="3200400" y="2377440"/>
            <a:ext cx="960120" cy="640080"/>
          </a:xfrm>
          <a:prstGeom prst="rect">
            <a:avLst/>
          </a:prstGeom>
          <a:noFill/>
        </p:spPr>
        <p:txBody>
          <a:bodyPr wrap="none" anchor="ctr" lIns="0" rIns="0">
            <a:spAutoFit/>
          </a:bodyPr>
          <a:lstStyle/>
          <a:p>
            <a:pPr algn="ctr"/>
            <a:r>
              <a:rPr sz="2200">
                <a:solidFill>
                  <a:srgbClr val="9AAE9F"/>
                </a:solidFill>
                <a:latin typeface="Avenir Next"/>
              </a:rPr>
              <a:t>0</a:t>
            </a:r>
          </a:p>
        </p:txBody>
      </p:sp>
      <p:sp>
        <p:nvSpPr>
          <p:cNvPr id="29" name="TextBox 28"/>
          <p:cNvSpPr txBox="1"/>
          <p:nvPr/>
        </p:nvSpPr>
        <p:spPr>
          <a:xfrm>
            <a:off x="1280160" y="3017520"/>
            <a:ext cx="960120" cy="640080"/>
          </a:xfrm>
          <a:prstGeom prst="rect">
            <a:avLst/>
          </a:prstGeom>
          <a:noFill/>
        </p:spPr>
        <p:txBody>
          <a:bodyPr wrap="none" anchor="ctr" lIns="0" rIns="0">
            <a:spAutoFit/>
          </a:bodyPr>
          <a:lstStyle/>
          <a:p>
            <a:pPr algn="ctr"/>
            <a:r>
              <a:rPr sz="2200">
                <a:solidFill>
                  <a:srgbClr val="1F4D3F"/>
                </a:solidFill>
                <a:latin typeface="Avenir Next"/>
              </a:rPr>
              <a:t>0.26</a:t>
            </a:r>
          </a:p>
        </p:txBody>
      </p:sp>
      <p:sp>
        <p:nvSpPr>
          <p:cNvPr id="30" name="TextBox 29"/>
          <p:cNvSpPr txBox="1"/>
          <p:nvPr/>
        </p:nvSpPr>
        <p:spPr>
          <a:xfrm>
            <a:off x="2240280" y="3017520"/>
            <a:ext cx="960120" cy="640080"/>
          </a:xfrm>
          <a:prstGeom prst="rect">
            <a:avLst/>
          </a:prstGeom>
          <a:noFill/>
        </p:spPr>
        <p:txBody>
          <a:bodyPr wrap="none" anchor="ctr" lIns="0" rIns="0">
            <a:spAutoFit/>
          </a:bodyPr>
          <a:lstStyle/>
          <a:p>
            <a:pPr algn="ctr"/>
            <a:r>
              <a:rPr sz="2200">
                <a:solidFill>
                  <a:srgbClr val="1F4D3F"/>
                </a:solidFill>
                <a:latin typeface="Avenir Next"/>
              </a:rPr>
              <a:t>0.32</a:t>
            </a:r>
          </a:p>
        </p:txBody>
      </p:sp>
      <p:sp>
        <p:nvSpPr>
          <p:cNvPr id="31" name="TextBox 30"/>
          <p:cNvSpPr txBox="1"/>
          <p:nvPr/>
        </p:nvSpPr>
        <p:spPr>
          <a:xfrm>
            <a:off x="3200400" y="3017520"/>
            <a:ext cx="960120" cy="640080"/>
          </a:xfrm>
          <a:prstGeom prst="rect">
            <a:avLst/>
          </a:prstGeom>
          <a:noFill/>
        </p:spPr>
        <p:txBody>
          <a:bodyPr wrap="none" anchor="ctr" lIns="0" rIns="0">
            <a:spAutoFit/>
          </a:bodyPr>
          <a:lstStyle/>
          <a:p>
            <a:pPr algn="ctr"/>
            <a:r>
              <a:rPr sz="2200">
                <a:solidFill>
                  <a:srgbClr val="9AAE9F"/>
                </a:solidFill>
                <a:latin typeface="Avenir Next"/>
              </a:rPr>
              <a:t>0</a:t>
            </a:r>
          </a:p>
        </p:txBody>
      </p:sp>
      <p:sp>
        <p:nvSpPr>
          <p:cNvPr id="32" name="TextBox 31"/>
          <p:cNvSpPr txBox="1"/>
          <p:nvPr/>
        </p:nvSpPr>
        <p:spPr>
          <a:xfrm>
            <a:off x="1280160" y="3657600"/>
            <a:ext cx="960120" cy="640080"/>
          </a:xfrm>
          <a:prstGeom prst="rect">
            <a:avLst/>
          </a:prstGeom>
          <a:noFill/>
        </p:spPr>
        <p:txBody>
          <a:bodyPr wrap="none" anchor="ctr" lIns="0" rIns="0">
            <a:spAutoFit/>
          </a:bodyPr>
          <a:lstStyle/>
          <a:p>
            <a:pPr algn="ctr"/>
            <a:r>
              <a:rPr sz="2200">
                <a:solidFill>
                  <a:srgbClr val="9AAE9F"/>
                </a:solidFill>
                <a:latin typeface="Avenir Next"/>
              </a:rPr>
              <a:t>0</a:t>
            </a:r>
          </a:p>
        </p:txBody>
      </p:sp>
      <p:sp>
        <p:nvSpPr>
          <p:cNvPr id="33" name="TextBox 32"/>
          <p:cNvSpPr txBox="1"/>
          <p:nvPr/>
        </p:nvSpPr>
        <p:spPr>
          <a:xfrm>
            <a:off x="2240280" y="3657600"/>
            <a:ext cx="960120" cy="640080"/>
          </a:xfrm>
          <a:prstGeom prst="rect">
            <a:avLst/>
          </a:prstGeom>
          <a:noFill/>
        </p:spPr>
        <p:txBody>
          <a:bodyPr wrap="none" anchor="ctr" lIns="0" rIns="0">
            <a:spAutoFit/>
          </a:bodyPr>
          <a:lstStyle/>
          <a:p>
            <a:pPr algn="ctr"/>
            <a:r>
              <a:rPr sz="2200">
                <a:solidFill>
                  <a:srgbClr val="1F4D3F"/>
                </a:solidFill>
                <a:latin typeface="Avenir Next"/>
              </a:rPr>
              <a:t>0.12</a:t>
            </a:r>
          </a:p>
        </p:txBody>
      </p:sp>
      <p:sp>
        <p:nvSpPr>
          <p:cNvPr id="34" name="TextBox 33"/>
          <p:cNvSpPr txBox="1"/>
          <p:nvPr/>
        </p:nvSpPr>
        <p:spPr>
          <a:xfrm>
            <a:off x="3200400" y="3657600"/>
            <a:ext cx="960120" cy="640080"/>
          </a:xfrm>
          <a:prstGeom prst="rect">
            <a:avLst/>
          </a:prstGeom>
          <a:noFill/>
        </p:spPr>
        <p:txBody>
          <a:bodyPr wrap="none" anchor="ctr" lIns="0" rIns="0">
            <a:spAutoFit/>
          </a:bodyPr>
          <a:lstStyle/>
          <a:p>
            <a:pPr algn="ctr"/>
            <a:r>
              <a:rPr sz="2200">
                <a:solidFill>
                  <a:srgbClr val="1F4D3F"/>
                </a:solidFill>
                <a:latin typeface="Avenir Next"/>
              </a:rPr>
              <a:t>0.18</a:t>
            </a:r>
          </a:p>
        </p:txBody>
      </p:sp>
      <p:cxnSp>
        <p:nvCxnSpPr>
          <p:cNvPr id="35" name="Connector 34"/>
          <p:cNvCxnSpPr/>
          <p:nvPr/>
        </p:nvCxnSpPr>
        <p:spPr>
          <a:xfrm>
            <a:off x="1234439" y="2377440"/>
            <a:ext cx="0" cy="1920239"/>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34439" y="2377440"/>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234439" y="4297679"/>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206240" y="2377440"/>
            <a:ext cx="0" cy="1920239"/>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4078224" y="2377440"/>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4078224" y="4297679"/>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1280160" y="1965960"/>
            <a:ext cx="960120" cy="365760"/>
          </a:xfrm>
          <a:prstGeom prst="rect">
            <a:avLst/>
          </a:prstGeom>
          <a:noFill/>
        </p:spPr>
        <p:txBody>
          <a:bodyPr wrap="square">
            <a:spAutoFit/>
          </a:bodyPr>
          <a:lstStyle/>
          <a:p>
            <a:pPr algn="ctr"/>
            <a:r>
              <a:rPr sz="1400">
                <a:solidFill>
                  <a:srgbClr val="6E6F68"/>
                </a:solidFill>
                <a:latin typeface="Avenir Next"/>
              </a:rPr>
              <a:t>Juv.</a:t>
            </a:r>
          </a:p>
        </p:txBody>
      </p:sp>
      <p:sp>
        <p:nvSpPr>
          <p:cNvPr id="42" name="TextBox 41"/>
          <p:cNvSpPr txBox="1"/>
          <p:nvPr/>
        </p:nvSpPr>
        <p:spPr>
          <a:xfrm>
            <a:off x="2240280" y="1965960"/>
            <a:ext cx="960120" cy="365760"/>
          </a:xfrm>
          <a:prstGeom prst="rect">
            <a:avLst/>
          </a:prstGeom>
          <a:noFill/>
        </p:spPr>
        <p:txBody>
          <a:bodyPr wrap="square">
            <a:spAutoFit/>
          </a:bodyPr>
          <a:lstStyle/>
          <a:p>
            <a:pPr algn="ctr"/>
            <a:r>
              <a:rPr sz="1400">
                <a:solidFill>
                  <a:srgbClr val="6E6F68"/>
                </a:solidFill>
                <a:latin typeface="Avenir Next"/>
              </a:rPr>
              <a:t>Adult</a:t>
            </a:r>
          </a:p>
        </p:txBody>
      </p:sp>
      <p:sp>
        <p:nvSpPr>
          <p:cNvPr id="43" name="TextBox 42"/>
          <p:cNvSpPr txBox="1"/>
          <p:nvPr/>
        </p:nvSpPr>
        <p:spPr>
          <a:xfrm>
            <a:off x="3200400" y="1965960"/>
            <a:ext cx="960120" cy="365760"/>
          </a:xfrm>
          <a:prstGeom prst="rect">
            <a:avLst/>
          </a:prstGeom>
          <a:noFill/>
        </p:spPr>
        <p:txBody>
          <a:bodyPr wrap="square">
            <a:spAutoFit/>
          </a:bodyPr>
          <a:lstStyle/>
          <a:p>
            <a:pPr algn="ctr"/>
            <a:r>
              <a:rPr sz="1400">
                <a:solidFill>
                  <a:srgbClr val="6E6F68"/>
                </a:solidFill>
                <a:latin typeface="Avenir Next"/>
              </a:rPr>
              <a:t>Post-r.</a:t>
            </a:r>
          </a:p>
        </p:txBody>
      </p:sp>
      <p:sp>
        <p:nvSpPr>
          <p:cNvPr id="44" name="TextBox 43"/>
          <p:cNvSpPr txBox="1"/>
          <p:nvPr/>
        </p:nvSpPr>
        <p:spPr>
          <a:xfrm>
            <a:off x="4343400" y="2743200"/>
            <a:ext cx="457200" cy="731520"/>
          </a:xfrm>
          <a:prstGeom prst="rect">
            <a:avLst/>
          </a:prstGeom>
          <a:noFill/>
        </p:spPr>
        <p:txBody>
          <a:bodyPr wrap="square">
            <a:spAutoFit/>
          </a:bodyPr>
          <a:lstStyle/>
          <a:p>
            <a:pPr algn="ctr"/>
            <a:r>
              <a:rPr sz="3000">
                <a:solidFill>
                  <a:srgbClr val="1F2623"/>
                </a:solidFill>
                <a:latin typeface="Avenir Next"/>
              </a:rPr>
              <a:t>×</a:t>
            </a:r>
          </a:p>
        </p:txBody>
      </p:sp>
      <p:sp>
        <p:nvSpPr>
          <p:cNvPr id="45" name="TextBox 44"/>
          <p:cNvSpPr txBox="1"/>
          <p:nvPr/>
        </p:nvSpPr>
        <p:spPr>
          <a:xfrm>
            <a:off x="4937760" y="2377440"/>
            <a:ext cx="868680" cy="640080"/>
          </a:xfrm>
          <a:prstGeom prst="rect">
            <a:avLst/>
          </a:prstGeom>
          <a:noFill/>
        </p:spPr>
        <p:txBody>
          <a:bodyPr wrap="none" anchor="ctr" lIns="0" rIns="0">
            <a:spAutoFit/>
          </a:bodyPr>
          <a:lstStyle/>
          <a:p>
            <a:pPr algn="ctr"/>
            <a:r>
              <a:rPr sz="2200">
                <a:solidFill>
                  <a:srgbClr val="1F2623"/>
                </a:solidFill>
                <a:latin typeface="Avenir Next"/>
              </a:rPr>
              <a:t>100</a:t>
            </a:r>
          </a:p>
        </p:txBody>
      </p:sp>
      <p:sp>
        <p:nvSpPr>
          <p:cNvPr id="46" name="TextBox 45"/>
          <p:cNvSpPr txBox="1"/>
          <p:nvPr/>
        </p:nvSpPr>
        <p:spPr>
          <a:xfrm>
            <a:off x="4937760" y="3017520"/>
            <a:ext cx="868680" cy="640080"/>
          </a:xfrm>
          <a:prstGeom prst="rect">
            <a:avLst/>
          </a:prstGeom>
          <a:noFill/>
        </p:spPr>
        <p:txBody>
          <a:bodyPr wrap="none" anchor="ctr" lIns="0" rIns="0">
            <a:spAutoFit/>
          </a:bodyPr>
          <a:lstStyle/>
          <a:p>
            <a:pPr algn="ctr"/>
            <a:r>
              <a:rPr sz="2200">
                <a:solidFill>
                  <a:srgbClr val="1F2623"/>
                </a:solidFill>
                <a:latin typeface="Avenir Next"/>
              </a:rPr>
              <a:t>50</a:t>
            </a:r>
          </a:p>
        </p:txBody>
      </p:sp>
      <p:sp>
        <p:nvSpPr>
          <p:cNvPr id="47" name="TextBox 46"/>
          <p:cNvSpPr txBox="1"/>
          <p:nvPr/>
        </p:nvSpPr>
        <p:spPr>
          <a:xfrm>
            <a:off x="4937760" y="3657600"/>
            <a:ext cx="868680" cy="640080"/>
          </a:xfrm>
          <a:prstGeom prst="rect">
            <a:avLst/>
          </a:prstGeom>
          <a:noFill/>
        </p:spPr>
        <p:txBody>
          <a:bodyPr wrap="none" anchor="ctr" lIns="0" rIns="0">
            <a:spAutoFit/>
          </a:bodyPr>
          <a:lstStyle/>
          <a:p>
            <a:pPr algn="ctr"/>
            <a:r>
              <a:rPr sz="2200">
                <a:solidFill>
                  <a:srgbClr val="1F2623"/>
                </a:solidFill>
                <a:latin typeface="Avenir Next"/>
              </a:rPr>
              <a:t>20</a:t>
            </a:r>
          </a:p>
        </p:txBody>
      </p:sp>
      <p:cxnSp>
        <p:nvCxnSpPr>
          <p:cNvPr id="48" name="Connector 47"/>
          <p:cNvCxnSpPr/>
          <p:nvPr/>
        </p:nvCxnSpPr>
        <p:spPr>
          <a:xfrm>
            <a:off x="4892040" y="2377440"/>
            <a:ext cx="0" cy="1920239"/>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4892040" y="2377440"/>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4892040" y="4297679"/>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5852160" y="2377440"/>
            <a:ext cx="0" cy="1920239"/>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5724144" y="2377440"/>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5724144" y="4297679"/>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4937760" y="1965960"/>
            <a:ext cx="868680" cy="365760"/>
          </a:xfrm>
          <a:prstGeom prst="rect">
            <a:avLst/>
          </a:prstGeom>
          <a:noFill/>
        </p:spPr>
        <p:txBody>
          <a:bodyPr wrap="square">
            <a:spAutoFit/>
          </a:bodyPr>
          <a:lstStyle/>
          <a:p>
            <a:pPr algn="ctr"/>
            <a:r>
              <a:rPr sz="1600">
                <a:solidFill>
                  <a:srgbClr val="6E6F68"/>
                </a:solidFill>
                <a:latin typeface="Avenir Next"/>
              </a:rPr>
              <a:t>n</a:t>
            </a:r>
            <a:r>
              <a:rPr baseline="-25000" sz="1600">
                <a:solidFill>
                  <a:srgbClr val="6E6F68"/>
                </a:solidFill>
                <a:latin typeface="Avenir Next"/>
              </a:rPr>
              <a:t>t</a:t>
            </a:r>
          </a:p>
        </p:txBody>
      </p:sp>
      <p:sp>
        <p:nvSpPr>
          <p:cNvPr id="55" name="TextBox 54"/>
          <p:cNvSpPr txBox="1"/>
          <p:nvPr/>
        </p:nvSpPr>
        <p:spPr>
          <a:xfrm>
            <a:off x="5989320" y="2743200"/>
            <a:ext cx="457200" cy="731520"/>
          </a:xfrm>
          <a:prstGeom prst="rect">
            <a:avLst/>
          </a:prstGeom>
          <a:noFill/>
        </p:spPr>
        <p:txBody>
          <a:bodyPr wrap="square">
            <a:spAutoFit/>
          </a:bodyPr>
          <a:lstStyle/>
          <a:p>
            <a:pPr algn="ctr"/>
            <a:r>
              <a:rPr sz="3000">
                <a:solidFill>
                  <a:srgbClr val="1F2623"/>
                </a:solidFill>
                <a:latin typeface="Avenir Next"/>
              </a:rPr>
              <a:t>=</a:t>
            </a:r>
          </a:p>
        </p:txBody>
      </p:sp>
      <p:sp>
        <p:nvSpPr>
          <p:cNvPr id="56" name="TextBox 55"/>
          <p:cNvSpPr txBox="1"/>
          <p:nvPr/>
        </p:nvSpPr>
        <p:spPr>
          <a:xfrm>
            <a:off x="6583680" y="2377440"/>
            <a:ext cx="1005840" cy="640080"/>
          </a:xfrm>
          <a:prstGeom prst="rect">
            <a:avLst/>
          </a:prstGeom>
          <a:noFill/>
        </p:spPr>
        <p:txBody>
          <a:bodyPr wrap="none" anchor="ctr" lIns="0" rIns="0">
            <a:spAutoFit/>
          </a:bodyPr>
          <a:lstStyle/>
          <a:p>
            <a:pPr algn="ctr"/>
            <a:r>
              <a:rPr sz="2200" b="1">
                <a:solidFill>
                  <a:srgbClr val="1F2623"/>
                </a:solidFill>
                <a:latin typeface="Avenir Next"/>
              </a:rPr>
              <a:t>241.5</a:t>
            </a:r>
          </a:p>
        </p:txBody>
      </p:sp>
      <p:sp>
        <p:nvSpPr>
          <p:cNvPr id="57" name="TextBox 56"/>
          <p:cNvSpPr txBox="1"/>
          <p:nvPr/>
        </p:nvSpPr>
        <p:spPr>
          <a:xfrm>
            <a:off x="6583680" y="3017520"/>
            <a:ext cx="1005840" cy="640080"/>
          </a:xfrm>
          <a:prstGeom prst="rect">
            <a:avLst/>
          </a:prstGeom>
          <a:noFill/>
        </p:spPr>
        <p:txBody>
          <a:bodyPr wrap="none" anchor="ctr" lIns="0" rIns="0">
            <a:spAutoFit/>
          </a:bodyPr>
          <a:lstStyle/>
          <a:p>
            <a:pPr algn="ctr"/>
            <a:r>
              <a:rPr sz="2200" b="1">
                <a:solidFill>
                  <a:srgbClr val="1F2623"/>
                </a:solidFill>
                <a:latin typeface="Avenir Next"/>
              </a:rPr>
              <a:t>42</a:t>
            </a:r>
          </a:p>
        </p:txBody>
      </p:sp>
      <p:sp>
        <p:nvSpPr>
          <p:cNvPr id="58" name="TextBox 57"/>
          <p:cNvSpPr txBox="1"/>
          <p:nvPr/>
        </p:nvSpPr>
        <p:spPr>
          <a:xfrm>
            <a:off x="6583680" y="3657600"/>
            <a:ext cx="1005840" cy="640080"/>
          </a:xfrm>
          <a:prstGeom prst="rect">
            <a:avLst/>
          </a:prstGeom>
          <a:noFill/>
        </p:spPr>
        <p:txBody>
          <a:bodyPr wrap="none" anchor="ctr" lIns="0" rIns="0">
            <a:spAutoFit/>
          </a:bodyPr>
          <a:lstStyle/>
          <a:p>
            <a:pPr algn="ctr"/>
            <a:r>
              <a:rPr sz="2200" b="1">
                <a:solidFill>
                  <a:srgbClr val="1F2623"/>
                </a:solidFill>
                <a:latin typeface="Avenir Next"/>
              </a:rPr>
              <a:t>9.6</a:t>
            </a:r>
          </a:p>
        </p:txBody>
      </p:sp>
      <p:cxnSp>
        <p:nvCxnSpPr>
          <p:cNvPr id="59" name="Connector 58"/>
          <p:cNvCxnSpPr/>
          <p:nvPr/>
        </p:nvCxnSpPr>
        <p:spPr>
          <a:xfrm>
            <a:off x="6537960" y="2377440"/>
            <a:ext cx="0" cy="1920239"/>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6537960" y="2377440"/>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6537960" y="4297679"/>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7635240" y="2377440"/>
            <a:ext cx="0" cy="1920239"/>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a:off x="7507224" y="2377440"/>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a:off x="7507224" y="4297679"/>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6583680" y="1965960"/>
            <a:ext cx="1005840" cy="365760"/>
          </a:xfrm>
          <a:prstGeom prst="rect">
            <a:avLst/>
          </a:prstGeom>
          <a:noFill/>
        </p:spPr>
        <p:txBody>
          <a:bodyPr wrap="square">
            <a:spAutoFit/>
          </a:bodyPr>
          <a:lstStyle/>
          <a:p>
            <a:pPr algn="ctr"/>
            <a:r>
              <a:rPr sz="1600">
                <a:solidFill>
                  <a:srgbClr val="6E6F68"/>
                </a:solidFill>
                <a:latin typeface="Avenir Next"/>
              </a:rPr>
              <a:t>n</a:t>
            </a:r>
            <a:r>
              <a:rPr baseline="-25000" sz="1600">
                <a:solidFill>
                  <a:srgbClr val="6E6F68"/>
                </a:solidFill>
                <a:latin typeface="Avenir Next"/>
              </a:rPr>
              <a:t>t+1</a:t>
            </a:r>
          </a:p>
        </p:txBody>
      </p:sp>
      <p:sp>
        <p:nvSpPr>
          <p:cNvPr id="66" name="TextBox 65"/>
          <p:cNvSpPr txBox="1"/>
          <p:nvPr/>
        </p:nvSpPr>
        <p:spPr>
          <a:xfrm>
            <a:off x="7726680" y="2377440"/>
            <a:ext cx="1463040" cy="640080"/>
          </a:xfrm>
          <a:prstGeom prst="rect">
            <a:avLst/>
          </a:prstGeom>
          <a:noFill/>
        </p:spPr>
        <p:txBody>
          <a:bodyPr wrap="square" anchor="ctr">
            <a:spAutoFit/>
          </a:bodyPr>
          <a:lstStyle/>
          <a:p>
            <a:pPr algn="l"/>
            <a:r>
              <a:rPr sz="1600">
                <a:solidFill>
                  <a:srgbClr val="6E6F68"/>
                </a:solidFill>
                <a:latin typeface="Avenir Next"/>
              </a:rPr>
              <a:t>Juveniles</a:t>
            </a:r>
          </a:p>
        </p:txBody>
      </p:sp>
      <p:sp>
        <p:nvSpPr>
          <p:cNvPr id="67" name="TextBox 66"/>
          <p:cNvSpPr txBox="1"/>
          <p:nvPr/>
        </p:nvSpPr>
        <p:spPr>
          <a:xfrm>
            <a:off x="7726680" y="3017520"/>
            <a:ext cx="1463040" cy="640080"/>
          </a:xfrm>
          <a:prstGeom prst="rect">
            <a:avLst/>
          </a:prstGeom>
          <a:noFill/>
        </p:spPr>
        <p:txBody>
          <a:bodyPr wrap="square" anchor="ctr">
            <a:spAutoFit/>
          </a:bodyPr>
          <a:lstStyle/>
          <a:p>
            <a:pPr algn="l"/>
            <a:r>
              <a:rPr sz="1600">
                <a:solidFill>
                  <a:srgbClr val="6E6F68"/>
                </a:solidFill>
                <a:latin typeface="Avenir Next"/>
              </a:rPr>
              <a:t>Adults</a:t>
            </a:r>
          </a:p>
        </p:txBody>
      </p:sp>
      <p:sp>
        <p:nvSpPr>
          <p:cNvPr id="68" name="TextBox 67"/>
          <p:cNvSpPr txBox="1"/>
          <p:nvPr/>
        </p:nvSpPr>
        <p:spPr>
          <a:xfrm>
            <a:off x="7726680" y="3657600"/>
            <a:ext cx="1463040" cy="640080"/>
          </a:xfrm>
          <a:prstGeom prst="rect">
            <a:avLst/>
          </a:prstGeom>
          <a:noFill/>
        </p:spPr>
        <p:txBody>
          <a:bodyPr wrap="square" anchor="ctr">
            <a:spAutoFit/>
          </a:bodyPr>
          <a:lstStyle/>
          <a:p>
            <a:pPr algn="l"/>
            <a:r>
              <a:rPr sz="1600">
                <a:solidFill>
                  <a:srgbClr val="6E6F68"/>
                </a:solidFill>
                <a:latin typeface="Avenir Next"/>
              </a:rPr>
              <a:t>Post-repro.</a:t>
            </a:r>
          </a:p>
        </p:txBody>
      </p:sp>
      <p:sp>
        <p:nvSpPr>
          <p:cNvPr id="69" name="TextBox 68"/>
          <p:cNvSpPr txBox="1"/>
          <p:nvPr/>
        </p:nvSpPr>
        <p:spPr>
          <a:xfrm>
            <a:off x="914400" y="4617720"/>
            <a:ext cx="10332720" cy="1371600"/>
          </a:xfrm>
          <a:prstGeom prst="rect">
            <a:avLst/>
          </a:prstGeom>
          <a:noFill/>
        </p:spPr>
        <p:txBody>
          <a:bodyPr wrap="square">
            <a:spAutoFit/>
          </a:bodyPr>
          <a:lstStyle/>
          <a:p>
            <a:pPr algn="l"/>
            <a:r>
              <a:rPr b="1" sz="1800">
                <a:solidFill>
                  <a:srgbClr val="1F2623"/>
                </a:solidFill>
                <a:latin typeface="Avenir Next"/>
              </a:rPr>
              <a:t>Juveniles:</a:t>
            </a:r>
            <a:r>
              <a:rPr sz="1800">
                <a:solidFill>
                  <a:srgbClr val="1F2623"/>
                </a:solidFill>
                <a:latin typeface="Avenir Next"/>
              </a:rPr>
              <a:t> 0.14 × 100 + 4.55 × 50 + 0 × 20 = 241.5</a:t>
            </a:r>
          </a:p>
          <a:p>
            <a:pPr algn="l"/>
            <a:r>
              <a:rPr b="1" sz="1800">
                <a:solidFill>
                  <a:srgbClr val="1F2623"/>
                </a:solidFill>
                <a:latin typeface="Avenir Next"/>
              </a:rPr>
              <a:t>Adults:</a:t>
            </a:r>
            <a:r>
              <a:rPr sz="1800">
                <a:solidFill>
                  <a:srgbClr val="1F2623"/>
                </a:solidFill>
                <a:latin typeface="Avenir Next"/>
              </a:rPr>
              <a:t> 0.26 × 100 + 0.32 × 50 + 0 × 20 = 26 + 16 = 42</a:t>
            </a:r>
          </a:p>
          <a:p>
            <a:pPr algn="l"/>
            <a:r>
              <a:rPr b="1" sz="1800">
                <a:solidFill>
                  <a:srgbClr val="1F2623"/>
                </a:solidFill>
                <a:latin typeface="Avenir Next"/>
              </a:rPr>
              <a:t>Post-reproductive:</a:t>
            </a:r>
            <a:r>
              <a:rPr sz="1800">
                <a:solidFill>
                  <a:srgbClr val="1F2623"/>
                </a:solidFill>
                <a:latin typeface="Avenir Next"/>
              </a:rPr>
              <a:t> 0 × 100 + 0.12 × 50 + 0.18 × 20 = 6 + 3.6 = 9.6</a:t>
            </a:r>
          </a:p>
        </p:txBody>
      </p:sp>
      <p:sp>
        <p:nvSpPr>
          <p:cNvPr id="70" name="TextBox 69"/>
          <p:cNvSpPr txBox="1"/>
          <p:nvPr/>
        </p:nvSpPr>
        <p:spPr>
          <a:xfrm>
            <a:off x="9235440" y="2377440"/>
            <a:ext cx="2377440" cy="914400"/>
          </a:xfrm>
          <a:prstGeom prst="rect">
            <a:avLst/>
          </a:prstGeom>
          <a:noFill/>
        </p:spPr>
        <p:txBody>
          <a:bodyPr wrap="square">
            <a:spAutoFit/>
          </a:bodyPr>
          <a:lstStyle/>
          <a:p>
            <a:pPr algn="l"/>
            <a:r>
              <a:rPr sz="1800">
                <a:solidFill>
                  <a:srgbClr val="6E6F68"/>
                </a:solidFill>
                <a:latin typeface="Avenir Next"/>
              </a:rPr>
              <a:t>In R:</a:t>
            </a:r>
          </a:p>
          <a:p>
            <a:pPr algn="l"/>
            <a:r>
              <a:rPr sz="1800">
                <a:solidFill>
                  <a:srgbClr val="6E6F68"/>
                </a:solidFill>
                <a:latin typeface="Menlo"/>
              </a:rPr>
              <a:t>A %*% 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Example: resident killer whales</a:t>
            </a:r>
          </a:p>
        </p:txBody>
      </p:sp>
      <p:sp>
        <p:nvSpPr>
          <p:cNvPr id="3" name="Picture Placeholder 2"/>
          <p:cNvSpPr>
            <a:spLocks noGrp="1"/>
          </p:cNvSpPr>
          <p:nvPr>
            <p:ph type="pic" idx="101"/>
          </p:nvPr>
        </p:nvSpPr>
        <p:spPr/>
        <p:txBody>
          <a:bodyPr/>
          <a:p/>
        </p:txBody>
      </p:sp>
      <p:sp>
        <p:nvSpPr>
          <p:cNvPr id="4" name="Text Placeholder 3"/>
          <p:cNvSpPr>
            <a:spLocks noGrp="1"/>
          </p:cNvSpPr>
          <p:nvPr>
            <p:ph type="body" idx="102"/>
          </p:nvPr>
        </p:nvSpPr>
        <p:spPr/>
        <p:txBody>
          <a:bodyPr/>
          <a:lstStyle/>
          <a:p>
            <a:pPr/>
            <a:r>
              <a:rPr i="1" sz="1800"/>
              <a:t>Orcinus orca</a:t>
            </a:r>
            <a:r>
              <a:rPr sz="1800"/>
              <a:t>, coastal British Columbia and Washington State</a:t>
            </a:r>
          </a:p>
          <a:p>
            <a:pPr/>
            <a:r>
              <a:rPr sz="1800"/>
              <a:t>Every whale recognised from photographs, followed since 1973</a:t>
            </a:r>
          </a:p>
          <a:p>
            <a:pPr/>
            <a:r>
              <a:rPr sz="1800"/>
              <a:t>Brault &amp; Caswell (1993): females only, four stages</a:t>
            </a:r>
          </a:p>
          <a:p>
            <a:pPr/>
            <a:r>
              <a:rPr sz="1800"/>
              <a:t>Females can live for decades after they stop breeding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The killer whale life cycle</a:t>
            </a:r>
          </a:p>
        </p:txBody>
      </p:sp>
      <p:pic>
        <p:nvPicPr>
          <p:cNvPr id="3" name="Picture Placeholder 2" descr="03_whale_diagram.png"/>
          <p:cNvPicPr>
            <a:picLocks noGrp="1" noChangeAspect="1"/>
          </p:cNvPicPr>
          <p:nvPr>
            <p:ph type="pic" idx="101"/>
          </p:nvPr>
        </p:nvPicPr>
        <p:blipFill>
          <a:blip r:embed="rId2"/>
          <a:srcRect t="13" b="13"/>
          <a:stretch>
            <a:fillRect/>
          </a:stretch>
        </p:blipFill>
        <p:spPr/>
      </p:pic>
      <p:sp>
        <p:nvSpPr>
          <p:cNvPr id="4" name="Text Placeholder 3"/>
          <p:cNvSpPr>
            <a:spLocks noGrp="1"/>
          </p:cNvSpPr>
          <p:nvPr>
            <p:ph type="body" idx="102"/>
          </p:nvPr>
        </p:nvSpPr>
        <p:spPr/>
        <p:txBody>
          <a:bodyPr/>
          <a:lstStyle/>
          <a:p>
            <a:pPr/>
            <a:r>
              <a:t>Brault &amp; Caswell (1993). Survival per year: yearling 0.98, juvenile 0.98, mature 0.999, post-reproductive 0.98.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1"/>
          <p:cNvSpPr>
            <a:spLocks noGrp="1"/>
          </p:cNvSpPr>
          <p:nvPr>
            <p:ph type="title" idx="100"/>
          </p:nvPr>
        </p:nvSpPr>
        <p:spPr/>
        <p:txBody>
          <a:bodyPr/>
          <a:lstStyle/>
          <a:p>
            <a:pPr/>
            <a:r>
              <a:t>From diagram to matrix</a:t>
            </a:r>
          </a:p>
        </p:txBody>
      </p:sp>
      <p:sp>
        <p:nvSpPr>
          <p:cNvPr id="26" name="TextBox 25"/>
          <p:cNvSpPr txBox="1"/>
          <p:nvPr/>
        </p:nvSpPr>
        <p:spPr>
          <a:xfrm>
            <a:off x="411479" y="3694176"/>
            <a:ext cx="1005840" cy="548640"/>
          </a:xfrm>
          <a:prstGeom prst="rect">
            <a:avLst/>
          </a:prstGeom>
          <a:noFill/>
        </p:spPr>
        <p:txBody>
          <a:bodyPr wrap="square">
            <a:spAutoFit/>
          </a:bodyPr>
          <a:lstStyle/>
          <a:p>
            <a:pPr algn="r"/>
            <a:r>
              <a:rPr b="1" sz="2800">
                <a:solidFill>
                  <a:srgbClr val="1F2623"/>
                </a:solidFill>
                <a:latin typeface="Avenir Next"/>
              </a:rPr>
              <a:t>A</a:t>
            </a:r>
            <a:r>
              <a:rPr sz="2800">
                <a:solidFill>
                  <a:srgbClr val="1F2623"/>
                </a:solidFill>
                <a:latin typeface="Avenir Next"/>
              </a:rPr>
              <a:t> =</a:t>
            </a:r>
          </a:p>
        </p:txBody>
      </p:sp>
      <p:sp>
        <p:nvSpPr>
          <p:cNvPr id="27" name="TextBox 26"/>
          <p:cNvSpPr txBox="1"/>
          <p:nvPr/>
        </p:nvSpPr>
        <p:spPr>
          <a:xfrm>
            <a:off x="1554480" y="2651760"/>
            <a:ext cx="914400" cy="658368"/>
          </a:xfrm>
          <a:prstGeom prst="rect">
            <a:avLst/>
          </a:prstGeom>
          <a:noFill/>
        </p:spPr>
        <p:txBody>
          <a:bodyPr wrap="none" anchor="ctr" lIns="0" rIns="0">
            <a:spAutoFit/>
          </a:bodyPr>
          <a:lstStyle/>
          <a:p>
            <a:pPr algn="ctr"/>
            <a:r>
              <a:rPr sz="2200">
                <a:solidFill>
                  <a:srgbClr val="9AAE9F"/>
                </a:solidFill>
                <a:latin typeface="Avenir Next"/>
              </a:rPr>
              <a:t>0</a:t>
            </a:r>
          </a:p>
        </p:txBody>
      </p:sp>
      <p:sp>
        <p:nvSpPr>
          <p:cNvPr id="28" name="TextBox 27"/>
          <p:cNvSpPr txBox="1"/>
          <p:nvPr/>
        </p:nvSpPr>
        <p:spPr>
          <a:xfrm>
            <a:off x="2468880" y="2651760"/>
            <a:ext cx="914400" cy="658368"/>
          </a:xfrm>
          <a:prstGeom prst="rect">
            <a:avLst/>
          </a:prstGeom>
          <a:noFill/>
        </p:spPr>
        <p:txBody>
          <a:bodyPr wrap="none" anchor="ctr" lIns="0" rIns="0">
            <a:spAutoFit/>
          </a:bodyPr>
          <a:lstStyle/>
          <a:p>
            <a:pPr algn="ctr"/>
            <a:r>
              <a:rPr sz="2200">
                <a:solidFill>
                  <a:srgbClr val="A4503A"/>
                </a:solidFill>
                <a:latin typeface="Avenir Next"/>
              </a:rPr>
              <a:t>F</a:t>
            </a:r>
            <a:r>
              <a:rPr baseline="-25000" sz="2200">
                <a:solidFill>
                  <a:srgbClr val="A4503A"/>
                </a:solidFill>
                <a:latin typeface="Avenir Next"/>
              </a:rPr>
              <a:t>J</a:t>
            </a:r>
          </a:p>
        </p:txBody>
      </p:sp>
      <p:sp>
        <p:nvSpPr>
          <p:cNvPr id="29" name="TextBox 28"/>
          <p:cNvSpPr txBox="1"/>
          <p:nvPr/>
        </p:nvSpPr>
        <p:spPr>
          <a:xfrm>
            <a:off x="3383280" y="2651760"/>
            <a:ext cx="914400" cy="658368"/>
          </a:xfrm>
          <a:prstGeom prst="rect">
            <a:avLst/>
          </a:prstGeom>
          <a:noFill/>
        </p:spPr>
        <p:txBody>
          <a:bodyPr wrap="none" anchor="ctr" lIns="0" rIns="0">
            <a:spAutoFit/>
          </a:bodyPr>
          <a:lstStyle/>
          <a:p>
            <a:pPr algn="ctr"/>
            <a:r>
              <a:rPr sz="2200">
                <a:solidFill>
                  <a:srgbClr val="A4503A"/>
                </a:solidFill>
                <a:latin typeface="Avenir Next"/>
              </a:rPr>
              <a:t>F</a:t>
            </a:r>
            <a:r>
              <a:rPr baseline="-25000" sz="2200">
                <a:solidFill>
                  <a:srgbClr val="A4503A"/>
                </a:solidFill>
                <a:latin typeface="Avenir Next"/>
              </a:rPr>
              <a:t>M</a:t>
            </a:r>
          </a:p>
        </p:txBody>
      </p:sp>
      <p:sp>
        <p:nvSpPr>
          <p:cNvPr id="30" name="TextBox 29"/>
          <p:cNvSpPr txBox="1"/>
          <p:nvPr/>
        </p:nvSpPr>
        <p:spPr>
          <a:xfrm>
            <a:off x="4297680" y="2651760"/>
            <a:ext cx="914400" cy="658368"/>
          </a:xfrm>
          <a:prstGeom prst="rect">
            <a:avLst/>
          </a:prstGeom>
          <a:noFill/>
        </p:spPr>
        <p:txBody>
          <a:bodyPr wrap="none" anchor="ctr" lIns="0" rIns="0">
            <a:spAutoFit/>
          </a:bodyPr>
          <a:lstStyle/>
          <a:p>
            <a:pPr algn="ctr"/>
            <a:r>
              <a:rPr sz="2200">
                <a:solidFill>
                  <a:srgbClr val="9AAE9F"/>
                </a:solidFill>
                <a:latin typeface="Avenir Next"/>
              </a:rPr>
              <a:t>0</a:t>
            </a:r>
          </a:p>
        </p:txBody>
      </p:sp>
      <p:sp>
        <p:nvSpPr>
          <p:cNvPr id="31" name="TextBox 30"/>
          <p:cNvSpPr txBox="1"/>
          <p:nvPr/>
        </p:nvSpPr>
        <p:spPr>
          <a:xfrm>
            <a:off x="1554480" y="3310128"/>
            <a:ext cx="914400" cy="658368"/>
          </a:xfrm>
          <a:prstGeom prst="rect">
            <a:avLst/>
          </a:prstGeom>
          <a:noFill/>
        </p:spPr>
        <p:txBody>
          <a:bodyPr wrap="none" anchor="ctr" lIns="0" rIns="0">
            <a:spAutoFit/>
          </a:bodyPr>
          <a:lstStyle/>
          <a:p>
            <a:pPr algn="ctr"/>
            <a:r>
              <a:rPr sz="2200">
                <a:solidFill>
                  <a:srgbClr val="1F4D3F"/>
                </a:solidFill>
                <a:latin typeface="Avenir Next"/>
              </a:rPr>
              <a:t>G</a:t>
            </a:r>
            <a:r>
              <a:rPr baseline="-25000" sz="2200">
                <a:solidFill>
                  <a:srgbClr val="1F4D3F"/>
                </a:solidFill>
                <a:latin typeface="Avenir Next"/>
              </a:rPr>
              <a:t>Y</a:t>
            </a:r>
          </a:p>
        </p:txBody>
      </p:sp>
      <p:sp>
        <p:nvSpPr>
          <p:cNvPr id="32" name="TextBox 31"/>
          <p:cNvSpPr txBox="1"/>
          <p:nvPr/>
        </p:nvSpPr>
        <p:spPr>
          <a:xfrm>
            <a:off x="2468880" y="3310128"/>
            <a:ext cx="914400" cy="658368"/>
          </a:xfrm>
          <a:prstGeom prst="rect">
            <a:avLst/>
          </a:prstGeom>
          <a:noFill/>
        </p:spPr>
        <p:txBody>
          <a:bodyPr wrap="none" anchor="ctr" lIns="0" rIns="0">
            <a:spAutoFit/>
          </a:bodyPr>
          <a:lstStyle/>
          <a:p>
            <a:pPr algn="ctr"/>
            <a:r>
              <a:rPr sz="2200">
                <a:solidFill>
                  <a:srgbClr val="1F4D3F"/>
                </a:solidFill>
                <a:latin typeface="Avenir Next"/>
              </a:rPr>
              <a:t>P</a:t>
            </a:r>
            <a:r>
              <a:rPr baseline="-25000" sz="2200">
                <a:solidFill>
                  <a:srgbClr val="1F4D3F"/>
                </a:solidFill>
                <a:latin typeface="Avenir Next"/>
              </a:rPr>
              <a:t>J</a:t>
            </a:r>
          </a:p>
        </p:txBody>
      </p:sp>
      <p:sp>
        <p:nvSpPr>
          <p:cNvPr id="33" name="TextBox 32"/>
          <p:cNvSpPr txBox="1"/>
          <p:nvPr/>
        </p:nvSpPr>
        <p:spPr>
          <a:xfrm>
            <a:off x="3383280" y="3310128"/>
            <a:ext cx="914400" cy="658368"/>
          </a:xfrm>
          <a:prstGeom prst="rect">
            <a:avLst/>
          </a:prstGeom>
          <a:noFill/>
        </p:spPr>
        <p:txBody>
          <a:bodyPr wrap="none" anchor="ctr" lIns="0" rIns="0">
            <a:spAutoFit/>
          </a:bodyPr>
          <a:lstStyle/>
          <a:p>
            <a:pPr algn="ctr"/>
            <a:r>
              <a:rPr sz="2200">
                <a:solidFill>
                  <a:srgbClr val="9AAE9F"/>
                </a:solidFill>
                <a:latin typeface="Avenir Next"/>
              </a:rPr>
              <a:t>0</a:t>
            </a:r>
          </a:p>
        </p:txBody>
      </p:sp>
      <p:sp>
        <p:nvSpPr>
          <p:cNvPr id="34" name="TextBox 33"/>
          <p:cNvSpPr txBox="1"/>
          <p:nvPr/>
        </p:nvSpPr>
        <p:spPr>
          <a:xfrm>
            <a:off x="4297680" y="3310128"/>
            <a:ext cx="914400" cy="658368"/>
          </a:xfrm>
          <a:prstGeom prst="rect">
            <a:avLst/>
          </a:prstGeom>
          <a:noFill/>
        </p:spPr>
        <p:txBody>
          <a:bodyPr wrap="none" anchor="ctr" lIns="0" rIns="0">
            <a:spAutoFit/>
          </a:bodyPr>
          <a:lstStyle/>
          <a:p>
            <a:pPr algn="ctr"/>
            <a:r>
              <a:rPr sz="2200">
                <a:solidFill>
                  <a:srgbClr val="9AAE9F"/>
                </a:solidFill>
                <a:latin typeface="Avenir Next"/>
              </a:rPr>
              <a:t>0</a:t>
            </a:r>
          </a:p>
        </p:txBody>
      </p:sp>
      <p:sp>
        <p:nvSpPr>
          <p:cNvPr id="35" name="TextBox 34"/>
          <p:cNvSpPr txBox="1"/>
          <p:nvPr/>
        </p:nvSpPr>
        <p:spPr>
          <a:xfrm>
            <a:off x="1554480" y="3968496"/>
            <a:ext cx="914400" cy="658368"/>
          </a:xfrm>
          <a:prstGeom prst="rect">
            <a:avLst/>
          </a:prstGeom>
          <a:noFill/>
        </p:spPr>
        <p:txBody>
          <a:bodyPr wrap="none" anchor="ctr" lIns="0" rIns="0">
            <a:spAutoFit/>
          </a:bodyPr>
          <a:lstStyle/>
          <a:p>
            <a:pPr algn="ctr"/>
            <a:r>
              <a:rPr sz="2200">
                <a:solidFill>
                  <a:srgbClr val="9AAE9F"/>
                </a:solidFill>
                <a:latin typeface="Avenir Next"/>
              </a:rPr>
              <a:t>0</a:t>
            </a:r>
          </a:p>
        </p:txBody>
      </p:sp>
      <p:sp>
        <p:nvSpPr>
          <p:cNvPr id="36" name="TextBox 35"/>
          <p:cNvSpPr txBox="1"/>
          <p:nvPr/>
        </p:nvSpPr>
        <p:spPr>
          <a:xfrm>
            <a:off x="2468880" y="3968496"/>
            <a:ext cx="914400" cy="658368"/>
          </a:xfrm>
          <a:prstGeom prst="rect">
            <a:avLst/>
          </a:prstGeom>
          <a:noFill/>
        </p:spPr>
        <p:txBody>
          <a:bodyPr wrap="none" anchor="ctr" lIns="0" rIns="0">
            <a:spAutoFit/>
          </a:bodyPr>
          <a:lstStyle/>
          <a:p>
            <a:pPr algn="ctr"/>
            <a:r>
              <a:rPr sz="2200">
                <a:solidFill>
                  <a:srgbClr val="1F4D3F"/>
                </a:solidFill>
                <a:latin typeface="Avenir Next"/>
              </a:rPr>
              <a:t>G</a:t>
            </a:r>
            <a:r>
              <a:rPr baseline="-25000" sz="2200">
                <a:solidFill>
                  <a:srgbClr val="1F4D3F"/>
                </a:solidFill>
                <a:latin typeface="Avenir Next"/>
              </a:rPr>
              <a:t>J</a:t>
            </a:r>
          </a:p>
        </p:txBody>
      </p:sp>
      <p:sp>
        <p:nvSpPr>
          <p:cNvPr id="37" name="TextBox 36"/>
          <p:cNvSpPr txBox="1"/>
          <p:nvPr/>
        </p:nvSpPr>
        <p:spPr>
          <a:xfrm>
            <a:off x="3383280" y="3968496"/>
            <a:ext cx="914400" cy="658368"/>
          </a:xfrm>
          <a:prstGeom prst="rect">
            <a:avLst/>
          </a:prstGeom>
          <a:noFill/>
        </p:spPr>
        <p:txBody>
          <a:bodyPr wrap="none" anchor="ctr" lIns="0" rIns="0">
            <a:spAutoFit/>
          </a:bodyPr>
          <a:lstStyle/>
          <a:p>
            <a:pPr algn="ctr"/>
            <a:r>
              <a:rPr sz="2200">
                <a:solidFill>
                  <a:srgbClr val="1F4D3F"/>
                </a:solidFill>
                <a:latin typeface="Avenir Next"/>
              </a:rPr>
              <a:t>P</a:t>
            </a:r>
            <a:r>
              <a:rPr baseline="-25000" sz="2200">
                <a:solidFill>
                  <a:srgbClr val="1F4D3F"/>
                </a:solidFill>
                <a:latin typeface="Avenir Next"/>
              </a:rPr>
              <a:t>M</a:t>
            </a:r>
          </a:p>
        </p:txBody>
      </p:sp>
      <p:sp>
        <p:nvSpPr>
          <p:cNvPr id="38" name="TextBox 37"/>
          <p:cNvSpPr txBox="1"/>
          <p:nvPr/>
        </p:nvSpPr>
        <p:spPr>
          <a:xfrm>
            <a:off x="4297680" y="3968496"/>
            <a:ext cx="914400" cy="658368"/>
          </a:xfrm>
          <a:prstGeom prst="rect">
            <a:avLst/>
          </a:prstGeom>
          <a:noFill/>
        </p:spPr>
        <p:txBody>
          <a:bodyPr wrap="none" anchor="ctr" lIns="0" rIns="0">
            <a:spAutoFit/>
          </a:bodyPr>
          <a:lstStyle/>
          <a:p>
            <a:pPr algn="ctr"/>
            <a:r>
              <a:rPr sz="2200">
                <a:solidFill>
                  <a:srgbClr val="9AAE9F"/>
                </a:solidFill>
                <a:latin typeface="Avenir Next"/>
              </a:rPr>
              <a:t>0</a:t>
            </a:r>
          </a:p>
        </p:txBody>
      </p:sp>
      <p:sp>
        <p:nvSpPr>
          <p:cNvPr id="39" name="TextBox 38"/>
          <p:cNvSpPr txBox="1"/>
          <p:nvPr/>
        </p:nvSpPr>
        <p:spPr>
          <a:xfrm>
            <a:off x="1554480" y="4626864"/>
            <a:ext cx="914400" cy="658368"/>
          </a:xfrm>
          <a:prstGeom prst="rect">
            <a:avLst/>
          </a:prstGeom>
          <a:noFill/>
        </p:spPr>
        <p:txBody>
          <a:bodyPr wrap="none" anchor="ctr" lIns="0" rIns="0">
            <a:spAutoFit/>
          </a:bodyPr>
          <a:lstStyle/>
          <a:p>
            <a:pPr algn="ctr"/>
            <a:r>
              <a:rPr sz="2200">
                <a:solidFill>
                  <a:srgbClr val="9AAE9F"/>
                </a:solidFill>
                <a:latin typeface="Avenir Next"/>
              </a:rPr>
              <a:t>0</a:t>
            </a:r>
          </a:p>
        </p:txBody>
      </p:sp>
      <p:sp>
        <p:nvSpPr>
          <p:cNvPr id="40" name="TextBox 39"/>
          <p:cNvSpPr txBox="1"/>
          <p:nvPr/>
        </p:nvSpPr>
        <p:spPr>
          <a:xfrm>
            <a:off x="2468880" y="4626864"/>
            <a:ext cx="914400" cy="658368"/>
          </a:xfrm>
          <a:prstGeom prst="rect">
            <a:avLst/>
          </a:prstGeom>
          <a:noFill/>
        </p:spPr>
        <p:txBody>
          <a:bodyPr wrap="none" anchor="ctr" lIns="0" rIns="0">
            <a:spAutoFit/>
          </a:bodyPr>
          <a:lstStyle/>
          <a:p>
            <a:pPr algn="ctr"/>
            <a:r>
              <a:rPr sz="2200">
                <a:solidFill>
                  <a:srgbClr val="9AAE9F"/>
                </a:solidFill>
                <a:latin typeface="Avenir Next"/>
              </a:rPr>
              <a:t>0</a:t>
            </a:r>
          </a:p>
        </p:txBody>
      </p:sp>
      <p:sp>
        <p:nvSpPr>
          <p:cNvPr id="41" name="TextBox 40"/>
          <p:cNvSpPr txBox="1"/>
          <p:nvPr/>
        </p:nvSpPr>
        <p:spPr>
          <a:xfrm>
            <a:off x="3383280" y="4626864"/>
            <a:ext cx="914400" cy="658368"/>
          </a:xfrm>
          <a:prstGeom prst="rect">
            <a:avLst/>
          </a:prstGeom>
          <a:noFill/>
        </p:spPr>
        <p:txBody>
          <a:bodyPr wrap="none" anchor="ctr" lIns="0" rIns="0">
            <a:spAutoFit/>
          </a:bodyPr>
          <a:lstStyle/>
          <a:p>
            <a:pPr algn="ctr"/>
            <a:r>
              <a:rPr sz="2200">
                <a:solidFill>
                  <a:srgbClr val="1F4D3F"/>
                </a:solidFill>
                <a:latin typeface="Avenir Next"/>
              </a:rPr>
              <a:t>G</a:t>
            </a:r>
            <a:r>
              <a:rPr baseline="-25000" sz="2200">
                <a:solidFill>
                  <a:srgbClr val="1F4D3F"/>
                </a:solidFill>
                <a:latin typeface="Avenir Next"/>
              </a:rPr>
              <a:t>M</a:t>
            </a:r>
          </a:p>
        </p:txBody>
      </p:sp>
      <p:sp>
        <p:nvSpPr>
          <p:cNvPr id="42" name="TextBox 41"/>
          <p:cNvSpPr txBox="1"/>
          <p:nvPr/>
        </p:nvSpPr>
        <p:spPr>
          <a:xfrm>
            <a:off x="4297680" y="4626864"/>
            <a:ext cx="914400" cy="658368"/>
          </a:xfrm>
          <a:prstGeom prst="rect">
            <a:avLst/>
          </a:prstGeom>
          <a:noFill/>
        </p:spPr>
        <p:txBody>
          <a:bodyPr wrap="none" anchor="ctr" lIns="0" rIns="0">
            <a:spAutoFit/>
          </a:bodyPr>
          <a:lstStyle/>
          <a:p>
            <a:pPr algn="ctr"/>
            <a:r>
              <a:rPr sz="2200">
                <a:solidFill>
                  <a:srgbClr val="1F4D3F"/>
                </a:solidFill>
                <a:latin typeface="Avenir Next"/>
              </a:rPr>
              <a:t>P</a:t>
            </a:r>
            <a:r>
              <a:rPr baseline="-25000" sz="2200">
                <a:solidFill>
                  <a:srgbClr val="1F4D3F"/>
                </a:solidFill>
                <a:latin typeface="Avenir Next"/>
              </a:rPr>
              <a:t>P</a:t>
            </a:r>
          </a:p>
        </p:txBody>
      </p:sp>
      <p:cxnSp>
        <p:nvCxnSpPr>
          <p:cNvPr id="43" name="Connector 42"/>
          <p:cNvCxnSpPr/>
          <p:nvPr/>
        </p:nvCxnSpPr>
        <p:spPr>
          <a:xfrm>
            <a:off x="1508760" y="2651760"/>
            <a:ext cx="0" cy="2633471"/>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508760" y="2651760"/>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508760" y="5285231"/>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5257800" y="2651760"/>
            <a:ext cx="0" cy="2633471"/>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5129784" y="2651760"/>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5129784" y="5285231"/>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1554480" y="2240279"/>
            <a:ext cx="914400" cy="365760"/>
          </a:xfrm>
          <a:prstGeom prst="rect">
            <a:avLst/>
          </a:prstGeom>
          <a:noFill/>
        </p:spPr>
        <p:txBody>
          <a:bodyPr wrap="square">
            <a:spAutoFit/>
          </a:bodyPr>
          <a:lstStyle/>
          <a:p>
            <a:pPr algn="ctr"/>
            <a:r>
              <a:rPr sz="1400">
                <a:solidFill>
                  <a:srgbClr val="6E6F68"/>
                </a:solidFill>
                <a:latin typeface="Avenir Next"/>
              </a:rPr>
              <a:t>Y</a:t>
            </a:r>
          </a:p>
        </p:txBody>
      </p:sp>
      <p:sp>
        <p:nvSpPr>
          <p:cNvPr id="50" name="TextBox 49"/>
          <p:cNvSpPr txBox="1"/>
          <p:nvPr/>
        </p:nvSpPr>
        <p:spPr>
          <a:xfrm>
            <a:off x="2468880" y="2240279"/>
            <a:ext cx="914400" cy="365760"/>
          </a:xfrm>
          <a:prstGeom prst="rect">
            <a:avLst/>
          </a:prstGeom>
          <a:noFill/>
        </p:spPr>
        <p:txBody>
          <a:bodyPr wrap="square">
            <a:spAutoFit/>
          </a:bodyPr>
          <a:lstStyle/>
          <a:p>
            <a:pPr algn="ctr"/>
            <a:r>
              <a:rPr sz="1400">
                <a:solidFill>
                  <a:srgbClr val="6E6F68"/>
                </a:solidFill>
                <a:latin typeface="Avenir Next"/>
              </a:rPr>
              <a:t>J</a:t>
            </a:r>
          </a:p>
        </p:txBody>
      </p:sp>
      <p:sp>
        <p:nvSpPr>
          <p:cNvPr id="51" name="TextBox 50"/>
          <p:cNvSpPr txBox="1"/>
          <p:nvPr/>
        </p:nvSpPr>
        <p:spPr>
          <a:xfrm>
            <a:off x="3383280" y="2240279"/>
            <a:ext cx="914400" cy="365760"/>
          </a:xfrm>
          <a:prstGeom prst="rect">
            <a:avLst/>
          </a:prstGeom>
          <a:noFill/>
        </p:spPr>
        <p:txBody>
          <a:bodyPr wrap="square">
            <a:spAutoFit/>
          </a:bodyPr>
          <a:lstStyle/>
          <a:p>
            <a:pPr algn="ctr"/>
            <a:r>
              <a:rPr sz="1400">
                <a:solidFill>
                  <a:srgbClr val="6E6F68"/>
                </a:solidFill>
                <a:latin typeface="Avenir Next"/>
              </a:rPr>
              <a:t>M</a:t>
            </a:r>
          </a:p>
        </p:txBody>
      </p:sp>
      <p:sp>
        <p:nvSpPr>
          <p:cNvPr id="52" name="TextBox 51"/>
          <p:cNvSpPr txBox="1"/>
          <p:nvPr/>
        </p:nvSpPr>
        <p:spPr>
          <a:xfrm>
            <a:off x="4297680" y="2240279"/>
            <a:ext cx="914400" cy="365760"/>
          </a:xfrm>
          <a:prstGeom prst="rect">
            <a:avLst/>
          </a:prstGeom>
          <a:noFill/>
        </p:spPr>
        <p:txBody>
          <a:bodyPr wrap="square">
            <a:spAutoFit/>
          </a:bodyPr>
          <a:lstStyle/>
          <a:p>
            <a:pPr algn="ctr"/>
            <a:r>
              <a:rPr sz="1400">
                <a:solidFill>
                  <a:srgbClr val="6E6F68"/>
                </a:solidFill>
                <a:latin typeface="Avenir Next"/>
              </a:rPr>
              <a:t>P</a:t>
            </a:r>
          </a:p>
        </p:txBody>
      </p:sp>
      <p:sp>
        <p:nvSpPr>
          <p:cNvPr id="53" name="TextBox 52"/>
          <p:cNvSpPr txBox="1"/>
          <p:nvPr/>
        </p:nvSpPr>
        <p:spPr>
          <a:xfrm>
            <a:off x="5257800" y="3694176"/>
            <a:ext cx="1005840" cy="548640"/>
          </a:xfrm>
          <a:prstGeom prst="rect">
            <a:avLst/>
          </a:prstGeom>
          <a:noFill/>
        </p:spPr>
        <p:txBody>
          <a:bodyPr wrap="square">
            <a:spAutoFit/>
          </a:bodyPr>
          <a:lstStyle/>
          <a:p>
            <a:pPr algn="r"/>
            <a:r>
              <a:rPr sz="2800">
                <a:solidFill>
                  <a:srgbClr val="1F2623"/>
                </a:solidFill>
                <a:latin typeface="Avenir Next"/>
              </a:rPr>
              <a:t>=</a:t>
            </a:r>
          </a:p>
        </p:txBody>
      </p:sp>
      <p:sp>
        <p:nvSpPr>
          <p:cNvPr id="54" name="TextBox 53"/>
          <p:cNvSpPr txBox="1"/>
          <p:nvPr/>
        </p:nvSpPr>
        <p:spPr>
          <a:xfrm>
            <a:off x="6400800" y="2651760"/>
            <a:ext cx="1097280" cy="658368"/>
          </a:xfrm>
          <a:prstGeom prst="rect">
            <a:avLst/>
          </a:prstGeom>
          <a:noFill/>
        </p:spPr>
        <p:txBody>
          <a:bodyPr wrap="none" anchor="ctr" lIns="0" rIns="0">
            <a:spAutoFit/>
          </a:bodyPr>
          <a:lstStyle/>
          <a:p>
            <a:pPr algn="ctr"/>
            <a:r>
              <a:rPr sz="2000">
                <a:solidFill>
                  <a:srgbClr val="9AAE9F"/>
                </a:solidFill>
                <a:latin typeface="Avenir Next"/>
              </a:rPr>
              <a:t>0</a:t>
            </a:r>
          </a:p>
        </p:txBody>
      </p:sp>
      <p:sp>
        <p:nvSpPr>
          <p:cNvPr id="55" name="TextBox 54"/>
          <p:cNvSpPr txBox="1"/>
          <p:nvPr/>
        </p:nvSpPr>
        <p:spPr>
          <a:xfrm>
            <a:off x="7498079" y="2651760"/>
            <a:ext cx="1097280" cy="658368"/>
          </a:xfrm>
          <a:prstGeom prst="rect">
            <a:avLst/>
          </a:prstGeom>
          <a:noFill/>
        </p:spPr>
        <p:txBody>
          <a:bodyPr wrap="none" anchor="ctr" lIns="0" rIns="0">
            <a:spAutoFit/>
          </a:bodyPr>
          <a:lstStyle/>
          <a:p>
            <a:pPr algn="ctr"/>
            <a:r>
              <a:rPr sz="2000">
                <a:solidFill>
                  <a:srgbClr val="A4503A"/>
                </a:solidFill>
                <a:latin typeface="Avenir Next"/>
              </a:rPr>
              <a:t>0.0043</a:t>
            </a:r>
          </a:p>
        </p:txBody>
      </p:sp>
      <p:sp>
        <p:nvSpPr>
          <p:cNvPr id="56" name="TextBox 55"/>
          <p:cNvSpPr txBox="1"/>
          <p:nvPr/>
        </p:nvSpPr>
        <p:spPr>
          <a:xfrm>
            <a:off x="8595360" y="2651760"/>
            <a:ext cx="1097280" cy="658368"/>
          </a:xfrm>
          <a:prstGeom prst="rect">
            <a:avLst/>
          </a:prstGeom>
          <a:noFill/>
        </p:spPr>
        <p:txBody>
          <a:bodyPr wrap="none" anchor="ctr" lIns="0" rIns="0">
            <a:spAutoFit/>
          </a:bodyPr>
          <a:lstStyle/>
          <a:p>
            <a:pPr algn="ctr"/>
            <a:r>
              <a:rPr sz="2000">
                <a:solidFill>
                  <a:srgbClr val="A4503A"/>
                </a:solidFill>
                <a:latin typeface="Avenir Next"/>
              </a:rPr>
              <a:t>0.1132</a:t>
            </a:r>
          </a:p>
        </p:txBody>
      </p:sp>
      <p:sp>
        <p:nvSpPr>
          <p:cNvPr id="57" name="TextBox 56"/>
          <p:cNvSpPr txBox="1"/>
          <p:nvPr/>
        </p:nvSpPr>
        <p:spPr>
          <a:xfrm>
            <a:off x="9692640" y="2651760"/>
            <a:ext cx="1097280" cy="658368"/>
          </a:xfrm>
          <a:prstGeom prst="rect">
            <a:avLst/>
          </a:prstGeom>
          <a:noFill/>
        </p:spPr>
        <p:txBody>
          <a:bodyPr wrap="none" anchor="ctr" lIns="0" rIns="0">
            <a:spAutoFit/>
          </a:bodyPr>
          <a:lstStyle/>
          <a:p>
            <a:pPr algn="ctr"/>
            <a:r>
              <a:rPr sz="2000">
                <a:solidFill>
                  <a:srgbClr val="9AAE9F"/>
                </a:solidFill>
                <a:latin typeface="Avenir Next"/>
              </a:rPr>
              <a:t>0</a:t>
            </a:r>
          </a:p>
        </p:txBody>
      </p:sp>
      <p:sp>
        <p:nvSpPr>
          <p:cNvPr id="58" name="TextBox 57"/>
          <p:cNvSpPr txBox="1"/>
          <p:nvPr/>
        </p:nvSpPr>
        <p:spPr>
          <a:xfrm>
            <a:off x="6400800" y="3310128"/>
            <a:ext cx="1097280" cy="658368"/>
          </a:xfrm>
          <a:prstGeom prst="rect">
            <a:avLst/>
          </a:prstGeom>
          <a:noFill/>
        </p:spPr>
        <p:txBody>
          <a:bodyPr wrap="none" anchor="ctr" lIns="0" rIns="0">
            <a:spAutoFit/>
          </a:bodyPr>
          <a:lstStyle/>
          <a:p>
            <a:pPr algn="ctr"/>
            <a:r>
              <a:rPr sz="2000">
                <a:solidFill>
                  <a:srgbClr val="1F4D3F"/>
                </a:solidFill>
                <a:latin typeface="Avenir Next"/>
              </a:rPr>
              <a:t>0.9775</a:t>
            </a:r>
          </a:p>
        </p:txBody>
      </p:sp>
      <p:sp>
        <p:nvSpPr>
          <p:cNvPr id="59" name="TextBox 58"/>
          <p:cNvSpPr txBox="1"/>
          <p:nvPr/>
        </p:nvSpPr>
        <p:spPr>
          <a:xfrm>
            <a:off x="7498079" y="3310128"/>
            <a:ext cx="1097280" cy="658368"/>
          </a:xfrm>
          <a:prstGeom prst="rect">
            <a:avLst/>
          </a:prstGeom>
          <a:noFill/>
        </p:spPr>
        <p:txBody>
          <a:bodyPr wrap="none" anchor="ctr" lIns="0" rIns="0">
            <a:spAutoFit/>
          </a:bodyPr>
          <a:lstStyle/>
          <a:p>
            <a:pPr algn="ctr"/>
            <a:r>
              <a:rPr sz="2000">
                <a:solidFill>
                  <a:srgbClr val="1F4D3F"/>
                </a:solidFill>
                <a:latin typeface="Avenir Next"/>
              </a:rPr>
              <a:t>0.9111</a:t>
            </a:r>
          </a:p>
        </p:txBody>
      </p:sp>
      <p:sp>
        <p:nvSpPr>
          <p:cNvPr id="60" name="TextBox 59"/>
          <p:cNvSpPr txBox="1"/>
          <p:nvPr/>
        </p:nvSpPr>
        <p:spPr>
          <a:xfrm>
            <a:off x="8595360" y="3310128"/>
            <a:ext cx="1097280" cy="658368"/>
          </a:xfrm>
          <a:prstGeom prst="rect">
            <a:avLst/>
          </a:prstGeom>
          <a:noFill/>
        </p:spPr>
        <p:txBody>
          <a:bodyPr wrap="none" anchor="ctr" lIns="0" rIns="0">
            <a:spAutoFit/>
          </a:bodyPr>
          <a:lstStyle/>
          <a:p>
            <a:pPr algn="ctr"/>
            <a:r>
              <a:rPr sz="2000">
                <a:solidFill>
                  <a:srgbClr val="9AAE9F"/>
                </a:solidFill>
                <a:latin typeface="Avenir Next"/>
              </a:rPr>
              <a:t>0</a:t>
            </a:r>
          </a:p>
        </p:txBody>
      </p:sp>
      <p:sp>
        <p:nvSpPr>
          <p:cNvPr id="61" name="TextBox 60"/>
          <p:cNvSpPr txBox="1"/>
          <p:nvPr/>
        </p:nvSpPr>
        <p:spPr>
          <a:xfrm>
            <a:off x="9692640" y="3310128"/>
            <a:ext cx="1097280" cy="658368"/>
          </a:xfrm>
          <a:prstGeom prst="rect">
            <a:avLst/>
          </a:prstGeom>
          <a:noFill/>
        </p:spPr>
        <p:txBody>
          <a:bodyPr wrap="none" anchor="ctr" lIns="0" rIns="0">
            <a:spAutoFit/>
          </a:bodyPr>
          <a:lstStyle/>
          <a:p>
            <a:pPr algn="ctr"/>
            <a:r>
              <a:rPr sz="2000">
                <a:solidFill>
                  <a:srgbClr val="9AAE9F"/>
                </a:solidFill>
                <a:latin typeface="Avenir Next"/>
              </a:rPr>
              <a:t>0</a:t>
            </a:r>
          </a:p>
        </p:txBody>
      </p:sp>
      <p:sp>
        <p:nvSpPr>
          <p:cNvPr id="62" name="TextBox 61"/>
          <p:cNvSpPr txBox="1"/>
          <p:nvPr/>
        </p:nvSpPr>
        <p:spPr>
          <a:xfrm>
            <a:off x="6400800" y="3968496"/>
            <a:ext cx="1097280" cy="658368"/>
          </a:xfrm>
          <a:prstGeom prst="rect">
            <a:avLst/>
          </a:prstGeom>
          <a:noFill/>
        </p:spPr>
        <p:txBody>
          <a:bodyPr wrap="none" anchor="ctr" lIns="0" rIns="0">
            <a:spAutoFit/>
          </a:bodyPr>
          <a:lstStyle/>
          <a:p>
            <a:pPr algn="ctr"/>
            <a:r>
              <a:rPr sz="2000">
                <a:solidFill>
                  <a:srgbClr val="9AAE9F"/>
                </a:solidFill>
                <a:latin typeface="Avenir Next"/>
              </a:rPr>
              <a:t>0</a:t>
            </a:r>
          </a:p>
        </p:txBody>
      </p:sp>
      <p:sp>
        <p:nvSpPr>
          <p:cNvPr id="63" name="TextBox 62"/>
          <p:cNvSpPr txBox="1"/>
          <p:nvPr/>
        </p:nvSpPr>
        <p:spPr>
          <a:xfrm>
            <a:off x="7498079" y="3968496"/>
            <a:ext cx="1097280" cy="658368"/>
          </a:xfrm>
          <a:prstGeom prst="rect">
            <a:avLst/>
          </a:prstGeom>
          <a:noFill/>
        </p:spPr>
        <p:txBody>
          <a:bodyPr wrap="none" anchor="ctr" lIns="0" rIns="0">
            <a:spAutoFit/>
          </a:bodyPr>
          <a:lstStyle/>
          <a:p>
            <a:pPr algn="ctr"/>
            <a:r>
              <a:rPr sz="2000">
                <a:solidFill>
                  <a:srgbClr val="1F4D3F"/>
                </a:solidFill>
                <a:latin typeface="Avenir Next"/>
              </a:rPr>
              <a:t>0.0736</a:t>
            </a:r>
          </a:p>
        </p:txBody>
      </p:sp>
      <p:sp>
        <p:nvSpPr>
          <p:cNvPr id="64" name="TextBox 63"/>
          <p:cNvSpPr txBox="1"/>
          <p:nvPr/>
        </p:nvSpPr>
        <p:spPr>
          <a:xfrm>
            <a:off x="8595360" y="3968496"/>
            <a:ext cx="1097280" cy="658368"/>
          </a:xfrm>
          <a:prstGeom prst="rect">
            <a:avLst/>
          </a:prstGeom>
          <a:noFill/>
        </p:spPr>
        <p:txBody>
          <a:bodyPr wrap="none" anchor="ctr" lIns="0" rIns="0">
            <a:spAutoFit/>
          </a:bodyPr>
          <a:lstStyle/>
          <a:p>
            <a:pPr algn="ctr"/>
            <a:r>
              <a:rPr sz="2000">
                <a:solidFill>
                  <a:srgbClr val="1F4D3F"/>
                </a:solidFill>
                <a:latin typeface="Avenir Next"/>
              </a:rPr>
              <a:t>0.9534</a:t>
            </a:r>
          </a:p>
        </p:txBody>
      </p:sp>
      <p:sp>
        <p:nvSpPr>
          <p:cNvPr id="65" name="TextBox 64"/>
          <p:cNvSpPr txBox="1"/>
          <p:nvPr/>
        </p:nvSpPr>
        <p:spPr>
          <a:xfrm>
            <a:off x="9692640" y="3968496"/>
            <a:ext cx="1097280" cy="658368"/>
          </a:xfrm>
          <a:prstGeom prst="rect">
            <a:avLst/>
          </a:prstGeom>
          <a:noFill/>
        </p:spPr>
        <p:txBody>
          <a:bodyPr wrap="none" anchor="ctr" lIns="0" rIns="0">
            <a:spAutoFit/>
          </a:bodyPr>
          <a:lstStyle/>
          <a:p>
            <a:pPr algn="ctr"/>
            <a:r>
              <a:rPr sz="2000">
                <a:solidFill>
                  <a:srgbClr val="9AAE9F"/>
                </a:solidFill>
                <a:latin typeface="Avenir Next"/>
              </a:rPr>
              <a:t>0</a:t>
            </a:r>
          </a:p>
        </p:txBody>
      </p:sp>
      <p:sp>
        <p:nvSpPr>
          <p:cNvPr id="66" name="TextBox 65"/>
          <p:cNvSpPr txBox="1"/>
          <p:nvPr/>
        </p:nvSpPr>
        <p:spPr>
          <a:xfrm>
            <a:off x="6400800" y="4626864"/>
            <a:ext cx="1097280" cy="658368"/>
          </a:xfrm>
          <a:prstGeom prst="rect">
            <a:avLst/>
          </a:prstGeom>
          <a:noFill/>
        </p:spPr>
        <p:txBody>
          <a:bodyPr wrap="none" anchor="ctr" lIns="0" rIns="0">
            <a:spAutoFit/>
          </a:bodyPr>
          <a:lstStyle/>
          <a:p>
            <a:pPr algn="ctr"/>
            <a:r>
              <a:rPr sz="2000">
                <a:solidFill>
                  <a:srgbClr val="9AAE9F"/>
                </a:solidFill>
                <a:latin typeface="Avenir Next"/>
              </a:rPr>
              <a:t>0</a:t>
            </a:r>
          </a:p>
        </p:txBody>
      </p:sp>
      <p:sp>
        <p:nvSpPr>
          <p:cNvPr id="67" name="TextBox 66"/>
          <p:cNvSpPr txBox="1"/>
          <p:nvPr/>
        </p:nvSpPr>
        <p:spPr>
          <a:xfrm>
            <a:off x="7498079" y="4626864"/>
            <a:ext cx="1097280" cy="658368"/>
          </a:xfrm>
          <a:prstGeom prst="rect">
            <a:avLst/>
          </a:prstGeom>
          <a:noFill/>
        </p:spPr>
        <p:txBody>
          <a:bodyPr wrap="none" anchor="ctr" lIns="0" rIns="0">
            <a:spAutoFit/>
          </a:bodyPr>
          <a:lstStyle/>
          <a:p>
            <a:pPr algn="ctr"/>
            <a:r>
              <a:rPr sz="2000">
                <a:solidFill>
                  <a:srgbClr val="9AAE9F"/>
                </a:solidFill>
                <a:latin typeface="Avenir Next"/>
              </a:rPr>
              <a:t>0</a:t>
            </a:r>
          </a:p>
        </p:txBody>
      </p:sp>
      <p:sp>
        <p:nvSpPr>
          <p:cNvPr id="68" name="TextBox 67"/>
          <p:cNvSpPr txBox="1"/>
          <p:nvPr/>
        </p:nvSpPr>
        <p:spPr>
          <a:xfrm>
            <a:off x="8595360" y="4626864"/>
            <a:ext cx="1097280" cy="658368"/>
          </a:xfrm>
          <a:prstGeom prst="rect">
            <a:avLst/>
          </a:prstGeom>
          <a:noFill/>
        </p:spPr>
        <p:txBody>
          <a:bodyPr wrap="none" anchor="ctr" lIns="0" rIns="0">
            <a:spAutoFit/>
          </a:bodyPr>
          <a:lstStyle/>
          <a:p>
            <a:pPr algn="ctr"/>
            <a:r>
              <a:rPr sz="2000">
                <a:solidFill>
                  <a:srgbClr val="1F4D3F"/>
                </a:solidFill>
                <a:latin typeface="Avenir Next"/>
              </a:rPr>
              <a:t>0.0452</a:t>
            </a:r>
          </a:p>
        </p:txBody>
      </p:sp>
      <p:sp>
        <p:nvSpPr>
          <p:cNvPr id="69" name="TextBox 68"/>
          <p:cNvSpPr txBox="1"/>
          <p:nvPr/>
        </p:nvSpPr>
        <p:spPr>
          <a:xfrm>
            <a:off x="9692640" y="4626864"/>
            <a:ext cx="1097280" cy="658368"/>
          </a:xfrm>
          <a:prstGeom prst="rect">
            <a:avLst/>
          </a:prstGeom>
          <a:noFill/>
        </p:spPr>
        <p:txBody>
          <a:bodyPr wrap="none" anchor="ctr" lIns="0" rIns="0">
            <a:spAutoFit/>
          </a:bodyPr>
          <a:lstStyle/>
          <a:p>
            <a:pPr algn="ctr"/>
            <a:r>
              <a:rPr sz="2000">
                <a:solidFill>
                  <a:srgbClr val="1F4D3F"/>
                </a:solidFill>
                <a:latin typeface="Avenir Next"/>
              </a:rPr>
              <a:t>0.9804</a:t>
            </a:r>
          </a:p>
        </p:txBody>
      </p:sp>
      <p:cxnSp>
        <p:nvCxnSpPr>
          <p:cNvPr id="70" name="Connector 69"/>
          <p:cNvCxnSpPr/>
          <p:nvPr/>
        </p:nvCxnSpPr>
        <p:spPr>
          <a:xfrm>
            <a:off x="6355080" y="2651760"/>
            <a:ext cx="0" cy="2633471"/>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6355080" y="2651760"/>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6355080" y="5285231"/>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10835640" y="2651760"/>
            <a:ext cx="0" cy="2633471"/>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a:off x="10707624" y="2651760"/>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H="1">
            <a:off x="10707624" y="5285231"/>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6400800" y="2240279"/>
            <a:ext cx="1097280" cy="365760"/>
          </a:xfrm>
          <a:prstGeom prst="rect">
            <a:avLst/>
          </a:prstGeom>
          <a:noFill/>
        </p:spPr>
        <p:txBody>
          <a:bodyPr wrap="square">
            <a:spAutoFit/>
          </a:bodyPr>
          <a:lstStyle/>
          <a:p>
            <a:pPr algn="ctr"/>
            <a:r>
              <a:rPr sz="1400">
                <a:solidFill>
                  <a:srgbClr val="6E6F68"/>
                </a:solidFill>
                <a:latin typeface="Avenir Next"/>
              </a:rPr>
              <a:t>Y</a:t>
            </a:r>
          </a:p>
        </p:txBody>
      </p:sp>
      <p:sp>
        <p:nvSpPr>
          <p:cNvPr id="77" name="TextBox 76"/>
          <p:cNvSpPr txBox="1"/>
          <p:nvPr/>
        </p:nvSpPr>
        <p:spPr>
          <a:xfrm>
            <a:off x="7498079" y="2240279"/>
            <a:ext cx="1097280" cy="365760"/>
          </a:xfrm>
          <a:prstGeom prst="rect">
            <a:avLst/>
          </a:prstGeom>
          <a:noFill/>
        </p:spPr>
        <p:txBody>
          <a:bodyPr wrap="square">
            <a:spAutoFit/>
          </a:bodyPr>
          <a:lstStyle/>
          <a:p>
            <a:pPr algn="ctr"/>
            <a:r>
              <a:rPr sz="1400">
                <a:solidFill>
                  <a:srgbClr val="6E6F68"/>
                </a:solidFill>
                <a:latin typeface="Avenir Next"/>
              </a:rPr>
              <a:t>J</a:t>
            </a:r>
          </a:p>
        </p:txBody>
      </p:sp>
      <p:sp>
        <p:nvSpPr>
          <p:cNvPr id="78" name="TextBox 77"/>
          <p:cNvSpPr txBox="1"/>
          <p:nvPr/>
        </p:nvSpPr>
        <p:spPr>
          <a:xfrm>
            <a:off x="8595360" y="2240279"/>
            <a:ext cx="1097280" cy="365760"/>
          </a:xfrm>
          <a:prstGeom prst="rect">
            <a:avLst/>
          </a:prstGeom>
          <a:noFill/>
        </p:spPr>
        <p:txBody>
          <a:bodyPr wrap="square">
            <a:spAutoFit/>
          </a:bodyPr>
          <a:lstStyle/>
          <a:p>
            <a:pPr algn="ctr"/>
            <a:r>
              <a:rPr sz="1400">
                <a:solidFill>
                  <a:srgbClr val="6E6F68"/>
                </a:solidFill>
                <a:latin typeface="Avenir Next"/>
              </a:rPr>
              <a:t>M</a:t>
            </a:r>
          </a:p>
        </p:txBody>
      </p:sp>
      <p:sp>
        <p:nvSpPr>
          <p:cNvPr id="79" name="TextBox 78"/>
          <p:cNvSpPr txBox="1"/>
          <p:nvPr/>
        </p:nvSpPr>
        <p:spPr>
          <a:xfrm>
            <a:off x="9692640" y="2240279"/>
            <a:ext cx="1097280" cy="365760"/>
          </a:xfrm>
          <a:prstGeom prst="rect">
            <a:avLst/>
          </a:prstGeom>
          <a:noFill/>
        </p:spPr>
        <p:txBody>
          <a:bodyPr wrap="square">
            <a:spAutoFit/>
          </a:bodyPr>
          <a:lstStyle/>
          <a:p>
            <a:pPr algn="ctr"/>
            <a:r>
              <a:rPr sz="1400">
                <a:solidFill>
                  <a:srgbClr val="6E6F68"/>
                </a:solidFill>
                <a:latin typeface="Avenir Next"/>
              </a:rPr>
              <a:t>P</a:t>
            </a:r>
          </a:p>
        </p:txBody>
      </p:sp>
      <p:sp>
        <p:nvSpPr>
          <p:cNvPr id="80" name="TextBox 79"/>
          <p:cNvSpPr txBox="1"/>
          <p:nvPr/>
        </p:nvSpPr>
        <p:spPr>
          <a:xfrm>
            <a:off x="10927080" y="2651760"/>
            <a:ext cx="1463040" cy="658368"/>
          </a:xfrm>
          <a:prstGeom prst="rect">
            <a:avLst/>
          </a:prstGeom>
          <a:noFill/>
        </p:spPr>
        <p:txBody>
          <a:bodyPr wrap="square" anchor="ctr">
            <a:spAutoFit/>
          </a:bodyPr>
          <a:lstStyle/>
          <a:p>
            <a:pPr algn="l"/>
            <a:r>
              <a:rPr sz="1400">
                <a:solidFill>
                  <a:srgbClr val="6E6F68"/>
                </a:solidFill>
                <a:latin typeface="Avenir Next"/>
              </a:rPr>
              <a:t>Y</a:t>
            </a:r>
          </a:p>
        </p:txBody>
      </p:sp>
      <p:sp>
        <p:nvSpPr>
          <p:cNvPr id="81" name="TextBox 80"/>
          <p:cNvSpPr txBox="1"/>
          <p:nvPr/>
        </p:nvSpPr>
        <p:spPr>
          <a:xfrm>
            <a:off x="10927080" y="3310128"/>
            <a:ext cx="1463040" cy="658368"/>
          </a:xfrm>
          <a:prstGeom prst="rect">
            <a:avLst/>
          </a:prstGeom>
          <a:noFill/>
        </p:spPr>
        <p:txBody>
          <a:bodyPr wrap="square" anchor="ctr">
            <a:spAutoFit/>
          </a:bodyPr>
          <a:lstStyle/>
          <a:p>
            <a:pPr algn="l"/>
            <a:r>
              <a:rPr sz="1400">
                <a:solidFill>
                  <a:srgbClr val="6E6F68"/>
                </a:solidFill>
                <a:latin typeface="Avenir Next"/>
              </a:rPr>
              <a:t>J</a:t>
            </a:r>
          </a:p>
        </p:txBody>
      </p:sp>
      <p:sp>
        <p:nvSpPr>
          <p:cNvPr id="82" name="TextBox 81"/>
          <p:cNvSpPr txBox="1"/>
          <p:nvPr/>
        </p:nvSpPr>
        <p:spPr>
          <a:xfrm>
            <a:off x="10927080" y="3968496"/>
            <a:ext cx="1463040" cy="658368"/>
          </a:xfrm>
          <a:prstGeom prst="rect">
            <a:avLst/>
          </a:prstGeom>
          <a:noFill/>
        </p:spPr>
        <p:txBody>
          <a:bodyPr wrap="square" anchor="ctr">
            <a:spAutoFit/>
          </a:bodyPr>
          <a:lstStyle/>
          <a:p>
            <a:pPr algn="l"/>
            <a:r>
              <a:rPr sz="1400">
                <a:solidFill>
                  <a:srgbClr val="6E6F68"/>
                </a:solidFill>
                <a:latin typeface="Avenir Next"/>
              </a:rPr>
              <a:t>M</a:t>
            </a:r>
          </a:p>
        </p:txBody>
      </p:sp>
      <p:sp>
        <p:nvSpPr>
          <p:cNvPr id="83" name="TextBox 82"/>
          <p:cNvSpPr txBox="1"/>
          <p:nvPr/>
        </p:nvSpPr>
        <p:spPr>
          <a:xfrm>
            <a:off x="10927080" y="4626864"/>
            <a:ext cx="1463040" cy="658368"/>
          </a:xfrm>
          <a:prstGeom prst="rect">
            <a:avLst/>
          </a:prstGeom>
          <a:noFill/>
        </p:spPr>
        <p:txBody>
          <a:bodyPr wrap="square" anchor="ctr">
            <a:spAutoFit/>
          </a:bodyPr>
          <a:lstStyle/>
          <a:p>
            <a:pPr algn="l"/>
            <a:r>
              <a:rPr sz="1400">
                <a:solidFill>
                  <a:srgbClr val="6E6F68"/>
                </a:solidFill>
                <a:latin typeface="Avenir Next"/>
              </a:rPr>
              <a:t>P</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Different starts, same long-run growth</a:t>
            </a:r>
          </a:p>
        </p:txBody>
      </p:sp>
      <p:pic>
        <p:nvPicPr>
          <p:cNvPr id="3" name="Picture Placeholder 2" descr="04_whale_projection.png"/>
          <p:cNvPicPr>
            <a:picLocks noGrp="1" noChangeAspect="1"/>
          </p:cNvPicPr>
          <p:nvPr>
            <p:ph type="pic" idx="101"/>
          </p:nvPr>
        </p:nvPicPr>
        <p:blipFill>
          <a:blip r:embed="rId2"/>
          <a:srcRect t="13" b="13"/>
          <a:stretch>
            <a:fillRect/>
          </a:stretch>
        </p:blipFill>
        <p:spPr/>
      </p:pic>
      <p:sp>
        <p:nvSpPr>
          <p:cNvPr id="4" name="Text Placeholder 3"/>
          <p:cNvSpPr>
            <a:spLocks noGrp="1"/>
          </p:cNvSpPr>
          <p:nvPr>
            <p:ph type="body" idx="102"/>
          </p:nvPr>
        </p:nvSpPr>
        <p:spPr/>
        <p:txBody>
          <a:bodyPr/>
          <a:lstStyle/>
          <a:p>
            <a:pPr/>
            <a:r>
              <a:t>Log scale. Straight, parallel lines: every stage grows at the same rate, λ. From 100 yearlings this takes about 40 years.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pPr/>
            <a:r>
              <a:t>λ = 1.025</a:t>
            </a:r>
          </a:p>
        </p:txBody>
      </p:sp>
      <p:sp>
        <p:nvSpPr>
          <p:cNvPr id="3" name="Text Placeholder 2"/>
          <p:cNvSpPr>
            <a:spLocks noGrp="1"/>
          </p:cNvSpPr>
          <p:nvPr>
            <p:ph type="body" idx="102"/>
          </p:nvPr>
        </p:nvSpPr>
        <p:spPr/>
        <p:txBody>
          <a:bodyPr/>
          <a:lstStyle/>
          <a:p>
            <a:pPr/>
            <a:r>
              <a:t>The dominant eigenvalue of </a:t>
            </a:r>
            <a:r>
              <a:rPr b="1"/>
              <a:t>A</a:t>
            </a:r>
            <a:r>
              <a:t>: in the long run the population grows by 2.5% per year, whatever the starting population.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The stable stage distribution</a:t>
            </a:r>
          </a:p>
        </p:txBody>
      </p:sp>
      <p:pic>
        <p:nvPicPr>
          <p:cNvPr id="3" name="Picture Placeholder 2" descr="05_whale_ssd.png"/>
          <p:cNvPicPr>
            <a:picLocks noGrp="1" noChangeAspect="1"/>
          </p:cNvPicPr>
          <p:nvPr>
            <p:ph type="pic" idx="101"/>
          </p:nvPr>
        </p:nvPicPr>
        <p:blipFill>
          <a:blip r:embed="rId2"/>
          <a:srcRect/>
          <a:stretch>
            <a:fillRect/>
          </a:stretch>
        </p:blipFill>
        <p:spPr/>
      </p:pic>
      <p:sp>
        <p:nvSpPr>
          <p:cNvPr id="4" name="Text Placeholder 3"/>
          <p:cNvSpPr>
            <a:spLocks noGrp="1"/>
          </p:cNvSpPr>
          <p:nvPr>
            <p:ph type="body" idx="103"/>
          </p:nvPr>
        </p:nvSpPr>
        <p:spPr/>
        <p:txBody>
          <a:bodyPr/>
          <a:lstStyle/>
          <a:p>
            <a:pPr/>
            <a:r>
              <a:t>TAKEAWAY</a:t>
            </a:r>
          </a:p>
        </p:txBody>
      </p:sp>
      <p:sp>
        <p:nvSpPr>
          <p:cNvPr id="5" name="Text Placeholder 4"/>
          <p:cNvSpPr>
            <a:spLocks noGrp="1"/>
          </p:cNvSpPr>
          <p:nvPr>
            <p:ph type="body" idx="105"/>
          </p:nvPr>
        </p:nvSpPr>
        <p:spPr/>
        <p:txBody>
          <a:bodyPr/>
          <a:lstStyle/>
          <a:p>
            <a:pPr/>
            <a:r>
              <a:rPr sz="1700"/>
              <a:t>Once transients die out, the share in each stage stays fixed</a:t>
            </a:r>
          </a:p>
          <a:p>
            <a:pPr/>
            <a:r>
              <a:rPr sz="1700"/>
              <a:t>It is the dominant (right) eigenvector of </a:t>
            </a:r>
            <a:r>
              <a:rPr b="1" sz="1700"/>
              <a:t>A</a:t>
            </a:r>
          </a:p>
          <a:p>
            <a:pPr/>
            <a:r>
              <a:rPr sz="1700"/>
              <a:t>Only 4% yearlings; a third post-reproductive</a:t>
            </a:r>
          </a:p>
          <a:p>
            <a:pPr/>
            <a:r>
              <a:rPr sz="1700"/>
              <a:t>In R: </a:t>
            </a:r>
            <a:r>
              <a:rPr sz="1700">
                <a:latin typeface="Menlo"/>
              </a:rPr>
              <a:t>eigs(A, "ss")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Stochastic: a new matrix each year</a:t>
            </a:r>
          </a:p>
        </p:txBody>
      </p:sp>
      <p:sp>
        <p:nvSpPr>
          <p:cNvPr id="26" name="TextBox 25"/>
          <p:cNvSpPr txBox="1"/>
          <p:nvPr/>
        </p:nvSpPr>
        <p:spPr>
          <a:xfrm>
            <a:off x="731520" y="2057400"/>
            <a:ext cx="5486400" cy="914400"/>
          </a:xfrm>
          <a:prstGeom prst="rect">
            <a:avLst/>
          </a:prstGeom>
          <a:noFill/>
        </p:spPr>
        <p:txBody>
          <a:bodyPr wrap="square">
            <a:spAutoFit/>
          </a:bodyPr>
          <a:lstStyle/>
          <a:p>
            <a:pPr algn="l"/>
            <a:r>
              <a:rPr sz="4000">
                <a:solidFill>
                  <a:srgbClr val="1F4D3F"/>
                </a:solidFill>
                <a:latin typeface="Avenir Next"/>
              </a:rPr>
              <a:t>n</a:t>
            </a:r>
            <a:r>
              <a:rPr baseline="-25000" sz="4000">
                <a:solidFill>
                  <a:srgbClr val="1F4D3F"/>
                </a:solidFill>
                <a:latin typeface="Avenir Next"/>
              </a:rPr>
              <a:t>t+1</a:t>
            </a:r>
            <a:r>
              <a:rPr sz="4000">
                <a:solidFill>
                  <a:srgbClr val="1F4D3F"/>
                </a:solidFill>
                <a:latin typeface="Avenir Next"/>
              </a:rPr>
              <a:t> = </a:t>
            </a:r>
            <a:r>
              <a:rPr b="1" sz="4000">
                <a:solidFill>
                  <a:srgbClr val="1F4D3F"/>
                </a:solidFill>
                <a:latin typeface="Avenir Next"/>
              </a:rPr>
              <a:t>A</a:t>
            </a:r>
            <a:r>
              <a:rPr baseline="-25000" sz="4000">
                <a:solidFill>
                  <a:srgbClr val="1F4D3F"/>
                </a:solidFill>
                <a:latin typeface="Avenir Next"/>
              </a:rPr>
              <a:t>t</a:t>
            </a:r>
            <a:r>
              <a:rPr sz="4000">
                <a:solidFill>
                  <a:srgbClr val="1F4D3F"/>
                </a:solidFill>
                <a:latin typeface="Avenir Next"/>
              </a:rPr>
              <a:t> n</a:t>
            </a:r>
            <a:r>
              <a:rPr baseline="-25000" sz="4000">
                <a:solidFill>
                  <a:srgbClr val="1F4D3F"/>
                </a:solidFill>
                <a:latin typeface="Avenir Next"/>
              </a:rPr>
              <a:t>t</a:t>
            </a:r>
          </a:p>
        </p:txBody>
      </p:sp>
      <p:pic>
        <p:nvPicPr>
          <p:cNvPr id="27" name="Picture 26" descr="icon_sun.png"/>
          <p:cNvPicPr>
            <a:picLocks noChangeAspect="1"/>
          </p:cNvPicPr>
          <p:nvPr/>
        </p:nvPicPr>
        <p:blipFill>
          <a:blip r:embed="rId3"/>
          <a:stretch>
            <a:fillRect/>
          </a:stretch>
        </p:blipFill>
        <p:spPr>
          <a:xfrm>
            <a:off x="1143000" y="3429000"/>
            <a:ext cx="914400" cy="914400"/>
          </a:xfrm>
          <a:prstGeom prst="rect">
            <a:avLst/>
          </a:prstGeom>
        </p:spPr>
      </p:pic>
      <p:sp>
        <p:nvSpPr>
          <p:cNvPr id="28" name="TextBox 27"/>
          <p:cNvSpPr txBox="1"/>
          <p:nvPr/>
        </p:nvSpPr>
        <p:spPr>
          <a:xfrm>
            <a:off x="822960" y="4434840"/>
            <a:ext cx="1554480" cy="822960"/>
          </a:xfrm>
          <a:prstGeom prst="rect">
            <a:avLst/>
          </a:prstGeom>
          <a:noFill/>
        </p:spPr>
        <p:txBody>
          <a:bodyPr wrap="square">
            <a:spAutoFit/>
          </a:bodyPr>
          <a:lstStyle/>
          <a:p>
            <a:pPr algn="ctr"/>
            <a:r>
              <a:rPr b="1" sz="1600">
                <a:solidFill>
                  <a:srgbClr val="1F2623"/>
                </a:solidFill>
                <a:latin typeface="Avenir Next"/>
              </a:rPr>
              <a:t>A</a:t>
            </a:r>
            <a:r>
              <a:rPr baseline="-25000" sz="1600">
                <a:solidFill>
                  <a:srgbClr val="1F2623"/>
                </a:solidFill>
                <a:latin typeface="Avenir Next"/>
              </a:rPr>
              <a:t>good</a:t>
            </a:r>
          </a:p>
          <a:p>
            <a:pPr algn="ctr"/>
            <a:r>
              <a:rPr sz="1600">
                <a:solidFill>
                  <a:srgbClr val="1F2623"/>
                </a:solidFill>
                <a:latin typeface="Avenir Next"/>
              </a:rPr>
              <a:t>Good year</a:t>
            </a:r>
          </a:p>
        </p:txBody>
      </p:sp>
      <p:pic>
        <p:nvPicPr>
          <p:cNvPr id="29" name="Picture 28" descr="icon_cloud_sun.png"/>
          <p:cNvPicPr>
            <a:picLocks noChangeAspect="1"/>
          </p:cNvPicPr>
          <p:nvPr/>
        </p:nvPicPr>
        <p:blipFill>
          <a:blip r:embed="rId4"/>
          <a:stretch>
            <a:fillRect/>
          </a:stretch>
        </p:blipFill>
        <p:spPr>
          <a:xfrm>
            <a:off x="2971800" y="3429000"/>
            <a:ext cx="914400" cy="914400"/>
          </a:xfrm>
          <a:prstGeom prst="rect">
            <a:avLst/>
          </a:prstGeom>
        </p:spPr>
      </p:pic>
      <p:sp>
        <p:nvSpPr>
          <p:cNvPr id="30" name="TextBox 29"/>
          <p:cNvSpPr txBox="1"/>
          <p:nvPr/>
        </p:nvSpPr>
        <p:spPr>
          <a:xfrm>
            <a:off x="2651760" y="4434840"/>
            <a:ext cx="1554480" cy="822960"/>
          </a:xfrm>
          <a:prstGeom prst="rect">
            <a:avLst/>
          </a:prstGeom>
          <a:noFill/>
        </p:spPr>
        <p:txBody>
          <a:bodyPr wrap="square">
            <a:spAutoFit/>
          </a:bodyPr>
          <a:lstStyle/>
          <a:p>
            <a:pPr algn="ctr"/>
            <a:r>
              <a:rPr b="1" sz="1600">
                <a:solidFill>
                  <a:srgbClr val="1F2623"/>
                </a:solidFill>
                <a:latin typeface="Avenir Next"/>
              </a:rPr>
              <a:t>A</a:t>
            </a:r>
            <a:r>
              <a:rPr baseline="-25000" sz="1600">
                <a:solidFill>
                  <a:srgbClr val="1F2623"/>
                </a:solidFill>
                <a:latin typeface="Avenir Next"/>
              </a:rPr>
              <a:t>average</a:t>
            </a:r>
          </a:p>
          <a:p>
            <a:pPr algn="ctr"/>
            <a:r>
              <a:rPr sz="1600">
                <a:solidFill>
                  <a:srgbClr val="1F2623"/>
                </a:solidFill>
                <a:latin typeface="Avenir Next"/>
              </a:rPr>
              <a:t>Average year</a:t>
            </a:r>
          </a:p>
        </p:txBody>
      </p:sp>
      <p:pic>
        <p:nvPicPr>
          <p:cNvPr id="31" name="Picture 30" descr="icon_rain.png"/>
          <p:cNvPicPr>
            <a:picLocks noChangeAspect="1"/>
          </p:cNvPicPr>
          <p:nvPr/>
        </p:nvPicPr>
        <p:blipFill>
          <a:blip r:embed="rId5"/>
          <a:stretch>
            <a:fillRect/>
          </a:stretch>
        </p:blipFill>
        <p:spPr>
          <a:xfrm>
            <a:off x="4800600" y="3429000"/>
            <a:ext cx="914400" cy="914400"/>
          </a:xfrm>
          <a:prstGeom prst="rect">
            <a:avLst/>
          </a:prstGeom>
        </p:spPr>
      </p:pic>
      <p:sp>
        <p:nvSpPr>
          <p:cNvPr id="32" name="TextBox 31"/>
          <p:cNvSpPr txBox="1"/>
          <p:nvPr/>
        </p:nvSpPr>
        <p:spPr>
          <a:xfrm>
            <a:off x="4480560" y="4434840"/>
            <a:ext cx="1554480" cy="822960"/>
          </a:xfrm>
          <a:prstGeom prst="rect">
            <a:avLst/>
          </a:prstGeom>
          <a:noFill/>
        </p:spPr>
        <p:txBody>
          <a:bodyPr wrap="square">
            <a:spAutoFit/>
          </a:bodyPr>
          <a:lstStyle/>
          <a:p>
            <a:pPr algn="ctr"/>
            <a:r>
              <a:rPr b="1" sz="1600">
                <a:solidFill>
                  <a:srgbClr val="1F2623"/>
                </a:solidFill>
                <a:latin typeface="Avenir Next"/>
              </a:rPr>
              <a:t>A</a:t>
            </a:r>
            <a:r>
              <a:rPr baseline="-25000" sz="1600">
                <a:solidFill>
                  <a:srgbClr val="1F2623"/>
                </a:solidFill>
                <a:latin typeface="Avenir Next"/>
              </a:rPr>
              <a:t>bad</a:t>
            </a:r>
          </a:p>
          <a:p>
            <a:pPr algn="ctr"/>
            <a:r>
              <a:rPr sz="1600">
                <a:solidFill>
                  <a:srgbClr val="1F2623"/>
                </a:solidFill>
                <a:latin typeface="Avenir Next"/>
              </a:rPr>
              <a:t>Bad year</a:t>
            </a:r>
          </a:p>
        </p:txBody>
      </p:sp>
      <p:sp>
        <p:nvSpPr>
          <p:cNvPr id="33" name="TextBox 32"/>
          <p:cNvSpPr txBox="1"/>
          <p:nvPr/>
        </p:nvSpPr>
        <p:spPr>
          <a:xfrm>
            <a:off x="822960" y="5440680"/>
            <a:ext cx="5212080" cy="365760"/>
          </a:xfrm>
          <a:prstGeom prst="rect">
            <a:avLst/>
          </a:prstGeom>
          <a:noFill/>
        </p:spPr>
        <p:txBody>
          <a:bodyPr wrap="square">
            <a:spAutoFit/>
          </a:bodyPr>
          <a:lstStyle/>
          <a:p>
            <a:pPr algn="ctr"/>
            <a:r>
              <a:rPr sz="1600">
                <a:solidFill>
                  <a:srgbClr val="6E6F68"/>
                </a:solidFill>
                <a:latin typeface="Avenir Next"/>
              </a:rPr>
              <a:t>One drawn at random each year</a:t>
            </a:r>
          </a:p>
        </p:txBody>
      </p:sp>
      <p:sp>
        <p:nvSpPr>
          <p:cNvPr id="34" name="TextBox 33"/>
          <p:cNvSpPr txBox="1"/>
          <p:nvPr/>
        </p:nvSpPr>
        <p:spPr>
          <a:xfrm>
            <a:off x="6949440" y="2377440"/>
            <a:ext cx="4480560" cy="3200400"/>
          </a:xfrm>
          <a:prstGeom prst="rect">
            <a:avLst/>
          </a:prstGeom>
          <a:noFill/>
        </p:spPr>
        <p:txBody>
          <a:bodyPr wrap="square">
            <a:spAutoFit/>
          </a:bodyPr>
          <a:lstStyle/>
          <a:p>
            <a:pPr algn="l"/>
            <a:r>
              <a:rPr sz="1900">
                <a:solidFill>
                  <a:srgbClr val="1F2623"/>
                </a:solidFill>
                <a:latin typeface="Avenir Next"/>
              </a:rPr>
              <a:t>Gives the </a:t>
            </a:r>
            <a:r>
              <a:rPr b="1" sz="1900">
                <a:solidFill>
                  <a:srgbClr val="1F2623"/>
                </a:solidFill>
                <a:latin typeface="Avenir Next"/>
              </a:rPr>
              <a:t>stochastic growth rate</a:t>
            </a:r>
            <a:r>
              <a:rPr sz="1900">
                <a:solidFill>
                  <a:srgbClr val="1F2623"/>
                </a:solidFill>
                <a:latin typeface="Avenir Next"/>
              </a:rPr>
              <a:t>, λ</a:t>
            </a:r>
            <a:r>
              <a:rPr baseline="-25000" sz="1900">
                <a:solidFill>
                  <a:srgbClr val="1F2623"/>
                </a:solidFill>
                <a:latin typeface="Avenir Next"/>
              </a:rPr>
              <a:t>s</a:t>
            </a:r>
          </a:p>
          <a:p>
            <a:pPr algn="l"/>
            <a:r>
              <a:rPr sz="1900">
                <a:solidFill>
                  <a:srgbClr val="1F2623"/>
                </a:solidFill>
                <a:latin typeface="Avenir Next"/>
              </a:rPr>
              <a:t>usually lower than λ of the average matrix</a:t>
            </a:r>
          </a:p>
          <a:p>
            <a:pPr algn="l"/>
          </a:p>
          <a:p>
            <a:pPr algn="l"/>
            <a:r>
              <a:rPr sz="1900">
                <a:solidFill>
                  <a:srgbClr val="1F2623"/>
                </a:solidFill>
                <a:latin typeface="Avenir Next"/>
              </a:rPr>
              <a:t>and the </a:t>
            </a:r>
            <a:r>
              <a:rPr b="1" sz="1900">
                <a:solidFill>
                  <a:srgbClr val="1F2623"/>
                </a:solidFill>
                <a:latin typeface="Avenir Next"/>
              </a:rPr>
              <a:t>risk of extinction</a:t>
            </a:r>
            <a:r>
              <a:rPr sz="1900">
                <a:solidFill>
                  <a:srgbClr val="1F2623"/>
                </a:solidFill>
                <a:latin typeface="Avenir Next"/>
              </a:rPr>
              <a:t> (or of falling below a threshold), from many runs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pPr/>
            <a:r>
              <a:t>05</a:t>
            </a:r>
          </a:p>
        </p:txBody>
      </p:sp>
      <p:sp>
        <p:nvSpPr>
          <p:cNvPr id="3" name="Title 2"/>
          <p:cNvSpPr>
            <a:spLocks noGrp="1"/>
          </p:cNvSpPr>
          <p:nvPr>
            <p:ph type="title" idx="103"/>
          </p:nvPr>
        </p:nvSpPr>
        <p:spPr/>
        <p:txBody>
          <a:bodyPr/>
          <a:lstStyle/>
          <a:p>
            <a:pPr/>
            <a:r>
              <a:t>Which transitions matter?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Which parts of the life cycle matter most?</a:t>
            </a:r>
          </a:p>
        </p:txBody>
      </p:sp>
      <p:pic>
        <p:nvPicPr>
          <p:cNvPr id="3" name="Picture Placeholder 2" descr="loggerhead_takeaway.jpg"/>
          <p:cNvPicPr>
            <a:picLocks noGrp="1" noChangeAspect="1"/>
          </p:cNvPicPr>
          <p:nvPr>
            <p:ph type="pic" idx="101"/>
          </p:nvPr>
        </p:nvPicPr>
        <p:blipFill>
          <a:blip r:embed="rId2"/>
          <a:srcRect/>
          <a:stretch>
            <a:fillRect/>
          </a:stretch>
        </p:blipFill>
        <p:spPr/>
      </p:pic>
      <p:sp>
        <p:nvSpPr>
          <p:cNvPr id="4" name="Text Placeholder 3"/>
          <p:cNvSpPr>
            <a:spLocks noGrp="1"/>
          </p:cNvSpPr>
          <p:nvPr>
            <p:ph type="body" idx="103"/>
          </p:nvPr>
        </p:nvSpPr>
        <p:spPr/>
        <p:txBody>
          <a:bodyPr/>
          <a:lstStyle/>
          <a:p>
            <a:pPr/>
            <a:r>
              <a:t>QUESTIONS</a:t>
            </a:r>
          </a:p>
        </p:txBody>
      </p:sp>
      <p:sp>
        <p:nvSpPr>
          <p:cNvPr id="5" name="Text Placeholder 4"/>
          <p:cNvSpPr>
            <a:spLocks noGrp="1"/>
          </p:cNvSpPr>
          <p:nvPr>
            <p:ph type="body" idx="105"/>
          </p:nvPr>
        </p:nvSpPr>
        <p:spPr/>
        <p:txBody>
          <a:bodyPr/>
          <a:lstStyle/>
          <a:p>
            <a:pPr/>
            <a:r>
              <a:rPr sz="1800"/>
              <a:t>Where should conservation or management effort go?</a:t>
            </a:r>
          </a:p>
          <a:p>
            <a:pPr/>
            <a:r>
              <a:rPr sz="1800"/>
              <a:t>Which transitions are likely to be under the strongest selection?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Sensitivity and elasticity</a:t>
            </a:r>
          </a:p>
        </p:txBody>
      </p:sp>
      <p:sp>
        <p:nvSpPr>
          <p:cNvPr id="3" name="Text Placeholder 2"/>
          <p:cNvSpPr>
            <a:spLocks noGrp="1"/>
          </p:cNvSpPr>
          <p:nvPr>
            <p:ph type="body" idx="101"/>
          </p:nvPr>
        </p:nvSpPr>
        <p:spPr/>
        <p:txBody>
          <a:bodyPr/>
          <a:lstStyle/>
          <a:p>
            <a:pPr/>
            <a:r>
              <a:t>SENSITIVITY</a:t>
            </a:r>
          </a:p>
        </p:txBody>
      </p:sp>
      <p:sp>
        <p:nvSpPr>
          <p:cNvPr id="4" name="Text Placeholder 3"/>
          <p:cNvSpPr>
            <a:spLocks noGrp="1"/>
          </p:cNvSpPr>
          <p:nvPr>
            <p:ph type="body" idx="103"/>
          </p:nvPr>
        </p:nvSpPr>
        <p:spPr/>
        <p:txBody>
          <a:bodyPr/>
          <a:lstStyle/>
          <a:p>
            <a:pPr/>
            <a:r>
              <a:rPr sz="1700"/>
              <a:t>Change in λ after a small </a:t>
            </a:r>
            <a:r>
              <a:rPr b="1" sz="1700"/>
              <a:t>absolute</a:t>
            </a:r>
            <a:r>
              <a:rPr sz="1700"/>
              <a:t> change in one element (e.g. +0.01)</a:t>
            </a:r>
          </a:p>
          <a:p>
            <a:pPr/>
            <a:r>
              <a:rPr sz="1700"/>
              <a:t>Juvenile survival 0.20 → 0.21: λ + 0.005</a:t>
            </a:r>
          </a:p>
          <a:p>
            <a:pPr/>
            <a:r>
              <a:rPr sz="1700"/>
              <a:t>Adult survival 0.80 → 0.81: λ + 0.010</a:t>
            </a:r>
          </a:p>
          <a:p>
            <a:pPr/>
            <a:r>
              <a:rPr sz="1700"/>
              <a:t>Hard to compare survival (≤ 1) with fertility (can be ≫ 1)</a:t>
            </a:r>
          </a:p>
        </p:txBody>
      </p:sp>
      <p:sp>
        <p:nvSpPr>
          <p:cNvPr id="5" name="Text Placeholder 4"/>
          <p:cNvSpPr>
            <a:spLocks noGrp="1"/>
          </p:cNvSpPr>
          <p:nvPr>
            <p:ph type="body" idx="104"/>
          </p:nvPr>
        </p:nvSpPr>
        <p:spPr/>
        <p:txBody>
          <a:bodyPr/>
          <a:lstStyle/>
          <a:p>
            <a:pPr/>
            <a:r>
              <a:t>ELASTICITY</a:t>
            </a:r>
          </a:p>
        </p:txBody>
      </p:sp>
      <p:sp>
        <p:nvSpPr>
          <p:cNvPr id="6" name="Text Placeholder 5"/>
          <p:cNvSpPr>
            <a:spLocks noGrp="1"/>
          </p:cNvSpPr>
          <p:nvPr>
            <p:ph type="body" idx="106"/>
          </p:nvPr>
        </p:nvSpPr>
        <p:spPr/>
        <p:txBody>
          <a:bodyPr/>
          <a:lstStyle/>
          <a:p>
            <a:pPr/>
            <a:r>
              <a:rPr b="1" sz="1700"/>
              <a:t>Proportional</a:t>
            </a:r>
            <a:r>
              <a:rPr sz="1700"/>
              <a:t> change in λ after a small </a:t>
            </a:r>
            <a:r>
              <a:rPr b="1" sz="1700"/>
              <a:t>proportional</a:t>
            </a:r>
            <a:r>
              <a:rPr sz="1700"/>
              <a:t> change (e.g. +5%)</a:t>
            </a:r>
          </a:p>
          <a:p>
            <a:pPr/>
            <a:r>
              <a:rPr sz="1700"/>
              <a:t>Juvenile survival +5%: λ +0.5% (elasticity 0.10)</a:t>
            </a:r>
          </a:p>
          <a:p>
            <a:pPr/>
            <a:r>
              <a:rPr sz="1700"/>
              <a:t>Adult survival +5%: λ +4% (elasticity 0.80)</a:t>
            </a:r>
          </a:p>
          <a:p>
            <a:pPr/>
            <a:r>
              <a:rPr sz="1700"/>
              <a:t>Comparable across all elements; they sum to 1</a:t>
            </a:r>
          </a:p>
          <a:p>
            <a:pPr/>
            <a:r>
              <a:rPr sz="1700"/>
              <a:t>In R: </a:t>
            </a:r>
            <a:r>
              <a:rPr sz="1700">
                <a:latin typeface="Menlo"/>
              </a:rPr>
              <a:t>popdemo::elas(A)</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1"/>
          <p:cNvSpPr>
            <a:spLocks noGrp="1"/>
          </p:cNvSpPr>
          <p:nvPr>
            <p:ph type="title" idx="100"/>
          </p:nvPr>
        </p:nvSpPr>
        <p:spPr/>
        <p:txBody>
          <a:bodyPr/>
          <a:lstStyle/>
          <a:p>
            <a:pPr/>
            <a:r>
              <a:t>Killer whale: adult survival matters most</a:t>
            </a:r>
          </a:p>
        </p:txBody>
      </p:sp>
      <p:pic>
        <p:nvPicPr>
          <p:cNvPr id="3" name="Picture Placeholder 2" descr="06_whale_elasticity.png"/>
          <p:cNvPicPr>
            <a:picLocks noGrp="1" noChangeAspect="1"/>
          </p:cNvPicPr>
          <p:nvPr>
            <p:ph type="pic" idx="101"/>
          </p:nvPr>
        </p:nvPicPr>
        <p:blipFill>
          <a:blip r:embed="rId2"/>
          <a:srcRect/>
          <a:stretch>
            <a:fillRect/>
          </a:stretch>
        </p:blipFill>
        <p:spPr/>
      </p:pic>
      <p:sp>
        <p:nvSpPr>
          <p:cNvPr id="4" name="Text Placeholder 3"/>
          <p:cNvSpPr>
            <a:spLocks noGrp="1"/>
          </p:cNvSpPr>
          <p:nvPr>
            <p:ph type="body" idx="103"/>
          </p:nvPr>
        </p:nvSpPr>
        <p:spPr/>
        <p:txBody>
          <a:bodyPr/>
          <a:lstStyle/>
          <a:p>
            <a:pPr/>
            <a:r>
              <a:t>TAKEAWAY</a:t>
            </a:r>
          </a:p>
        </p:txBody>
      </p:sp>
      <p:sp>
        <p:nvSpPr>
          <p:cNvPr id="5" name="Text Placeholder 4"/>
          <p:cNvSpPr>
            <a:spLocks noGrp="1"/>
          </p:cNvSpPr>
          <p:nvPr>
            <p:ph type="body" idx="105"/>
          </p:nvPr>
        </p:nvSpPr>
        <p:spPr/>
        <p:txBody>
          <a:bodyPr/>
          <a:lstStyle/>
          <a:p>
            <a:pPr/>
            <a:r>
              <a:rPr sz="1800"/>
              <a:t>Mature females surviving: 0.54; juveniles surviving: 0.34</a:t>
            </a:r>
          </a:p>
          <a:p>
            <a:pPr/>
            <a:r>
              <a:rPr sz="1800"/>
              <a:t>Fertility: 0.04 in total</a:t>
            </a:r>
          </a:p>
          <a:p>
            <a:pPr/>
            <a:r>
              <a:rPr sz="1800"/>
              <a:t>Post-reproductive females: 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Loggerhead turtles: a declining population</a:t>
            </a:r>
          </a:p>
        </p:txBody>
      </p:sp>
      <p:pic>
        <p:nvPicPr>
          <p:cNvPr id="3" name="Picture Placeholder 2" descr="loggerhead_half.jpg"/>
          <p:cNvPicPr>
            <a:picLocks noGrp="1" noChangeAspect="1"/>
          </p:cNvPicPr>
          <p:nvPr>
            <p:ph type="pic" idx="101"/>
          </p:nvPr>
        </p:nvPicPr>
        <p:blipFill>
          <a:blip r:embed="rId2"/>
          <a:srcRect l="15" r="15"/>
          <a:stretch>
            <a:fillRect/>
          </a:stretch>
        </p:blipFill>
        <p:spPr/>
      </p:pic>
      <p:sp>
        <p:nvSpPr>
          <p:cNvPr id="4" name="Text Placeholder 3"/>
          <p:cNvSpPr>
            <a:spLocks noGrp="1"/>
          </p:cNvSpPr>
          <p:nvPr>
            <p:ph type="body" idx="102"/>
          </p:nvPr>
        </p:nvSpPr>
        <p:spPr/>
        <p:txBody>
          <a:bodyPr/>
          <a:lstStyle/>
          <a:p>
            <a:pPr/>
            <a:r>
              <a:rPr i="1" sz="1800"/>
              <a:t>Caretta caretta</a:t>
            </a:r>
            <a:r>
              <a:rPr sz="1800"/>
              <a:t>, nesting on beaches in the south-east USA</a:t>
            </a:r>
          </a:p>
          <a:p>
            <a:pPr/>
            <a:r>
              <a:rPr sz="1800"/>
              <a:t>Crouse, Crowder &amp; Caswell (1987): a 7-stage model from a life table</a:t>
            </a:r>
          </a:p>
          <a:p>
            <a:pPr/>
            <a:r>
              <a:rPr sz="1800"/>
              <a:t>λ = 0.945: declining by about 5% per year</a:t>
            </a:r>
          </a:p>
          <a:p>
            <a:pPr/>
            <a:r>
              <a:rPr sz="1800"/>
              <a:t>Conservation focused on protecting eggs on nesting beaches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p:txBody>
          <a:bodyPr/>
          <a:lstStyle/>
          <a:p>
            <a:pPr/>
            <a:r>
              <a:rPr sz="3000"/>
              <a:t>You have limited money to save the loggerheads. Which would you choose?</a:t>
            </a:r>
          </a:p>
        </p:txBody>
      </p:sp>
      <p:sp>
        <p:nvSpPr>
          <p:cNvPr id="3" name="Text Placeholder 2"/>
          <p:cNvSpPr>
            <a:spLocks noGrp="1"/>
          </p:cNvSpPr>
          <p:nvPr>
            <p:ph type="body" idx="105"/>
          </p:nvPr>
        </p:nvSpPr>
        <p:spPr/>
        <p:txBody>
          <a:bodyPr/>
          <a:lstStyle/>
          <a:p>
            <a:pPr/>
            <a:r>
              <a:t>Protect nests and hatchlings on the beaches</a:t>
            </a:r>
          </a:p>
        </p:txBody>
      </p:sp>
      <p:sp>
        <p:nvSpPr>
          <p:cNvPr id="4" name="Text Placeholder 3"/>
          <p:cNvSpPr>
            <a:spLocks noGrp="1"/>
          </p:cNvSpPr>
          <p:nvPr>
            <p:ph type="body" idx="109"/>
          </p:nvPr>
        </p:nvSpPr>
        <p:spPr/>
        <p:txBody>
          <a:bodyPr/>
          <a:lstStyle/>
          <a:p>
            <a:pPr/>
            <a:r>
              <a:t>Reduce deaths of large juveniles in fishing nets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Where are the big numbers?</a:t>
            </a:r>
          </a:p>
        </p:txBody>
      </p:sp>
      <p:sp>
        <p:nvSpPr>
          <p:cNvPr id="26" name="TextBox 25"/>
          <p:cNvSpPr txBox="1"/>
          <p:nvPr/>
        </p:nvSpPr>
        <p:spPr>
          <a:xfrm>
            <a:off x="91440" y="3803904"/>
            <a:ext cx="1005840" cy="548640"/>
          </a:xfrm>
          <a:prstGeom prst="rect">
            <a:avLst/>
          </a:prstGeom>
          <a:noFill/>
        </p:spPr>
        <p:txBody>
          <a:bodyPr wrap="square">
            <a:spAutoFit/>
          </a:bodyPr>
          <a:lstStyle/>
          <a:p>
            <a:pPr algn="r"/>
            <a:r>
              <a:rPr b="1" sz="2400">
                <a:solidFill>
                  <a:srgbClr val="1F2623"/>
                </a:solidFill>
                <a:latin typeface="Avenir Next"/>
              </a:rPr>
              <a:t>A</a:t>
            </a:r>
            <a:r>
              <a:rPr sz="2400">
                <a:solidFill>
                  <a:srgbClr val="1F2623"/>
                </a:solidFill>
                <a:latin typeface="Avenir Next"/>
              </a:rPr>
              <a:t> =</a:t>
            </a:r>
          </a:p>
        </p:txBody>
      </p:sp>
      <p:sp>
        <p:nvSpPr>
          <p:cNvPr id="27" name="TextBox 26"/>
          <p:cNvSpPr txBox="1"/>
          <p:nvPr/>
        </p:nvSpPr>
        <p:spPr>
          <a:xfrm>
            <a:off x="1234440" y="2606040"/>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28" name="TextBox 27"/>
          <p:cNvSpPr txBox="1"/>
          <p:nvPr/>
        </p:nvSpPr>
        <p:spPr>
          <a:xfrm>
            <a:off x="1819656" y="2606040"/>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29" name="TextBox 28"/>
          <p:cNvSpPr txBox="1"/>
          <p:nvPr/>
        </p:nvSpPr>
        <p:spPr>
          <a:xfrm>
            <a:off x="2404872" y="2606040"/>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30" name="TextBox 29"/>
          <p:cNvSpPr txBox="1"/>
          <p:nvPr/>
        </p:nvSpPr>
        <p:spPr>
          <a:xfrm>
            <a:off x="2990088" y="2606040"/>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31" name="TextBox 30"/>
          <p:cNvSpPr txBox="1"/>
          <p:nvPr/>
        </p:nvSpPr>
        <p:spPr>
          <a:xfrm>
            <a:off x="3575304" y="2606040"/>
            <a:ext cx="585216" cy="420624"/>
          </a:xfrm>
          <a:prstGeom prst="rect">
            <a:avLst/>
          </a:prstGeom>
          <a:noFill/>
        </p:spPr>
        <p:txBody>
          <a:bodyPr wrap="none" anchor="ctr" lIns="0" rIns="0">
            <a:spAutoFit/>
          </a:bodyPr>
          <a:lstStyle/>
          <a:p>
            <a:pPr algn="ctr"/>
            <a:r>
              <a:rPr sz="1600">
                <a:solidFill>
                  <a:srgbClr val="1F2623"/>
                </a:solidFill>
                <a:latin typeface="Avenir Next"/>
              </a:rPr>
              <a:t>127</a:t>
            </a:r>
          </a:p>
        </p:txBody>
      </p:sp>
      <p:sp>
        <p:nvSpPr>
          <p:cNvPr id="32" name="TextBox 31"/>
          <p:cNvSpPr txBox="1"/>
          <p:nvPr/>
        </p:nvSpPr>
        <p:spPr>
          <a:xfrm>
            <a:off x="4160520" y="2606040"/>
            <a:ext cx="585216" cy="420624"/>
          </a:xfrm>
          <a:prstGeom prst="rect">
            <a:avLst/>
          </a:prstGeom>
          <a:noFill/>
        </p:spPr>
        <p:txBody>
          <a:bodyPr wrap="none" anchor="ctr" lIns="0" rIns="0">
            <a:spAutoFit/>
          </a:bodyPr>
          <a:lstStyle/>
          <a:p>
            <a:pPr algn="ctr"/>
            <a:r>
              <a:rPr sz="1600">
                <a:solidFill>
                  <a:srgbClr val="1F2623"/>
                </a:solidFill>
                <a:latin typeface="Avenir Next"/>
              </a:rPr>
              <a:t>4</a:t>
            </a:r>
          </a:p>
        </p:txBody>
      </p:sp>
      <p:sp>
        <p:nvSpPr>
          <p:cNvPr id="33" name="TextBox 32"/>
          <p:cNvSpPr txBox="1"/>
          <p:nvPr/>
        </p:nvSpPr>
        <p:spPr>
          <a:xfrm>
            <a:off x="4745736" y="2606040"/>
            <a:ext cx="585216" cy="420624"/>
          </a:xfrm>
          <a:prstGeom prst="rect">
            <a:avLst/>
          </a:prstGeom>
          <a:noFill/>
        </p:spPr>
        <p:txBody>
          <a:bodyPr wrap="none" anchor="ctr" lIns="0" rIns="0">
            <a:spAutoFit/>
          </a:bodyPr>
          <a:lstStyle/>
          <a:p>
            <a:pPr algn="ctr"/>
            <a:r>
              <a:rPr sz="1600">
                <a:solidFill>
                  <a:srgbClr val="1F2623"/>
                </a:solidFill>
                <a:latin typeface="Avenir Next"/>
              </a:rPr>
              <a:t>80</a:t>
            </a:r>
          </a:p>
        </p:txBody>
      </p:sp>
      <p:sp>
        <p:nvSpPr>
          <p:cNvPr id="34" name="TextBox 33"/>
          <p:cNvSpPr txBox="1"/>
          <p:nvPr/>
        </p:nvSpPr>
        <p:spPr>
          <a:xfrm>
            <a:off x="1234440" y="3026664"/>
            <a:ext cx="585216" cy="420624"/>
          </a:xfrm>
          <a:prstGeom prst="rect">
            <a:avLst/>
          </a:prstGeom>
          <a:noFill/>
        </p:spPr>
        <p:txBody>
          <a:bodyPr wrap="none" anchor="ctr" lIns="0" rIns="0">
            <a:spAutoFit/>
          </a:bodyPr>
          <a:lstStyle/>
          <a:p>
            <a:pPr algn="ctr"/>
            <a:r>
              <a:rPr sz="1600">
                <a:solidFill>
                  <a:srgbClr val="1F2623"/>
                </a:solidFill>
                <a:latin typeface="Avenir Next"/>
              </a:rPr>
              <a:t>0.67</a:t>
            </a:r>
          </a:p>
        </p:txBody>
      </p:sp>
      <p:sp>
        <p:nvSpPr>
          <p:cNvPr id="35" name="TextBox 34"/>
          <p:cNvSpPr txBox="1"/>
          <p:nvPr/>
        </p:nvSpPr>
        <p:spPr>
          <a:xfrm>
            <a:off x="1819656" y="3026664"/>
            <a:ext cx="585216" cy="420624"/>
          </a:xfrm>
          <a:prstGeom prst="rect">
            <a:avLst/>
          </a:prstGeom>
          <a:noFill/>
        </p:spPr>
        <p:txBody>
          <a:bodyPr wrap="none" anchor="ctr" lIns="0" rIns="0">
            <a:spAutoFit/>
          </a:bodyPr>
          <a:lstStyle/>
          <a:p>
            <a:pPr algn="ctr"/>
            <a:r>
              <a:rPr sz="1600">
                <a:solidFill>
                  <a:srgbClr val="1F2623"/>
                </a:solidFill>
                <a:latin typeface="Avenir Next"/>
              </a:rPr>
              <a:t>0.74</a:t>
            </a:r>
          </a:p>
        </p:txBody>
      </p:sp>
      <p:sp>
        <p:nvSpPr>
          <p:cNvPr id="36" name="TextBox 35"/>
          <p:cNvSpPr txBox="1"/>
          <p:nvPr/>
        </p:nvSpPr>
        <p:spPr>
          <a:xfrm>
            <a:off x="2404872" y="3026664"/>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37" name="TextBox 36"/>
          <p:cNvSpPr txBox="1"/>
          <p:nvPr/>
        </p:nvSpPr>
        <p:spPr>
          <a:xfrm>
            <a:off x="2990088" y="3026664"/>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38" name="TextBox 37"/>
          <p:cNvSpPr txBox="1"/>
          <p:nvPr/>
        </p:nvSpPr>
        <p:spPr>
          <a:xfrm>
            <a:off x="3575304" y="3026664"/>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39" name="TextBox 38"/>
          <p:cNvSpPr txBox="1"/>
          <p:nvPr/>
        </p:nvSpPr>
        <p:spPr>
          <a:xfrm>
            <a:off x="4160520" y="3026664"/>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40" name="TextBox 39"/>
          <p:cNvSpPr txBox="1"/>
          <p:nvPr/>
        </p:nvSpPr>
        <p:spPr>
          <a:xfrm>
            <a:off x="4745736" y="3026664"/>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41" name="TextBox 40"/>
          <p:cNvSpPr txBox="1"/>
          <p:nvPr/>
        </p:nvSpPr>
        <p:spPr>
          <a:xfrm>
            <a:off x="1234440" y="3447288"/>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42" name="TextBox 41"/>
          <p:cNvSpPr txBox="1"/>
          <p:nvPr/>
        </p:nvSpPr>
        <p:spPr>
          <a:xfrm>
            <a:off x="1819656" y="3447288"/>
            <a:ext cx="585216" cy="420624"/>
          </a:xfrm>
          <a:prstGeom prst="rect">
            <a:avLst/>
          </a:prstGeom>
          <a:noFill/>
        </p:spPr>
        <p:txBody>
          <a:bodyPr wrap="none" anchor="ctr" lIns="0" rIns="0">
            <a:spAutoFit/>
          </a:bodyPr>
          <a:lstStyle/>
          <a:p>
            <a:pPr algn="ctr"/>
            <a:r>
              <a:rPr sz="1600">
                <a:solidFill>
                  <a:srgbClr val="1F2623"/>
                </a:solidFill>
                <a:latin typeface="Avenir Next"/>
              </a:rPr>
              <a:t>0.05</a:t>
            </a:r>
          </a:p>
        </p:txBody>
      </p:sp>
      <p:sp>
        <p:nvSpPr>
          <p:cNvPr id="43" name="TextBox 42"/>
          <p:cNvSpPr txBox="1"/>
          <p:nvPr/>
        </p:nvSpPr>
        <p:spPr>
          <a:xfrm>
            <a:off x="2404872" y="3447288"/>
            <a:ext cx="585216" cy="420624"/>
          </a:xfrm>
          <a:prstGeom prst="rect">
            <a:avLst/>
          </a:prstGeom>
          <a:noFill/>
        </p:spPr>
        <p:txBody>
          <a:bodyPr wrap="none" anchor="ctr" lIns="0" rIns="0">
            <a:spAutoFit/>
          </a:bodyPr>
          <a:lstStyle/>
          <a:p>
            <a:pPr algn="ctr"/>
            <a:r>
              <a:rPr sz="1600">
                <a:solidFill>
                  <a:srgbClr val="1F2623"/>
                </a:solidFill>
                <a:latin typeface="Avenir Next"/>
              </a:rPr>
              <a:t>0.66</a:t>
            </a:r>
          </a:p>
        </p:txBody>
      </p:sp>
      <p:sp>
        <p:nvSpPr>
          <p:cNvPr id="44" name="TextBox 43"/>
          <p:cNvSpPr txBox="1"/>
          <p:nvPr/>
        </p:nvSpPr>
        <p:spPr>
          <a:xfrm>
            <a:off x="2990088" y="3447288"/>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45" name="TextBox 44"/>
          <p:cNvSpPr txBox="1"/>
          <p:nvPr/>
        </p:nvSpPr>
        <p:spPr>
          <a:xfrm>
            <a:off x="3575304" y="3447288"/>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46" name="TextBox 45"/>
          <p:cNvSpPr txBox="1"/>
          <p:nvPr/>
        </p:nvSpPr>
        <p:spPr>
          <a:xfrm>
            <a:off x="4160520" y="3447288"/>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47" name="TextBox 46"/>
          <p:cNvSpPr txBox="1"/>
          <p:nvPr/>
        </p:nvSpPr>
        <p:spPr>
          <a:xfrm>
            <a:off x="4745736" y="3447288"/>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48" name="TextBox 47"/>
          <p:cNvSpPr txBox="1"/>
          <p:nvPr/>
        </p:nvSpPr>
        <p:spPr>
          <a:xfrm>
            <a:off x="1234440" y="3867912"/>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49" name="TextBox 48"/>
          <p:cNvSpPr txBox="1"/>
          <p:nvPr/>
        </p:nvSpPr>
        <p:spPr>
          <a:xfrm>
            <a:off x="1819656" y="3867912"/>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50" name="TextBox 49"/>
          <p:cNvSpPr txBox="1"/>
          <p:nvPr/>
        </p:nvSpPr>
        <p:spPr>
          <a:xfrm>
            <a:off x="2404872" y="3867912"/>
            <a:ext cx="585216" cy="420624"/>
          </a:xfrm>
          <a:prstGeom prst="rect">
            <a:avLst/>
          </a:prstGeom>
          <a:noFill/>
        </p:spPr>
        <p:txBody>
          <a:bodyPr wrap="none" anchor="ctr" lIns="0" rIns="0">
            <a:spAutoFit/>
          </a:bodyPr>
          <a:lstStyle/>
          <a:p>
            <a:pPr algn="ctr"/>
            <a:r>
              <a:rPr sz="1600">
                <a:solidFill>
                  <a:srgbClr val="1F2623"/>
                </a:solidFill>
                <a:latin typeface="Avenir Next"/>
              </a:rPr>
              <a:t>0.01</a:t>
            </a:r>
          </a:p>
        </p:txBody>
      </p:sp>
      <p:sp>
        <p:nvSpPr>
          <p:cNvPr id="51" name="TextBox 50"/>
          <p:cNvSpPr txBox="1"/>
          <p:nvPr/>
        </p:nvSpPr>
        <p:spPr>
          <a:xfrm>
            <a:off x="2990088" y="3867912"/>
            <a:ext cx="585216" cy="420624"/>
          </a:xfrm>
          <a:prstGeom prst="rect">
            <a:avLst/>
          </a:prstGeom>
          <a:noFill/>
        </p:spPr>
        <p:txBody>
          <a:bodyPr wrap="none" anchor="ctr" lIns="0" rIns="0">
            <a:spAutoFit/>
          </a:bodyPr>
          <a:lstStyle/>
          <a:p>
            <a:pPr algn="ctr"/>
            <a:r>
              <a:rPr sz="1600">
                <a:solidFill>
                  <a:srgbClr val="1F2623"/>
                </a:solidFill>
                <a:latin typeface="Avenir Next"/>
              </a:rPr>
              <a:t>0.69</a:t>
            </a:r>
          </a:p>
        </p:txBody>
      </p:sp>
      <p:sp>
        <p:nvSpPr>
          <p:cNvPr id="52" name="TextBox 51"/>
          <p:cNvSpPr txBox="1"/>
          <p:nvPr/>
        </p:nvSpPr>
        <p:spPr>
          <a:xfrm>
            <a:off x="3575304" y="3867912"/>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53" name="TextBox 52"/>
          <p:cNvSpPr txBox="1"/>
          <p:nvPr/>
        </p:nvSpPr>
        <p:spPr>
          <a:xfrm>
            <a:off x="4160520" y="3867912"/>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54" name="TextBox 53"/>
          <p:cNvSpPr txBox="1"/>
          <p:nvPr/>
        </p:nvSpPr>
        <p:spPr>
          <a:xfrm>
            <a:off x="4745736" y="3867912"/>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55" name="TextBox 54"/>
          <p:cNvSpPr txBox="1"/>
          <p:nvPr/>
        </p:nvSpPr>
        <p:spPr>
          <a:xfrm>
            <a:off x="1234440" y="4288536"/>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56" name="TextBox 55"/>
          <p:cNvSpPr txBox="1"/>
          <p:nvPr/>
        </p:nvSpPr>
        <p:spPr>
          <a:xfrm>
            <a:off x="1819656" y="4288536"/>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57" name="TextBox 56"/>
          <p:cNvSpPr txBox="1"/>
          <p:nvPr/>
        </p:nvSpPr>
        <p:spPr>
          <a:xfrm>
            <a:off x="2404872" y="4288536"/>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58" name="TextBox 57"/>
          <p:cNvSpPr txBox="1"/>
          <p:nvPr/>
        </p:nvSpPr>
        <p:spPr>
          <a:xfrm>
            <a:off x="2990088" y="4288536"/>
            <a:ext cx="585216" cy="420624"/>
          </a:xfrm>
          <a:prstGeom prst="rect">
            <a:avLst/>
          </a:prstGeom>
          <a:noFill/>
        </p:spPr>
        <p:txBody>
          <a:bodyPr wrap="none" anchor="ctr" lIns="0" rIns="0">
            <a:spAutoFit/>
          </a:bodyPr>
          <a:lstStyle/>
          <a:p>
            <a:pPr algn="ctr"/>
            <a:r>
              <a:rPr sz="1600">
                <a:solidFill>
                  <a:srgbClr val="1F2623"/>
                </a:solidFill>
                <a:latin typeface="Avenir Next"/>
              </a:rPr>
              <a:t>0.05</a:t>
            </a:r>
          </a:p>
        </p:txBody>
      </p:sp>
      <p:sp>
        <p:nvSpPr>
          <p:cNvPr id="59" name="TextBox 58"/>
          <p:cNvSpPr txBox="1"/>
          <p:nvPr/>
        </p:nvSpPr>
        <p:spPr>
          <a:xfrm>
            <a:off x="3575304" y="4288536"/>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60" name="TextBox 59"/>
          <p:cNvSpPr txBox="1"/>
          <p:nvPr/>
        </p:nvSpPr>
        <p:spPr>
          <a:xfrm>
            <a:off x="4160520" y="4288536"/>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61" name="TextBox 60"/>
          <p:cNvSpPr txBox="1"/>
          <p:nvPr/>
        </p:nvSpPr>
        <p:spPr>
          <a:xfrm>
            <a:off x="4745736" y="4288536"/>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62" name="TextBox 61"/>
          <p:cNvSpPr txBox="1"/>
          <p:nvPr/>
        </p:nvSpPr>
        <p:spPr>
          <a:xfrm>
            <a:off x="1234440" y="4709160"/>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63" name="TextBox 62"/>
          <p:cNvSpPr txBox="1"/>
          <p:nvPr/>
        </p:nvSpPr>
        <p:spPr>
          <a:xfrm>
            <a:off x="1819656" y="4709160"/>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64" name="TextBox 63"/>
          <p:cNvSpPr txBox="1"/>
          <p:nvPr/>
        </p:nvSpPr>
        <p:spPr>
          <a:xfrm>
            <a:off x="2404872" y="4709160"/>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65" name="TextBox 64"/>
          <p:cNvSpPr txBox="1"/>
          <p:nvPr/>
        </p:nvSpPr>
        <p:spPr>
          <a:xfrm>
            <a:off x="2990088" y="4709160"/>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66" name="TextBox 65"/>
          <p:cNvSpPr txBox="1"/>
          <p:nvPr/>
        </p:nvSpPr>
        <p:spPr>
          <a:xfrm>
            <a:off x="3575304" y="4709160"/>
            <a:ext cx="585216" cy="420624"/>
          </a:xfrm>
          <a:prstGeom prst="rect">
            <a:avLst/>
          </a:prstGeom>
          <a:noFill/>
        </p:spPr>
        <p:txBody>
          <a:bodyPr wrap="none" anchor="ctr" lIns="0" rIns="0">
            <a:spAutoFit/>
          </a:bodyPr>
          <a:lstStyle/>
          <a:p>
            <a:pPr algn="ctr"/>
            <a:r>
              <a:rPr sz="1600">
                <a:solidFill>
                  <a:srgbClr val="1F2623"/>
                </a:solidFill>
                <a:latin typeface="Avenir Next"/>
              </a:rPr>
              <a:t>0.81</a:t>
            </a:r>
          </a:p>
        </p:txBody>
      </p:sp>
      <p:sp>
        <p:nvSpPr>
          <p:cNvPr id="67" name="TextBox 66"/>
          <p:cNvSpPr txBox="1"/>
          <p:nvPr/>
        </p:nvSpPr>
        <p:spPr>
          <a:xfrm>
            <a:off x="4160520" y="4709160"/>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68" name="TextBox 67"/>
          <p:cNvSpPr txBox="1"/>
          <p:nvPr/>
        </p:nvSpPr>
        <p:spPr>
          <a:xfrm>
            <a:off x="4745736" y="4709160"/>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69" name="TextBox 68"/>
          <p:cNvSpPr txBox="1"/>
          <p:nvPr/>
        </p:nvSpPr>
        <p:spPr>
          <a:xfrm>
            <a:off x="1234440" y="5129784"/>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70" name="TextBox 69"/>
          <p:cNvSpPr txBox="1"/>
          <p:nvPr/>
        </p:nvSpPr>
        <p:spPr>
          <a:xfrm>
            <a:off x="1819656" y="5129784"/>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71" name="TextBox 70"/>
          <p:cNvSpPr txBox="1"/>
          <p:nvPr/>
        </p:nvSpPr>
        <p:spPr>
          <a:xfrm>
            <a:off x="2404872" y="5129784"/>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72" name="TextBox 71"/>
          <p:cNvSpPr txBox="1"/>
          <p:nvPr/>
        </p:nvSpPr>
        <p:spPr>
          <a:xfrm>
            <a:off x="2990088" y="5129784"/>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73" name="TextBox 72"/>
          <p:cNvSpPr txBox="1"/>
          <p:nvPr/>
        </p:nvSpPr>
        <p:spPr>
          <a:xfrm>
            <a:off x="3575304" y="5129784"/>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74" name="TextBox 73"/>
          <p:cNvSpPr txBox="1"/>
          <p:nvPr/>
        </p:nvSpPr>
        <p:spPr>
          <a:xfrm>
            <a:off x="4160520" y="5129784"/>
            <a:ext cx="585216" cy="420624"/>
          </a:xfrm>
          <a:prstGeom prst="rect">
            <a:avLst/>
          </a:prstGeom>
          <a:noFill/>
        </p:spPr>
        <p:txBody>
          <a:bodyPr wrap="none" anchor="ctr" lIns="0" rIns="0">
            <a:spAutoFit/>
          </a:bodyPr>
          <a:lstStyle/>
          <a:p>
            <a:pPr algn="ctr"/>
            <a:r>
              <a:rPr sz="1600">
                <a:solidFill>
                  <a:srgbClr val="1F2623"/>
                </a:solidFill>
                <a:latin typeface="Avenir Next"/>
              </a:rPr>
              <a:t>0.81</a:t>
            </a:r>
          </a:p>
        </p:txBody>
      </p:sp>
      <p:sp>
        <p:nvSpPr>
          <p:cNvPr id="75" name="TextBox 74"/>
          <p:cNvSpPr txBox="1"/>
          <p:nvPr/>
        </p:nvSpPr>
        <p:spPr>
          <a:xfrm>
            <a:off x="4745736" y="5129784"/>
            <a:ext cx="585216" cy="420624"/>
          </a:xfrm>
          <a:prstGeom prst="rect">
            <a:avLst/>
          </a:prstGeom>
          <a:noFill/>
        </p:spPr>
        <p:txBody>
          <a:bodyPr wrap="none" anchor="ctr" lIns="0" rIns="0">
            <a:spAutoFit/>
          </a:bodyPr>
          <a:lstStyle/>
          <a:p>
            <a:pPr algn="ctr"/>
            <a:r>
              <a:rPr sz="1600">
                <a:solidFill>
                  <a:srgbClr val="1F2623"/>
                </a:solidFill>
                <a:latin typeface="Avenir Next"/>
              </a:rPr>
              <a:t>0.81</a:t>
            </a:r>
          </a:p>
        </p:txBody>
      </p:sp>
      <p:cxnSp>
        <p:nvCxnSpPr>
          <p:cNvPr id="76" name="Connector 75"/>
          <p:cNvCxnSpPr/>
          <p:nvPr/>
        </p:nvCxnSpPr>
        <p:spPr>
          <a:xfrm>
            <a:off x="1188720" y="2606040"/>
            <a:ext cx="0" cy="2944368"/>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1188720" y="2606040"/>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1188720" y="5550408"/>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5376672" y="2606040"/>
            <a:ext cx="0" cy="2944368"/>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H="1">
            <a:off x="5248656" y="2606040"/>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H="1">
            <a:off x="5248656" y="5550408"/>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1234440" y="2194560"/>
            <a:ext cx="585216" cy="365760"/>
          </a:xfrm>
          <a:prstGeom prst="rect">
            <a:avLst/>
          </a:prstGeom>
          <a:noFill/>
        </p:spPr>
        <p:txBody>
          <a:bodyPr wrap="square">
            <a:spAutoFit/>
          </a:bodyPr>
          <a:lstStyle/>
          <a:p>
            <a:pPr algn="ctr"/>
            <a:r>
              <a:rPr sz="1400">
                <a:solidFill>
                  <a:srgbClr val="6E6F68"/>
                </a:solidFill>
                <a:latin typeface="Avenir Next"/>
              </a:rPr>
              <a:t>E</a:t>
            </a:r>
          </a:p>
        </p:txBody>
      </p:sp>
      <p:sp>
        <p:nvSpPr>
          <p:cNvPr id="83" name="TextBox 82"/>
          <p:cNvSpPr txBox="1"/>
          <p:nvPr/>
        </p:nvSpPr>
        <p:spPr>
          <a:xfrm>
            <a:off x="1819656" y="2194560"/>
            <a:ext cx="585216" cy="365760"/>
          </a:xfrm>
          <a:prstGeom prst="rect">
            <a:avLst/>
          </a:prstGeom>
          <a:noFill/>
        </p:spPr>
        <p:txBody>
          <a:bodyPr wrap="square">
            <a:spAutoFit/>
          </a:bodyPr>
          <a:lstStyle/>
          <a:p>
            <a:pPr algn="ctr"/>
            <a:r>
              <a:rPr sz="1400">
                <a:solidFill>
                  <a:srgbClr val="6E6F68"/>
                </a:solidFill>
                <a:latin typeface="Avenir Next"/>
              </a:rPr>
              <a:t>SJ</a:t>
            </a:r>
          </a:p>
        </p:txBody>
      </p:sp>
      <p:sp>
        <p:nvSpPr>
          <p:cNvPr id="84" name="TextBox 83"/>
          <p:cNvSpPr txBox="1"/>
          <p:nvPr/>
        </p:nvSpPr>
        <p:spPr>
          <a:xfrm>
            <a:off x="2404872" y="2194560"/>
            <a:ext cx="585216" cy="365760"/>
          </a:xfrm>
          <a:prstGeom prst="rect">
            <a:avLst/>
          </a:prstGeom>
          <a:noFill/>
        </p:spPr>
        <p:txBody>
          <a:bodyPr wrap="square">
            <a:spAutoFit/>
          </a:bodyPr>
          <a:lstStyle/>
          <a:p>
            <a:pPr algn="ctr"/>
            <a:r>
              <a:rPr sz="1400">
                <a:solidFill>
                  <a:srgbClr val="6E6F68"/>
                </a:solidFill>
                <a:latin typeface="Avenir Next"/>
              </a:rPr>
              <a:t>LJ</a:t>
            </a:r>
          </a:p>
        </p:txBody>
      </p:sp>
      <p:sp>
        <p:nvSpPr>
          <p:cNvPr id="85" name="TextBox 84"/>
          <p:cNvSpPr txBox="1"/>
          <p:nvPr/>
        </p:nvSpPr>
        <p:spPr>
          <a:xfrm>
            <a:off x="2990088" y="2194560"/>
            <a:ext cx="585216" cy="365760"/>
          </a:xfrm>
          <a:prstGeom prst="rect">
            <a:avLst/>
          </a:prstGeom>
          <a:noFill/>
        </p:spPr>
        <p:txBody>
          <a:bodyPr wrap="square">
            <a:spAutoFit/>
          </a:bodyPr>
          <a:lstStyle/>
          <a:p>
            <a:pPr algn="ctr"/>
            <a:r>
              <a:rPr sz="1400">
                <a:solidFill>
                  <a:srgbClr val="6E6F68"/>
                </a:solidFill>
                <a:latin typeface="Avenir Next"/>
              </a:rPr>
              <a:t>SA</a:t>
            </a:r>
          </a:p>
        </p:txBody>
      </p:sp>
      <p:sp>
        <p:nvSpPr>
          <p:cNvPr id="86" name="TextBox 85"/>
          <p:cNvSpPr txBox="1"/>
          <p:nvPr/>
        </p:nvSpPr>
        <p:spPr>
          <a:xfrm>
            <a:off x="3575304" y="2194560"/>
            <a:ext cx="585216" cy="365760"/>
          </a:xfrm>
          <a:prstGeom prst="rect">
            <a:avLst/>
          </a:prstGeom>
          <a:noFill/>
        </p:spPr>
        <p:txBody>
          <a:bodyPr wrap="square">
            <a:spAutoFit/>
          </a:bodyPr>
          <a:lstStyle/>
          <a:p>
            <a:pPr algn="ctr"/>
            <a:r>
              <a:rPr sz="1400">
                <a:solidFill>
                  <a:srgbClr val="6E6F68"/>
                </a:solidFill>
                <a:latin typeface="Avenir Next"/>
              </a:rPr>
              <a:t>NB</a:t>
            </a:r>
          </a:p>
        </p:txBody>
      </p:sp>
      <p:sp>
        <p:nvSpPr>
          <p:cNvPr id="87" name="TextBox 86"/>
          <p:cNvSpPr txBox="1"/>
          <p:nvPr/>
        </p:nvSpPr>
        <p:spPr>
          <a:xfrm>
            <a:off x="4160520" y="2194560"/>
            <a:ext cx="585216" cy="365760"/>
          </a:xfrm>
          <a:prstGeom prst="rect">
            <a:avLst/>
          </a:prstGeom>
          <a:noFill/>
        </p:spPr>
        <p:txBody>
          <a:bodyPr wrap="square">
            <a:spAutoFit/>
          </a:bodyPr>
          <a:lstStyle/>
          <a:p>
            <a:pPr algn="ctr"/>
            <a:r>
              <a:rPr sz="1400">
                <a:solidFill>
                  <a:srgbClr val="6E6F68"/>
                </a:solidFill>
                <a:latin typeface="Avenir Next"/>
              </a:rPr>
              <a:t>R</a:t>
            </a:r>
          </a:p>
        </p:txBody>
      </p:sp>
      <p:sp>
        <p:nvSpPr>
          <p:cNvPr id="88" name="TextBox 87"/>
          <p:cNvSpPr txBox="1"/>
          <p:nvPr/>
        </p:nvSpPr>
        <p:spPr>
          <a:xfrm>
            <a:off x="4745736" y="2194560"/>
            <a:ext cx="585216" cy="365760"/>
          </a:xfrm>
          <a:prstGeom prst="rect">
            <a:avLst/>
          </a:prstGeom>
          <a:noFill/>
        </p:spPr>
        <p:txBody>
          <a:bodyPr wrap="square">
            <a:spAutoFit/>
          </a:bodyPr>
          <a:lstStyle/>
          <a:p>
            <a:pPr algn="ctr"/>
            <a:r>
              <a:rPr sz="1400">
                <a:solidFill>
                  <a:srgbClr val="6E6F68"/>
                </a:solidFill>
                <a:latin typeface="Avenir Next"/>
              </a:rPr>
              <a:t>MB</a:t>
            </a:r>
          </a:p>
        </p:txBody>
      </p:sp>
      <p:sp>
        <p:nvSpPr>
          <p:cNvPr id="89" name="TextBox 88"/>
          <p:cNvSpPr txBox="1"/>
          <p:nvPr/>
        </p:nvSpPr>
        <p:spPr>
          <a:xfrm>
            <a:off x="5669280" y="3803904"/>
            <a:ext cx="1005840" cy="548640"/>
          </a:xfrm>
          <a:prstGeom prst="rect">
            <a:avLst/>
          </a:prstGeom>
          <a:noFill/>
        </p:spPr>
        <p:txBody>
          <a:bodyPr wrap="square">
            <a:spAutoFit/>
          </a:bodyPr>
          <a:lstStyle/>
          <a:p>
            <a:pPr algn="r"/>
            <a:r>
              <a:rPr b="1" sz="2400">
                <a:solidFill>
                  <a:srgbClr val="1F2623"/>
                </a:solidFill>
                <a:latin typeface="Avenir Next"/>
              </a:rPr>
              <a:t>E</a:t>
            </a:r>
            <a:r>
              <a:rPr sz="2400">
                <a:solidFill>
                  <a:srgbClr val="1F2623"/>
                </a:solidFill>
                <a:latin typeface="Avenir Next"/>
              </a:rPr>
              <a:t> =</a:t>
            </a:r>
          </a:p>
        </p:txBody>
      </p:sp>
      <p:sp>
        <p:nvSpPr>
          <p:cNvPr id="90" name="TextBox 89"/>
          <p:cNvSpPr txBox="1"/>
          <p:nvPr/>
        </p:nvSpPr>
        <p:spPr>
          <a:xfrm>
            <a:off x="6812280" y="2606040"/>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91" name="TextBox 90"/>
          <p:cNvSpPr txBox="1"/>
          <p:nvPr/>
        </p:nvSpPr>
        <p:spPr>
          <a:xfrm>
            <a:off x="7397496" y="2606040"/>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92" name="TextBox 91"/>
          <p:cNvSpPr txBox="1"/>
          <p:nvPr/>
        </p:nvSpPr>
        <p:spPr>
          <a:xfrm>
            <a:off x="7982712" y="2606040"/>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93" name="TextBox 92"/>
          <p:cNvSpPr txBox="1"/>
          <p:nvPr/>
        </p:nvSpPr>
        <p:spPr>
          <a:xfrm>
            <a:off x="8567928" y="2606040"/>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94" name="TextBox 93"/>
          <p:cNvSpPr txBox="1"/>
          <p:nvPr/>
        </p:nvSpPr>
        <p:spPr>
          <a:xfrm>
            <a:off x="9153144" y="2606040"/>
            <a:ext cx="585216" cy="420624"/>
          </a:xfrm>
          <a:prstGeom prst="rect">
            <a:avLst/>
          </a:prstGeom>
          <a:noFill/>
        </p:spPr>
        <p:txBody>
          <a:bodyPr wrap="none" anchor="ctr" lIns="0" rIns="0">
            <a:spAutoFit/>
          </a:bodyPr>
          <a:lstStyle/>
          <a:p>
            <a:pPr algn="ctr"/>
            <a:r>
              <a:rPr sz="1600">
                <a:solidFill>
                  <a:srgbClr val="1F2623"/>
                </a:solidFill>
                <a:latin typeface="Avenir Next"/>
              </a:rPr>
              <a:t>0.01</a:t>
            </a:r>
          </a:p>
        </p:txBody>
      </p:sp>
      <p:sp>
        <p:nvSpPr>
          <p:cNvPr id="95" name="TextBox 94"/>
          <p:cNvSpPr txBox="1"/>
          <p:nvPr/>
        </p:nvSpPr>
        <p:spPr>
          <a:xfrm>
            <a:off x="9738360" y="2606040"/>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96" name="TextBox 95"/>
          <p:cNvSpPr txBox="1"/>
          <p:nvPr/>
        </p:nvSpPr>
        <p:spPr>
          <a:xfrm>
            <a:off x="10323576" y="2606040"/>
            <a:ext cx="585216" cy="420624"/>
          </a:xfrm>
          <a:prstGeom prst="rect">
            <a:avLst/>
          </a:prstGeom>
          <a:noFill/>
        </p:spPr>
        <p:txBody>
          <a:bodyPr wrap="none" anchor="ctr" lIns="0" rIns="0">
            <a:spAutoFit/>
          </a:bodyPr>
          <a:lstStyle/>
          <a:p>
            <a:pPr algn="ctr"/>
            <a:r>
              <a:rPr sz="1600">
                <a:solidFill>
                  <a:srgbClr val="1F2623"/>
                </a:solidFill>
                <a:latin typeface="Avenir Next"/>
              </a:rPr>
              <a:t>0.04</a:t>
            </a:r>
          </a:p>
        </p:txBody>
      </p:sp>
      <p:sp>
        <p:nvSpPr>
          <p:cNvPr id="97" name="TextBox 96"/>
          <p:cNvSpPr txBox="1"/>
          <p:nvPr/>
        </p:nvSpPr>
        <p:spPr>
          <a:xfrm>
            <a:off x="6812280" y="3026664"/>
            <a:ext cx="585216" cy="420624"/>
          </a:xfrm>
          <a:prstGeom prst="rect">
            <a:avLst/>
          </a:prstGeom>
          <a:noFill/>
        </p:spPr>
        <p:txBody>
          <a:bodyPr wrap="none" anchor="ctr" lIns="0" rIns="0">
            <a:spAutoFit/>
          </a:bodyPr>
          <a:lstStyle/>
          <a:p>
            <a:pPr algn="ctr"/>
            <a:r>
              <a:rPr sz="1600">
                <a:solidFill>
                  <a:srgbClr val="1F2623"/>
                </a:solidFill>
                <a:latin typeface="Avenir Next"/>
              </a:rPr>
              <a:t>0.05</a:t>
            </a:r>
          </a:p>
        </p:txBody>
      </p:sp>
      <p:sp>
        <p:nvSpPr>
          <p:cNvPr id="98" name="TextBox 97"/>
          <p:cNvSpPr txBox="1"/>
          <p:nvPr/>
        </p:nvSpPr>
        <p:spPr>
          <a:xfrm>
            <a:off x="7397496" y="3026664"/>
            <a:ext cx="585216" cy="420624"/>
          </a:xfrm>
          <a:prstGeom prst="rect">
            <a:avLst/>
          </a:prstGeom>
          <a:noFill/>
        </p:spPr>
        <p:txBody>
          <a:bodyPr wrap="none" anchor="ctr" lIns="0" rIns="0">
            <a:spAutoFit/>
          </a:bodyPr>
          <a:lstStyle/>
          <a:p>
            <a:pPr algn="ctr"/>
            <a:r>
              <a:rPr sz="1600">
                <a:solidFill>
                  <a:srgbClr val="1F2623"/>
                </a:solidFill>
                <a:latin typeface="Avenir Next"/>
              </a:rPr>
              <a:t>0.18</a:t>
            </a:r>
          </a:p>
        </p:txBody>
      </p:sp>
      <p:sp>
        <p:nvSpPr>
          <p:cNvPr id="99" name="TextBox 98"/>
          <p:cNvSpPr txBox="1"/>
          <p:nvPr/>
        </p:nvSpPr>
        <p:spPr>
          <a:xfrm>
            <a:off x="7982712" y="3026664"/>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00" name="TextBox 99"/>
          <p:cNvSpPr txBox="1"/>
          <p:nvPr/>
        </p:nvSpPr>
        <p:spPr>
          <a:xfrm>
            <a:off x="8567928" y="3026664"/>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01" name="TextBox 100"/>
          <p:cNvSpPr txBox="1"/>
          <p:nvPr/>
        </p:nvSpPr>
        <p:spPr>
          <a:xfrm>
            <a:off x="9153144" y="3026664"/>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02" name="TextBox 101"/>
          <p:cNvSpPr txBox="1"/>
          <p:nvPr/>
        </p:nvSpPr>
        <p:spPr>
          <a:xfrm>
            <a:off x="9738360" y="3026664"/>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03" name="TextBox 102"/>
          <p:cNvSpPr txBox="1"/>
          <p:nvPr/>
        </p:nvSpPr>
        <p:spPr>
          <a:xfrm>
            <a:off x="10323576" y="3026664"/>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04" name="TextBox 103"/>
          <p:cNvSpPr txBox="1"/>
          <p:nvPr/>
        </p:nvSpPr>
        <p:spPr>
          <a:xfrm>
            <a:off x="6812280" y="3447288"/>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05" name="TextBox 104"/>
          <p:cNvSpPr txBox="1"/>
          <p:nvPr/>
        </p:nvSpPr>
        <p:spPr>
          <a:xfrm>
            <a:off x="7397496" y="3447288"/>
            <a:ext cx="585216" cy="420624"/>
          </a:xfrm>
          <a:prstGeom prst="rect">
            <a:avLst/>
          </a:prstGeom>
          <a:noFill/>
        </p:spPr>
        <p:txBody>
          <a:bodyPr wrap="none" anchor="ctr" lIns="0" rIns="0">
            <a:spAutoFit/>
          </a:bodyPr>
          <a:lstStyle/>
          <a:p>
            <a:pPr algn="ctr"/>
            <a:r>
              <a:rPr sz="1600">
                <a:solidFill>
                  <a:srgbClr val="1F2623"/>
                </a:solidFill>
                <a:latin typeface="Avenir Next"/>
              </a:rPr>
              <a:t>0.05</a:t>
            </a:r>
          </a:p>
        </p:txBody>
      </p:sp>
      <p:sp>
        <p:nvSpPr>
          <p:cNvPr id="106" name="TextBox 105"/>
          <p:cNvSpPr txBox="1"/>
          <p:nvPr/>
        </p:nvSpPr>
        <p:spPr>
          <a:xfrm>
            <a:off x="7982712" y="3447288"/>
            <a:ext cx="585216" cy="420624"/>
          </a:xfrm>
          <a:prstGeom prst="rect">
            <a:avLst/>
          </a:prstGeom>
          <a:noFill/>
        </p:spPr>
        <p:txBody>
          <a:bodyPr wrap="none" anchor="ctr" lIns="0" rIns="0">
            <a:spAutoFit/>
          </a:bodyPr>
          <a:lstStyle/>
          <a:p>
            <a:pPr algn="ctr"/>
            <a:r>
              <a:rPr sz="1600">
                <a:solidFill>
                  <a:srgbClr val="1F2623"/>
                </a:solidFill>
                <a:latin typeface="Avenir Next"/>
              </a:rPr>
              <a:t>0.12</a:t>
            </a:r>
          </a:p>
        </p:txBody>
      </p:sp>
      <p:sp>
        <p:nvSpPr>
          <p:cNvPr id="107" name="TextBox 106"/>
          <p:cNvSpPr txBox="1"/>
          <p:nvPr/>
        </p:nvSpPr>
        <p:spPr>
          <a:xfrm>
            <a:off x="8567928" y="3447288"/>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08" name="TextBox 107"/>
          <p:cNvSpPr txBox="1"/>
          <p:nvPr/>
        </p:nvSpPr>
        <p:spPr>
          <a:xfrm>
            <a:off x="9153144" y="3447288"/>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09" name="TextBox 108"/>
          <p:cNvSpPr txBox="1"/>
          <p:nvPr/>
        </p:nvSpPr>
        <p:spPr>
          <a:xfrm>
            <a:off x="9738360" y="3447288"/>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10" name="TextBox 109"/>
          <p:cNvSpPr txBox="1"/>
          <p:nvPr/>
        </p:nvSpPr>
        <p:spPr>
          <a:xfrm>
            <a:off x="10323576" y="3447288"/>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11" name="TextBox 110"/>
          <p:cNvSpPr txBox="1"/>
          <p:nvPr/>
        </p:nvSpPr>
        <p:spPr>
          <a:xfrm>
            <a:off x="6812280" y="3867912"/>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12" name="TextBox 111"/>
          <p:cNvSpPr txBox="1"/>
          <p:nvPr/>
        </p:nvSpPr>
        <p:spPr>
          <a:xfrm>
            <a:off x="7397496" y="3867912"/>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13" name="TextBox 112"/>
          <p:cNvSpPr txBox="1"/>
          <p:nvPr/>
        </p:nvSpPr>
        <p:spPr>
          <a:xfrm>
            <a:off x="7982712" y="3867912"/>
            <a:ext cx="585216" cy="420624"/>
          </a:xfrm>
          <a:prstGeom prst="rect">
            <a:avLst/>
          </a:prstGeom>
          <a:noFill/>
        </p:spPr>
        <p:txBody>
          <a:bodyPr wrap="none" anchor="ctr" lIns="0" rIns="0">
            <a:spAutoFit/>
          </a:bodyPr>
          <a:lstStyle/>
          <a:p>
            <a:pPr algn="ctr"/>
            <a:r>
              <a:rPr sz="1600">
                <a:solidFill>
                  <a:srgbClr val="1F2623"/>
                </a:solidFill>
                <a:latin typeface="Avenir Next"/>
              </a:rPr>
              <a:t>0.05</a:t>
            </a:r>
          </a:p>
        </p:txBody>
      </p:sp>
      <p:sp>
        <p:nvSpPr>
          <p:cNvPr id="114" name="TextBox 113"/>
          <p:cNvSpPr txBox="1"/>
          <p:nvPr/>
        </p:nvSpPr>
        <p:spPr>
          <a:xfrm>
            <a:off x="8567928" y="3867912"/>
            <a:ext cx="585216" cy="420624"/>
          </a:xfrm>
          <a:prstGeom prst="rect">
            <a:avLst/>
          </a:prstGeom>
          <a:noFill/>
        </p:spPr>
        <p:txBody>
          <a:bodyPr wrap="none" anchor="ctr" lIns="0" rIns="0">
            <a:spAutoFit/>
          </a:bodyPr>
          <a:lstStyle/>
          <a:p>
            <a:pPr algn="ctr"/>
            <a:r>
              <a:rPr sz="1600">
                <a:solidFill>
                  <a:srgbClr val="1F2623"/>
                </a:solidFill>
                <a:latin typeface="Avenir Next"/>
              </a:rPr>
              <a:t>0.14</a:t>
            </a:r>
          </a:p>
        </p:txBody>
      </p:sp>
      <p:sp>
        <p:nvSpPr>
          <p:cNvPr id="115" name="TextBox 114"/>
          <p:cNvSpPr txBox="1"/>
          <p:nvPr/>
        </p:nvSpPr>
        <p:spPr>
          <a:xfrm>
            <a:off x="9153144" y="3867912"/>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16" name="TextBox 115"/>
          <p:cNvSpPr txBox="1"/>
          <p:nvPr/>
        </p:nvSpPr>
        <p:spPr>
          <a:xfrm>
            <a:off x="9738360" y="3867912"/>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17" name="TextBox 116"/>
          <p:cNvSpPr txBox="1"/>
          <p:nvPr/>
        </p:nvSpPr>
        <p:spPr>
          <a:xfrm>
            <a:off x="10323576" y="3867912"/>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18" name="TextBox 117"/>
          <p:cNvSpPr txBox="1"/>
          <p:nvPr/>
        </p:nvSpPr>
        <p:spPr>
          <a:xfrm>
            <a:off x="6812280" y="4288536"/>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19" name="TextBox 118"/>
          <p:cNvSpPr txBox="1"/>
          <p:nvPr/>
        </p:nvSpPr>
        <p:spPr>
          <a:xfrm>
            <a:off x="7397496" y="4288536"/>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20" name="TextBox 119"/>
          <p:cNvSpPr txBox="1"/>
          <p:nvPr/>
        </p:nvSpPr>
        <p:spPr>
          <a:xfrm>
            <a:off x="7982712" y="4288536"/>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21" name="TextBox 120"/>
          <p:cNvSpPr txBox="1"/>
          <p:nvPr/>
        </p:nvSpPr>
        <p:spPr>
          <a:xfrm>
            <a:off x="8567928" y="4288536"/>
            <a:ext cx="585216" cy="420624"/>
          </a:xfrm>
          <a:prstGeom prst="rect">
            <a:avLst/>
          </a:prstGeom>
          <a:noFill/>
        </p:spPr>
        <p:txBody>
          <a:bodyPr wrap="none" anchor="ctr" lIns="0" rIns="0">
            <a:spAutoFit/>
          </a:bodyPr>
          <a:lstStyle/>
          <a:p>
            <a:pPr algn="ctr"/>
            <a:r>
              <a:rPr sz="1600">
                <a:solidFill>
                  <a:srgbClr val="1F2623"/>
                </a:solidFill>
                <a:latin typeface="Avenir Next"/>
              </a:rPr>
              <a:t>0.05</a:t>
            </a:r>
          </a:p>
        </p:txBody>
      </p:sp>
      <p:sp>
        <p:nvSpPr>
          <p:cNvPr id="122" name="TextBox 121"/>
          <p:cNvSpPr txBox="1"/>
          <p:nvPr/>
        </p:nvSpPr>
        <p:spPr>
          <a:xfrm>
            <a:off x="9153144" y="4288536"/>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23" name="TextBox 122"/>
          <p:cNvSpPr txBox="1"/>
          <p:nvPr/>
        </p:nvSpPr>
        <p:spPr>
          <a:xfrm>
            <a:off x="9738360" y="4288536"/>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24" name="TextBox 123"/>
          <p:cNvSpPr txBox="1"/>
          <p:nvPr/>
        </p:nvSpPr>
        <p:spPr>
          <a:xfrm>
            <a:off x="10323576" y="4288536"/>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25" name="TextBox 124"/>
          <p:cNvSpPr txBox="1"/>
          <p:nvPr/>
        </p:nvSpPr>
        <p:spPr>
          <a:xfrm>
            <a:off x="6812280" y="4709160"/>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26" name="TextBox 125"/>
          <p:cNvSpPr txBox="1"/>
          <p:nvPr/>
        </p:nvSpPr>
        <p:spPr>
          <a:xfrm>
            <a:off x="7397496" y="4709160"/>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27" name="TextBox 126"/>
          <p:cNvSpPr txBox="1"/>
          <p:nvPr/>
        </p:nvSpPr>
        <p:spPr>
          <a:xfrm>
            <a:off x="7982712" y="4709160"/>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28" name="TextBox 127"/>
          <p:cNvSpPr txBox="1"/>
          <p:nvPr/>
        </p:nvSpPr>
        <p:spPr>
          <a:xfrm>
            <a:off x="8567928" y="4709160"/>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29" name="TextBox 128"/>
          <p:cNvSpPr txBox="1"/>
          <p:nvPr/>
        </p:nvSpPr>
        <p:spPr>
          <a:xfrm>
            <a:off x="9153144" y="4709160"/>
            <a:ext cx="585216" cy="420624"/>
          </a:xfrm>
          <a:prstGeom prst="rect">
            <a:avLst/>
          </a:prstGeom>
          <a:noFill/>
        </p:spPr>
        <p:txBody>
          <a:bodyPr wrap="none" anchor="ctr" lIns="0" rIns="0">
            <a:spAutoFit/>
          </a:bodyPr>
          <a:lstStyle/>
          <a:p>
            <a:pPr algn="ctr"/>
            <a:r>
              <a:rPr sz="1600">
                <a:solidFill>
                  <a:srgbClr val="1F2623"/>
                </a:solidFill>
                <a:latin typeface="Avenir Next"/>
              </a:rPr>
              <a:t>0.04</a:t>
            </a:r>
          </a:p>
        </p:txBody>
      </p:sp>
      <p:sp>
        <p:nvSpPr>
          <p:cNvPr id="130" name="TextBox 129"/>
          <p:cNvSpPr txBox="1"/>
          <p:nvPr/>
        </p:nvSpPr>
        <p:spPr>
          <a:xfrm>
            <a:off x="9738360" y="4709160"/>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31" name="TextBox 130"/>
          <p:cNvSpPr txBox="1"/>
          <p:nvPr/>
        </p:nvSpPr>
        <p:spPr>
          <a:xfrm>
            <a:off x="10323576" y="4709160"/>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32" name="TextBox 131"/>
          <p:cNvSpPr txBox="1"/>
          <p:nvPr/>
        </p:nvSpPr>
        <p:spPr>
          <a:xfrm>
            <a:off x="6812280" y="5129784"/>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33" name="TextBox 132"/>
          <p:cNvSpPr txBox="1"/>
          <p:nvPr/>
        </p:nvSpPr>
        <p:spPr>
          <a:xfrm>
            <a:off x="7397496" y="5129784"/>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34" name="TextBox 133"/>
          <p:cNvSpPr txBox="1"/>
          <p:nvPr/>
        </p:nvSpPr>
        <p:spPr>
          <a:xfrm>
            <a:off x="7982712" y="5129784"/>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35" name="TextBox 134"/>
          <p:cNvSpPr txBox="1"/>
          <p:nvPr/>
        </p:nvSpPr>
        <p:spPr>
          <a:xfrm>
            <a:off x="8567928" y="5129784"/>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36" name="TextBox 135"/>
          <p:cNvSpPr txBox="1"/>
          <p:nvPr/>
        </p:nvSpPr>
        <p:spPr>
          <a:xfrm>
            <a:off x="9153144" y="5129784"/>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37" name="TextBox 136"/>
          <p:cNvSpPr txBox="1"/>
          <p:nvPr/>
        </p:nvSpPr>
        <p:spPr>
          <a:xfrm>
            <a:off x="9738360" y="5129784"/>
            <a:ext cx="585216" cy="420624"/>
          </a:xfrm>
          <a:prstGeom prst="rect">
            <a:avLst/>
          </a:prstGeom>
          <a:noFill/>
        </p:spPr>
        <p:txBody>
          <a:bodyPr wrap="none" anchor="ctr" lIns="0" rIns="0">
            <a:spAutoFit/>
          </a:bodyPr>
          <a:lstStyle/>
          <a:p>
            <a:pPr algn="ctr"/>
            <a:r>
              <a:rPr sz="1600">
                <a:solidFill>
                  <a:srgbClr val="1F2623"/>
                </a:solidFill>
                <a:latin typeface="Avenir Next"/>
              </a:rPr>
              <a:t>0.04</a:t>
            </a:r>
          </a:p>
        </p:txBody>
      </p:sp>
      <p:sp>
        <p:nvSpPr>
          <p:cNvPr id="138" name="TextBox 137"/>
          <p:cNvSpPr txBox="1"/>
          <p:nvPr/>
        </p:nvSpPr>
        <p:spPr>
          <a:xfrm>
            <a:off x="10323576" y="5129784"/>
            <a:ext cx="585216" cy="420624"/>
          </a:xfrm>
          <a:prstGeom prst="rect">
            <a:avLst/>
          </a:prstGeom>
          <a:noFill/>
        </p:spPr>
        <p:txBody>
          <a:bodyPr wrap="none" anchor="ctr" lIns="0" rIns="0">
            <a:spAutoFit/>
          </a:bodyPr>
          <a:lstStyle/>
          <a:p>
            <a:pPr algn="ctr"/>
            <a:r>
              <a:rPr sz="1600">
                <a:solidFill>
                  <a:srgbClr val="1F2623"/>
                </a:solidFill>
                <a:latin typeface="Avenir Next"/>
              </a:rPr>
              <a:t>0.23</a:t>
            </a:r>
          </a:p>
        </p:txBody>
      </p:sp>
      <p:cxnSp>
        <p:nvCxnSpPr>
          <p:cNvPr id="139" name="Connector 138"/>
          <p:cNvCxnSpPr/>
          <p:nvPr/>
        </p:nvCxnSpPr>
        <p:spPr>
          <a:xfrm>
            <a:off x="6766560" y="2606040"/>
            <a:ext cx="0" cy="2944368"/>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a:off x="6766560" y="2606040"/>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a:off x="6766560" y="5550408"/>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a:off x="10954512" y="2606040"/>
            <a:ext cx="0" cy="2944368"/>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H="1">
            <a:off x="10826496" y="2606040"/>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H="1">
            <a:off x="10826496" y="5550408"/>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sp>
        <p:nvSpPr>
          <p:cNvPr id="145" name="TextBox 144"/>
          <p:cNvSpPr txBox="1"/>
          <p:nvPr/>
        </p:nvSpPr>
        <p:spPr>
          <a:xfrm>
            <a:off x="6812280" y="2194560"/>
            <a:ext cx="585216" cy="365760"/>
          </a:xfrm>
          <a:prstGeom prst="rect">
            <a:avLst/>
          </a:prstGeom>
          <a:noFill/>
        </p:spPr>
        <p:txBody>
          <a:bodyPr wrap="square">
            <a:spAutoFit/>
          </a:bodyPr>
          <a:lstStyle/>
          <a:p>
            <a:pPr algn="ctr"/>
            <a:r>
              <a:rPr sz="1400">
                <a:solidFill>
                  <a:srgbClr val="6E6F68"/>
                </a:solidFill>
                <a:latin typeface="Avenir Next"/>
              </a:rPr>
              <a:t>E</a:t>
            </a:r>
          </a:p>
        </p:txBody>
      </p:sp>
      <p:sp>
        <p:nvSpPr>
          <p:cNvPr id="146" name="TextBox 145"/>
          <p:cNvSpPr txBox="1"/>
          <p:nvPr/>
        </p:nvSpPr>
        <p:spPr>
          <a:xfrm>
            <a:off x="7397496" y="2194560"/>
            <a:ext cx="585216" cy="365760"/>
          </a:xfrm>
          <a:prstGeom prst="rect">
            <a:avLst/>
          </a:prstGeom>
          <a:noFill/>
        </p:spPr>
        <p:txBody>
          <a:bodyPr wrap="square">
            <a:spAutoFit/>
          </a:bodyPr>
          <a:lstStyle/>
          <a:p>
            <a:pPr algn="ctr"/>
            <a:r>
              <a:rPr sz="1400">
                <a:solidFill>
                  <a:srgbClr val="6E6F68"/>
                </a:solidFill>
                <a:latin typeface="Avenir Next"/>
              </a:rPr>
              <a:t>SJ</a:t>
            </a:r>
          </a:p>
        </p:txBody>
      </p:sp>
      <p:sp>
        <p:nvSpPr>
          <p:cNvPr id="147" name="TextBox 146"/>
          <p:cNvSpPr txBox="1"/>
          <p:nvPr/>
        </p:nvSpPr>
        <p:spPr>
          <a:xfrm>
            <a:off x="7982712" y="2194560"/>
            <a:ext cx="585216" cy="365760"/>
          </a:xfrm>
          <a:prstGeom prst="rect">
            <a:avLst/>
          </a:prstGeom>
          <a:noFill/>
        </p:spPr>
        <p:txBody>
          <a:bodyPr wrap="square">
            <a:spAutoFit/>
          </a:bodyPr>
          <a:lstStyle/>
          <a:p>
            <a:pPr algn="ctr"/>
            <a:r>
              <a:rPr sz="1400">
                <a:solidFill>
                  <a:srgbClr val="6E6F68"/>
                </a:solidFill>
                <a:latin typeface="Avenir Next"/>
              </a:rPr>
              <a:t>LJ</a:t>
            </a:r>
          </a:p>
        </p:txBody>
      </p:sp>
      <p:sp>
        <p:nvSpPr>
          <p:cNvPr id="148" name="TextBox 147"/>
          <p:cNvSpPr txBox="1"/>
          <p:nvPr/>
        </p:nvSpPr>
        <p:spPr>
          <a:xfrm>
            <a:off x="8567928" y="2194560"/>
            <a:ext cx="585216" cy="365760"/>
          </a:xfrm>
          <a:prstGeom prst="rect">
            <a:avLst/>
          </a:prstGeom>
          <a:noFill/>
        </p:spPr>
        <p:txBody>
          <a:bodyPr wrap="square">
            <a:spAutoFit/>
          </a:bodyPr>
          <a:lstStyle/>
          <a:p>
            <a:pPr algn="ctr"/>
            <a:r>
              <a:rPr sz="1400">
                <a:solidFill>
                  <a:srgbClr val="6E6F68"/>
                </a:solidFill>
                <a:latin typeface="Avenir Next"/>
              </a:rPr>
              <a:t>SA</a:t>
            </a:r>
          </a:p>
        </p:txBody>
      </p:sp>
      <p:sp>
        <p:nvSpPr>
          <p:cNvPr id="149" name="TextBox 148"/>
          <p:cNvSpPr txBox="1"/>
          <p:nvPr/>
        </p:nvSpPr>
        <p:spPr>
          <a:xfrm>
            <a:off x="9153144" y="2194560"/>
            <a:ext cx="585216" cy="365760"/>
          </a:xfrm>
          <a:prstGeom prst="rect">
            <a:avLst/>
          </a:prstGeom>
          <a:noFill/>
        </p:spPr>
        <p:txBody>
          <a:bodyPr wrap="square">
            <a:spAutoFit/>
          </a:bodyPr>
          <a:lstStyle/>
          <a:p>
            <a:pPr algn="ctr"/>
            <a:r>
              <a:rPr sz="1400">
                <a:solidFill>
                  <a:srgbClr val="6E6F68"/>
                </a:solidFill>
                <a:latin typeface="Avenir Next"/>
              </a:rPr>
              <a:t>NB</a:t>
            </a:r>
          </a:p>
        </p:txBody>
      </p:sp>
      <p:sp>
        <p:nvSpPr>
          <p:cNvPr id="150" name="TextBox 149"/>
          <p:cNvSpPr txBox="1"/>
          <p:nvPr/>
        </p:nvSpPr>
        <p:spPr>
          <a:xfrm>
            <a:off x="9738360" y="2194560"/>
            <a:ext cx="585216" cy="365760"/>
          </a:xfrm>
          <a:prstGeom prst="rect">
            <a:avLst/>
          </a:prstGeom>
          <a:noFill/>
        </p:spPr>
        <p:txBody>
          <a:bodyPr wrap="square">
            <a:spAutoFit/>
          </a:bodyPr>
          <a:lstStyle/>
          <a:p>
            <a:pPr algn="ctr"/>
            <a:r>
              <a:rPr sz="1400">
                <a:solidFill>
                  <a:srgbClr val="6E6F68"/>
                </a:solidFill>
                <a:latin typeface="Avenir Next"/>
              </a:rPr>
              <a:t>R</a:t>
            </a:r>
          </a:p>
        </p:txBody>
      </p:sp>
      <p:sp>
        <p:nvSpPr>
          <p:cNvPr id="151" name="TextBox 150"/>
          <p:cNvSpPr txBox="1"/>
          <p:nvPr/>
        </p:nvSpPr>
        <p:spPr>
          <a:xfrm>
            <a:off x="10323576" y="2194560"/>
            <a:ext cx="585216" cy="365760"/>
          </a:xfrm>
          <a:prstGeom prst="rect">
            <a:avLst/>
          </a:prstGeom>
          <a:noFill/>
        </p:spPr>
        <p:txBody>
          <a:bodyPr wrap="square">
            <a:spAutoFit/>
          </a:bodyPr>
          <a:lstStyle/>
          <a:p>
            <a:pPr algn="ctr"/>
            <a:r>
              <a:rPr sz="1400">
                <a:solidFill>
                  <a:srgbClr val="6E6F68"/>
                </a:solidFill>
                <a:latin typeface="Avenir Next"/>
              </a:rPr>
              <a:t>MB</a:t>
            </a:r>
          </a:p>
        </p:txBody>
      </p:sp>
      <p:sp>
        <p:nvSpPr>
          <p:cNvPr id="152" name="TextBox 151"/>
          <p:cNvSpPr txBox="1"/>
          <p:nvPr/>
        </p:nvSpPr>
        <p:spPr>
          <a:xfrm>
            <a:off x="11045952" y="2606040"/>
            <a:ext cx="1463040" cy="420624"/>
          </a:xfrm>
          <a:prstGeom prst="rect">
            <a:avLst/>
          </a:prstGeom>
          <a:noFill/>
        </p:spPr>
        <p:txBody>
          <a:bodyPr wrap="square" anchor="ctr">
            <a:spAutoFit/>
          </a:bodyPr>
          <a:lstStyle/>
          <a:p>
            <a:pPr algn="l"/>
            <a:r>
              <a:rPr sz="1400">
                <a:solidFill>
                  <a:srgbClr val="6E6F68"/>
                </a:solidFill>
                <a:latin typeface="Avenir Next"/>
              </a:rPr>
              <a:t>E</a:t>
            </a:r>
          </a:p>
        </p:txBody>
      </p:sp>
      <p:sp>
        <p:nvSpPr>
          <p:cNvPr id="153" name="TextBox 152"/>
          <p:cNvSpPr txBox="1"/>
          <p:nvPr/>
        </p:nvSpPr>
        <p:spPr>
          <a:xfrm>
            <a:off x="11045952" y="3026664"/>
            <a:ext cx="1463040" cy="420624"/>
          </a:xfrm>
          <a:prstGeom prst="rect">
            <a:avLst/>
          </a:prstGeom>
          <a:noFill/>
        </p:spPr>
        <p:txBody>
          <a:bodyPr wrap="square" anchor="ctr">
            <a:spAutoFit/>
          </a:bodyPr>
          <a:lstStyle/>
          <a:p>
            <a:pPr algn="l"/>
            <a:r>
              <a:rPr sz="1400">
                <a:solidFill>
                  <a:srgbClr val="6E6F68"/>
                </a:solidFill>
                <a:latin typeface="Avenir Next"/>
              </a:rPr>
              <a:t>SJ</a:t>
            </a:r>
          </a:p>
        </p:txBody>
      </p:sp>
      <p:sp>
        <p:nvSpPr>
          <p:cNvPr id="154" name="TextBox 153"/>
          <p:cNvSpPr txBox="1"/>
          <p:nvPr/>
        </p:nvSpPr>
        <p:spPr>
          <a:xfrm>
            <a:off x="11045952" y="3447288"/>
            <a:ext cx="1463040" cy="420624"/>
          </a:xfrm>
          <a:prstGeom prst="rect">
            <a:avLst/>
          </a:prstGeom>
          <a:noFill/>
        </p:spPr>
        <p:txBody>
          <a:bodyPr wrap="square" anchor="ctr">
            <a:spAutoFit/>
          </a:bodyPr>
          <a:lstStyle/>
          <a:p>
            <a:pPr algn="l"/>
            <a:r>
              <a:rPr sz="1400">
                <a:solidFill>
                  <a:srgbClr val="6E6F68"/>
                </a:solidFill>
                <a:latin typeface="Avenir Next"/>
              </a:rPr>
              <a:t>LJ</a:t>
            </a:r>
          </a:p>
        </p:txBody>
      </p:sp>
      <p:sp>
        <p:nvSpPr>
          <p:cNvPr id="155" name="TextBox 154"/>
          <p:cNvSpPr txBox="1"/>
          <p:nvPr/>
        </p:nvSpPr>
        <p:spPr>
          <a:xfrm>
            <a:off x="11045952" y="3867912"/>
            <a:ext cx="1463040" cy="420624"/>
          </a:xfrm>
          <a:prstGeom prst="rect">
            <a:avLst/>
          </a:prstGeom>
          <a:noFill/>
        </p:spPr>
        <p:txBody>
          <a:bodyPr wrap="square" anchor="ctr">
            <a:spAutoFit/>
          </a:bodyPr>
          <a:lstStyle/>
          <a:p>
            <a:pPr algn="l"/>
            <a:r>
              <a:rPr sz="1400">
                <a:solidFill>
                  <a:srgbClr val="6E6F68"/>
                </a:solidFill>
                <a:latin typeface="Avenir Next"/>
              </a:rPr>
              <a:t>SA</a:t>
            </a:r>
          </a:p>
        </p:txBody>
      </p:sp>
      <p:sp>
        <p:nvSpPr>
          <p:cNvPr id="156" name="TextBox 155"/>
          <p:cNvSpPr txBox="1"/>
          <p:nvPr/>
        </p:nvSpPr>
        <p:spPr>
          <a:xfrm>
            <a:off x="11045952" y="4288536"/>
            <a:ext cx="1463040" cy="420624"/>
          </a:xfrm>
          <a:prstGeom prst="rect">
            <a:avLst/>
          </a:prstGeom>
          <a:noFill/>
        </p:spPr>
        <p:txBody>
          <a:bodyPr wrap="square" anchor="ctr">
            <a:spAutoFit/>
          </a:bodyPr>
          <a:lstStyle/>
          <a:p>
            <a:pPr algn="l"/>
            <a:r>
              <a:rPr sz="1400">
                <a:solidFill>
                  <a:srgbClr val="6E6F68"/>
                </a:solidFill>
                <a:latin typeface="Avenir Next"/>
              </a:rPr>
              <a:t>NB</a:t>
            </a:r>
          </a:p>
        </p:txBody>
      </p:sp>
      <p:sp>
        <p:nvSpPr>
          <p:cNvPr id="157" name="TextBox 156"/>
          <p:cNvSpPr txBox="1"/>
          <p:nvPr/>
        </p:nvSpPr>
        <p:spPr>
          <a:xfrm>
            <a:off x="11045952" y="4709160"/>
            <a:ext cx="1463040" cy="420624"/>
          </a:xfrm>
          <a:prstGeom prst="rect">
            <a:avLst/>
          </a:prstGeom>
          <a:noFill/>
        </p:spPr>
        <p:txBody>
          <a:bodyPr wrap="square" anchor="ctr">
            <a:spAutoFit/>
          </a:bodyPr>
          <a:lstStyle/>
          <a:p>
            <a:pPr algn="l"/>
            <a:r>
              <a:rPr sz="1400">
                <a:solidFill>
                  <a:srgbClr val="6E6F68"/>
                </a:solidFill>
                <a:latin typeface="Avenir Next"/>
              </a:rPr>
              <a:t>R</a:t>
            </a:r>
          </a:p>
        </p:txBody>
      </p:sp>
      <p:sp>
        <p:nvSpPr>
          <p:cNvPr id="158" name="TextBox 157"/>
          <p:cNvSpPr txBox="1"/>
          <p:nvPr/>
        </p:nvSpPr>
        <p:spPr>
          <a:xfrm>
            <a:off x="11045952" y="5129784"/>
            <a:ext cx="1463040" cy="420624"/>
          </a:xfrm>
          <a:prstGeom prst="rect">
            <a:avLst/>
          </a:prstGeom>
          <a:noFill/>
        </p:spPr>
        <p:txBody>
          <a:bodyPr wrap="square" anchor="ctr">
            <a:spAutoFit/>
          </a:bodyPr>
          <a:lstStyle/>
          <a:p>
            <a:pPr algn="l"/>
            <a:r>
              <a:rPr sz="1400">
                <a:solidFill>
                  <a:srgbClr val="6E6F68"/>
                </a:solidFill>
                <a:latin typeface="Avenir Next"/>
              </a:rPr>
              <a:t>MB</a:t>
            </a:r>
          </a:p>
        </p:txBody>
      </p:sp>
      <p:sp>
        <p:nvSpPr>
          <p:cNvPr id="159" name="TextBox 158"/>
          <p:cNvSpPr txBox="1"/>
          <p:nvPr/>
        </p:nvSpPr>
        <p:spPr>
          <a:xfrm>
            <a:off x="731520" y="1783080"/>
            <a:ext cx="5120640" cy="365760"/>
          </a:xfrm>
          <a:prstGeom prst="rect">
            <a:avLst/>
          </a:prstGeom>
          <a:noFill/>
        </p:spPr>
        <p:txBody>
          <a:bodyPr wrap="square">
            <a:spAutoFit/>
          </a:bodyPr>
          <a:lstStyle/>
          <a:p>
            <a:pPr algn="ctr"/>
            <a:r>
              <a:rPr sz="1400">
                <a:solidFill>
                  <a:srgbClr val="6E6F68"/>
                </a:solidFill>
                <a:latin typeface="Avenir Next"/>
              </a:rPr>
              <a:t>Projection matrix (from → columns, to → rows)</a:t>
            </a:r>
          </a:p>
        </p:txBody>
      </p:sp>
      <p:sp>
        <p:nvSpPr>
          <p:cNvPr id="160" name="TextBox 159"/>
          <p:cNvSpPr txBox="1"/>
          <p:nvPr/>
        </p:nvSpPr>
        <p:spPr>
          <a:xfrm>
            <a:off x="6309360" y="1783080"/>
            <a:ext cx="5120640" cy="365760"/>
          </a:xfrm>
          <a:prstGeom prst="rect">
            <a:avLst/>
          </a:prstGeom>
          <a:noFill/>
        </p:spPr>
        <p:txBody>
          <a:bodyPr wrap="square">
            <a:spAutoFit/>
          </a:bodyPr>
          <a:lstStyle/>
          <a:p>
            <a:pPr algn="ctr"/>
            <a:r>
              <a:rPr sz="1400">
                <a:solidFill>
                  <a:srgbClr val="6E6F68"/>
                </a:solidFill>
                <a:latin typeface="Avenir Next"/>
              </a:rPr>
              <a:t>Elasticity of λ to each element (sums to 1)</a:t>
            </a:r>
          </a:p>
        </p:txBody>
      </p:sp>
      <p:sp>
        <p:nvSpPr>
          <p:cNvPr id="161" name="TextBox 160"/>
          <p:cNvSpPr txBox="1"/>
          <p:nvPr/>
        </p:nvSpPr>
        <p:spPr>
          <a:xfrm>
            <a:off x="731520" y="5669280"/>
            <a:ext cx="10698480" cy="457200"/>
          </a:xfrm>
          <a:prstGeom prst="rect">
            <a:avLst/>
          </a:prstGeom>
          <a:noFill/>
        </p:spPr>
        <p:txBody>
          <a:bodyPr wrap="square">
            <a:spAutoFit/>
          </a:bodyPr>
          <a:lstStyle/>
          <a:p>
            <a:pPr algn="ctr"/>
            <a:r>
              <a:rPr sz="1500">
                <a:solidFill>
                  <a:srgbClr val="6E6F68"/>
                </a:solidFill>
                <a:latin typeface="Avenir Next"/>
              </a:rPr>
              <a:t>E eggs &amp; hatchlings · SJ, LJ small, large juveniles · SA subadults · NB novice breeders · R remigrants · MB mature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Big numbers in A are not big in E</a:t>
            </a:r>
          </a:p>
        </p:txBody>
      </p:sp>
      <p:sp>
        <p:nvSpPr>
          <p:cNvPr id="26" name="TextBox 25"/>
          <p:cNvSpPr txBox="1"/>
          <p:nvPr/>
        </p:nvSpPr>
        <p:spPr>
          <a:xfrm>
            <a:off x="91440" y="3803904"/>
            <a:ext cx="1005840" cy="548640"/>
          </a:xfrm>
          <a:prstGeom prst="rect">
            <a:avLst/>
          </a:prstGeom>
          <a:noFill/>
        </p:spPr>
        <p:txBody>
          <a:bodyPr wrap="square">
            <a:spAutoFit/>
          </a:bodyPr>
          <a:lstStyle/>
          <a:p>
            <a:pPr algn="r"/>
            <a:r>
              <a:rPr b="1" sz="2400">
                <a:solidFill>
                  <a:srgbClr val="1F2623"/>
                </a:solidFill>
                <a:latin typeface="Avenir Next"/>
              </a:rPr>
              <a:t>A</a:t>
            </a:r>
            <a:r>
              <a:rPr sz="2400">
                <a:solidFill>
                  <a:srgbClr val="1F2623"/>
                </a:solidFill>
                <a:latin typeface="Avenir Next"/>
              </a:rPr>
              <a:t> =</a:t>
            </a:r>
          </a:p>
        </p:txBody>
      </p:sp>
      <p:sp>
        <p:nvSpPr>
          <p:cNvPr id="27" name="TextBox 26"/>
          <p:cNvSpPr txBox="1"/>
          <p:nvPr/>
        </p:nvSpPr>
        <p:spPr>
          <a:xfrm>
            <a:off x="1234440" y="2606040"/>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28" name="TextBox 27"/>
          <p:cNvSpPr txBox="1"/>
          <p:nvPr/>
        </p:nvSpPr>
        <p:spPr>
          <a:xfrm>
            <a:off x="1819656" y="2606040"/>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29" name="TextBox 28"/>
          <p:cNvSpPr txBox="1"/>
          <p:nvPr/>
        </p:nvSpPr>
        <p:spPr>
          <a:xfrm>
            <a:off x="2404872" y="2606040"/>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30" name="TextBox 29"/>
          <p:cNvSpPr txBox="1"/>
          <p:nvPr/>
        </p:nvSpPr>
        <p:spPr>
          <a:xfrm>
            <a:off x="2990088" y="2606040"/>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31" name="TextBox 30"/>
          <p:cNvSpPr txBox="1"/>
          <p:nvPr/>
        </p:nvSpPr>
        <p:spPr>
          <a:xfrm>
            <a:off x="3575304" y="2606040"/>
            <a:ext cx="585216" cy="420624"/>
          </a:xfrm>
          <a:prstGeom prst="rect">
            <a:avLst/>
          </a:prstGeom>
          <a:noFill/>
        </p:spPr>
        <p:txBody>
          <a:bodyPr wrap="none" anchor="ctr" lIns="0" rIns="0">
            <a:spAutoFit/>
          </a:bodyPr>
          <a:lstStyle/>
          <a:p>
            <a:pPr algn="ctr"/>
            <a:r>
              <a:rPr sz="1600" b="1">
                <a:solidFill>
                  <a:srgbClr val="C08A2E"/>
                </a:solidFill>
                <a:latin typeface="Avenir Next"/>
              </a:rPr>
              <a:t>127</a:t>
            </a:r>
          </a:p>
        </p:txBody>
      </p:sp>
      <p:sp>
        <p:nvSpPr>
          <p:cNvPr id="32" name="TextBox 31"/>
          <p:cNvSpPr txBox="1"/>
          <p:nvPr/>
        </p:nvSpPr>
        <p:spPr>
          <a:xfrm>
            <a:off x="4160520" y="2606040"/>
            <a:ext cx="585216" cy="420624"/>
          </a:xfrm>
          <a:prstGeom prst="rect">
            <a:avLst/>
          </a:prstGeom>
          <a:noFill/>
        </p:spPr>
        <p:txBody>
          <a:bodyPr wrap="none" anchor="ctr" lIns="0" rIns="0">
            <a:spAutoFit/>
          </a:bodyPr>
          <a:lstStyle/>
          <a:p>
            <a:pPr algn="ctr"/>
            <a:r>
              <a:rPr sz="1600">
                <a:solidFill>
                  <a:srgbClr val="1F2623"/>
                </a:solidFill>
                <a:latin typeface="Avenir Next"/>
              </a:rPr>
              <a:t>4</a:t>
            </a:r>
          </a:p>
        </p:txBody>
      </p:sp>
      <p:sp>
        <p:nvSpPr>
          <p:cNvPr id="33" name="TextBox 32"/>
          <p:cNvSpPr txBox="1"/>
          <p:nvPr/>
        </p:nvSpPr>
        <p:spPr>
          <a:xfrm>
            <a:off x="4745736" y="2606040"/>
            <a:ext cx="585216" cy="420624"/>
          </a:xfrm>
          <a:prstGeom prst="rect">
            <a:avLst/>
          </a:prstGeom>
          <a:noFill/>
        </p:spPr>
        <p:txBody>
          <a:bodyPr wrap="none" anchor="ctr" lIns="0" rIns="0">
            <a:spAutoFit/>
          </a:bodyPr>
          <a:lstStyle/>
          <a:p>
            <a:pPr algn="ctr"/>
            <a:r>
              <a:rPr sz="1600" b="1">
                <a:solidFill>
                  <a:srgbClr val="C08A2E"/>
                </a:solidFill>
                <a:latin typeface="Avenir Next"/>
              </a:rPr>
              <a:t>80</a:t>
            </a:r>
          </a:p>
        </p:txBody>
      </p:sp>
      <p:sp>
        <p:nvSpPr>
          <p:cNvPr id="34" name="TextBox 33"/>
          <p:cNvSpPr txBox="1"/>
          <p:nvPr/>
        </p:nvSpPr>
        <p:spPr>
          <a:xfrm>
            <a:off x="1234440" y="3026664"/>
            <a:ext cx="585216" cy="420624"/>
          </a:xfrm>
          <a:prstGeom prst="rect">
            <a:avLst/>
          </a:prstGeom>
          <a:noFill/>
        </p:spPr>
        <p:txBody>
          <a:bodyPr wrap="none" anchor="ctr" lIns="0" rIns="0">
            <a:spAutoFit/>
          </a:bodyPr>
          <a:lstStyle/>
          <a:p>
            <a:pPr algn="ctr"/>
            <a:r>
              <a:rPr sz="1600">
                <a:solidFill>
                  <a:srgbClr val="1F2623"/>
                </a:solidFill>
                <a:latin typeface="Avenir Next"/>
              </a:rPr>
              <a:t>0.67</a:t>
            </a:r>
          </a:p>
        </p:txBody>
      </p:sp>
      <p:sp>
        <p:nvSpPr>
          <p:cNvPr id="35" name="TextBox 34"/>
          <p:cNvSpPr txBox="1"/>
          <p:nvPr/>
        </p:nvSpPr>
        <p:spPr>
          <a:xfrm>
            <a:off x="1819656" y="3026664"/>
            <a:ext cx="585216" cy="420624"/>
          </a:xfrm>
          <a:prstGeom prst="rect">
            <a:avLst/>
          </a:prstGeom>
          <a:noFill/>
        </p:spPr>
        <p:txBody>
          <a:bodyPr wrap="none" anchor="ctr" lIns="0" rIns="0">
            <a:spAutoFit/>
          </a:bodyPr>
          <a:lstStyle/>
          <a:p>
            <a:pPr algn="ctr"/>
            <a:r>
              <a:rPr sz="1600">
                <a:solidFill>
                  <a:srgbClr val="1F2623"/>
                </a:solidFill>
                <a:latin typeface="Avenir Next"/>
              </a:rPr>
              <a:t>0.74</a:t>
            </a:r>
          </a:p>
        </p:txBody>
      </p:sp>
      <p:sp>
        <p:nvSpPr>
          <p:cNvPr id="36" name="TextBox 35"/>
          <p:cNvSpPr txBox="1"/>
          <p:nvPr/>
        </p:nvSpPr>
        <p:spPr>
          <a:xfrm>
            <a:off x="2404872" y="3026664"/>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37" name="TextBox 36"/>
          <p:cNvSpPr txBox="1"/>
          <p:nvPr/>
        </p:nvSpPr>
        <p:spPr>
          <a:xfrm>
            <a:off x="2990088" y="3026664"/>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38" name="TextBox 37"/>
          <p:cNvSpPr txBox="1"/>
          <p:nvPr/>
        </p:nvSpPr>
        <p:spPr>
          <a:xfrm>
            <a:off x="3575304" y="3026664"/>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39" name="TextBox 38"/>
          <p:cNvSpPr txBox="1"/>
          <p:nvPr/>
        </p:nvSpPr>
        <p:spPr>
          <a:xfrm>
            <a:off x="4160520" y="3026664"/>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40" name="TextBox 39"/>
          <p:cNvSpPr txBox="1"/>
          <p:nvPr/>
        </p:nvSpPr>
        <p:spPr>
          <a:xfrm>
            <a:off x="4745736" y="3026664"/>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41" name="TextBox 40"/>
          <p:cNvSpPr txBox="1"/>
          <p:nvPr/>
        </p:nvSpPr>
        <p:spPr>
          <a:xfrm>
            <a:off x="1234440" y="3447288"/>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42" name="TextBox 41"/>
          <p:cNvSpPr txBox="1"/>
          <p:nvPr/>
        </p:nvSpPr>
        <p:spPr>
          <a:xfrm>
            <a:off x="1819656" y="3447288"/>
            <a:ext cx="585216" cy="420624"/>
          </a:xfrm>
          <a:prstGeom prst="rect">
            <a:avLst/>
          </a:prstGeom>
          <a:noFill/>
        </p:spPr>
        <p:txBody>
          <a:bodyPr wrap="none" anchor="ctr" lIns="0" rIns="0">
            <a:spAutoFit/>
          </a:bodyPr>
          <a:lstStyle/>
          <a:p>
            <a:pPr algn="ctr"/>
            <a:r>
              <a:rPr sz="1600">
                <a:solidFill>
                  <a:srgbClr val="1F2623"/>
                </a:solidFill>
                <a:latin typeface="Avenir Next"/>
              </a:rPr>
              <a:t>0.05</a:t>
            </a:r>
          </a:p>
        </p:txBody>
      </p:sp>
      <p:sp>
        <p:nvSpPr>
          <p:cNvPr id="43" name="TextBox 42"/>
          <p:cNvSpPr txBox="1"/>
          <p:nvPr/>
        </p:nvSpPr>
        <p:spPr>
          <a:xfrm>
            <a:off x="2404872" y="3447288"/>
            <a:ext cx="585216" cy="420624"/>
          </a:xfrm>
          <a:prstGeom prst="rect">
            <a:avLst/>
          </a:prstGeom>
          <a:noFill/>
        </p:spPr>
        <p:txBody>
          <a:bodyPr wrap="none" anchor="ctr" lIns="0" rIns="0">
            <a:spAutoFit/>
          </a:bodyPr>
          <a:lstStyle/>
          <a:p>
            <a:pPr algn="ctr"/>
            <a:r>
              <a:rPr sz="1600">
                <a:solidFill>
                  <a:srgbClr val="1F2623"/>
                </a:solidFill>
                <a:latin typeface="Avenir Next"/>
              </a:rPr>
              <a:t>0.66</a:t>
            </a:r>
          </a:p>
        </p:txBody>
      </p:sp>
      <p:sp>
        <p:nvSpPr>
          <p:cNvPr id="44" name="TextBox 43"/>
          <p:cNvSpPr txBox="1"/>
          <p:nvPr/>
        </p:nvSpPr>
        <p:spPr>
          <a:xfrm>
            <a:off x="2990088" y="3447288"/>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45" name="TextBox 44"/>
          <p:cNvSpPr txBox="1"/>
          <p:nvPr/>
        </p:nvSpPr>
        <p:spPr>
          <a:xfrm>
            <a:off x="3575304" y="3447288"/>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46" name="TextBox 45"/>
          <p:cNvSpPr txBox="1"/>
          <p:nvPr/>
        </p:nvSpPr>
        <p:spPr>
          <a:xfrm>
            <a:off x="4160520" y="3447288"/>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47" name="TextBox 46"/>
          <p:cNvSpPr txBox="1"/>
          <p:nvPr/>
        </p:nvSpPr>
        <p:spPr>
          <a:xfrm>
            <a:off x="4745736" y="3447288"/>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48" name="TextBox 47"/>
          <p:cNvSpPr txBox="1"/>
          <p:nvPr/>
        </p:nvSpPr>
        <p:spPr>
          <a:xfrm>
            <a:off x="1234440" y="3867912"/>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49" name="TextBox 48"/>
          <p:cNvSpPr txBox="1"/>
          <p:nvPr/>
        </p:nvSpPr>
        <p:spPr>
          <a:xfrm>
            <a:off x="1819656" y="3867912"/>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50" name="TextBox 49"/>
          <p:cNvSpPr txBox="1"/>
          <p:nvPr/>
        </p:nvSpPr>
        <p:spPr>
          <a:xfrm>
            <a:off x="2404872" y="3867912"/>
            <a:ext cx="585216" cy="420624"/>
          </a:xfrm>
          <a:prstGeom prst="rect">
            <a:avLst/>
          </a:prstGeom>
          <a:noFill/>
        </p:spPr>
        <p:txBody>
          <a:bodyPr wrap="none" anchor="ctr" lIns="0" rIns="0">
            <a:spAutoFit/>
          </a:bodyPr>
          <a:lstStyle/>
          <a:p>
            <a:pPr algn="ctr"/>
            <a:r>
              <a:rPr sz="1600">
                <a:solidFill>
                  <a:srgbClr val="1F2623"/>
                </a:solidFill>
                <a:latin typeface="Avenir Next"/>
              </a:rPr>
              <a:t>0.01</a:t>
            </a:r>
          </a:p>
        </p:txBody>
      </p:sp>
      <p:sp>
        <p:nvSpPr>
          <p:cNvPr id="51" name="TextBox 50"/>
          <p:cNvSpPr txBox="1"/>
          <p:nvPr/>
        </p:nvSpPr>
        <p:spPr>
          <a:xfrm>
            <a:off x="2990088" y="3867912"/>
            <a:ext cx="585216" cy="420624"/>
          </a:xfrm>
          <a:prstGeom prst="rect">
            <a:avLst/>
          </a:prstGeom>
          <a:noFill/>
        </p:spPr>
        <p:txBody>
          <a:bodyPr wrap="none" anchor="ctr" lIns="0" rIns="0">
            <a:spAutoFit/>
          </a:bodyPr>
          <a:lstStyle/>
          <a:p>
            <a:pPr algn="ctr"/>
            <a:r>
              <a:rPr sz="1600">
                <a:solidFill>
                  <a:srgbClr val="1F2623"/>
                </a:solidFill>
                <a:latin typeface="Avenir Next"/>
              </a:rPr>
              <a:t>0.69</a:t>
            </a:r>
          </a:p>
        </p:txBody>
      </p:sp>
      <p:sp>
        <p:nvSpPr>
          <p:cNvPr id="52" name="TextBox 51"/>
          <p:cNvSpPr txBox="1"/>
          <p:nvPr/>
        </p:nvSpPr>
        <p:spPr>
          <a:xfrm>
            <a:off x="3575304" y="3867912"/>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53" name="TextBox 52"/>
          <p:cNvSpPr txBox="1"/>
          <p:nvPr/>
        </p:nvSpPr>
        <p:spPr>
          <a:xfrm>
            <a:off x="4160520" y="3867912"/>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54" name="TextBox 53"/>
          <p:cNvSpPr txBox="1"/>
          <p:nvPr/>
        </p:nvSpPr>
        <p:spPr>
          <a:xfrm>
            <a:off x="4745736" y="3867912"/>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55" name="TextBox 54"/>
          <p:cNvSpPr txBox="1"/>
          <p:nvPr/>
        </p:nvSpPr>
        <p:spPr>
          <a:xfrm>
            <a:off x="1234440" y="4288536"/>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56" name="TextBox 55"/>
          <p:cNvSpPr txBox="1"/>
          <p:nvPr/>
        </p:nvSpPr>
        <p:spPr>
          <a:xfrm>
            <a:off x="1819656" y="4288536"/>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57" name="TextBox 56"/>
          <p:cNvSpPr txBox="1"/>
          <p:nvPr/>
        </p:nvSpPr>
        <p:spPr>
          <a:xfrm>
            <a:off x="2404872" y="4288536"/>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58" name="TextBox 57"/>
          <p:cNvSpPr txBox="1"/>
          <p:nvPr/>
        </p:nvSpPr>
        <p:spPr>
          <a:xfrm>
            <a:off x="2990088" y="4288536"/>
            <a:ext cx="585216" cy="420624"/>
          </a:xfrm>
          <a:prstGeom prst="rect">
            <a:avLst/>
          </a:prstGeom>
          <a:noFill/>
        </p:spPr>
        <p:txBody>
          <a:bodyPr wrap="none" anchor="ctr" lIns="0" rIns="0">
            <a:spAutoFit/>
          </a:bodyPr>
          <a:lstStyle/>
          <a:p>
            <a:pPr algn="ctr"/>
            <a:r>
              <a:rPr sz="1600">
                <a:solidFill>
                  <a:srgbClr val="1F2623"/>
                </a:solidFill>
                <a:latin typeface="Avenir Next"/>
              </a:rPr>
              <a:t>0.05</a:t>
            </a:r>
          </a:p>
        </p:txBody>
      </p:sp>
      <p:sp>
        <p:nvSpPr>
          <p:cNvPr id="59" name="TextBox 58"/>
          <p:cNvSpPr txBox="1"/>
          <p:nvPr/>
        </p:nvSpPr>
        <p:spPr>
          <a:xfrm>
            <a:off x="3575304" y="4288536"/>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60" name="TextBox 59"/>
          <p:cNvSpPr txBox="1"/>
          <p:nvPr/>
        </p:nvSpPr>
        <p:spPr>
          <a:xfrm>
            <a:off x="4160520" y="4288536"/>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61" name="TextBox 60"/>
          <p:cNvSpPr txBox="1"/>
          <p:nvPr/>
        </p:nvSpPr>
        <p:spPr>
          <a:xfrm>
            <a:off x="4745736" y="4288536"/>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62" name="TextBox 61"/>
          <p:cNvSpPr txBox="1"/>
          <p:nvPr/>
        </p:nvSpPr>
        <p:spPr>
          <a:xfrm>
            <a:off x="1234440" y="4709160"/>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63" name="TextBox 62"/>
          <p:cNvSpPr txBox="1"/>
          <p:nvPr/>
        </p:nvSpPr>
        <p:spPr>
          <a:xfrm>
            <a:off x="1819656" y="4709160"/>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64" name="TextBox 63"/>
          <p:cNvSpPr txBox="1"/>
          <p:nvPr/>
        </p:nvSpPr>
        <p:spPr>
          <a:xfrm>
            <a:off x="2404872" y="4709160"/>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65" name="TextBox 64"/>
          <p:cNvSpPr txBox="1"/>
          <p:nvPr/>
        </p:nvSpPr>
        <p:spPr>
          <a:xfrm>
            <a:off x="2990088" y="4709160"/>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66" name="TextBox 65"/>
          <p:cNvSpPr txBox="1"/>
          <p:nvPr/>
        </p:nvSpPr>
        <p:spPr>
          <a:xfrm>
            <a:off x="3575304" y="4709160"/>
            <a:ext cx="585216" cy="420624"/>
          </a:xfrm>
          <a:prstGeom prst="rect">
            <a:avLst/>
          </a:prstGeom>
          <a:noFill/>
        </p:spPr>
        <p:txBody>
          <a:bodyPr wrap="none" anchor="ctr" lIns="0" rIns="0">
            <a:spAutoFit/>
          </a:bodyPr>
          <a:lstStyle/>
          <a:p>
            <a:pPr algn="ctr"/>
            <a:r>
              <a:rPr sz="1600">
                <a:solidFill>
                  <a:srgbClr val="1F2623"/>
                </a:solidFill>
                <a:latin typeface="Avenir Next"/>
              </a:rPr>
              <a:t>0.81</a:t>
            </a:r>
          </a:p>
        </p:txBody>
      </p:sp>
      <p:sp>
        <p:nvSpPr>
          <p:cNvPr id="67" name="TextBox 66"/>
          <p:cNvSpPr txBox="1"/>
          <p:nvPr/>
        </p:nvSpPr>
        <p:spPr>
          <a:xfrm>
            <a:off x="4160520" y="4709160"/>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68" name="TextBox 67"/>
          <p:cNvSpPr txBox="1"/>
          <p:nvPr/>
        </p:nvSpPr>
        <p:spPr>
          <a:xfrm>
            <a:off x="4745736" y="4709160"/>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69" name="TextBox 68"/>
          <p:cNvSpPr txBox="1"/>
          <p:nvPr/>
        </p:nvSpPr>
        <p:spPr>
          <a:xfrm>
            <a:off x="1234440" y="5129784"/>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70" name="TextBox 69"/>
          <p:cNvSpPr txBox="1"/>
          <p:nvPr/>
        </p:nvSpPr>
        <p:spPr>
          <a:xfrm>
            <a:off x="1819656" y="5129784"/>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71" name="TextBox 70"/>
          <p:cNvSpPr txBox="1"/>
          <p:nvPr/>
        </p:nvSpPr>
        <p:spPr>
          <a:xfrm>
            <a:off x="2404872" y="5129784"/>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72" name="TextBox 71"/>
          <p:cNvSpPr txBox="1"/>
          <p:nvPr/>
        </p:nvSpPr>
        <p:spPr>
          <a:xfrm>
            <a:off x="2990088" y="5129784"/>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73" name="TextBox 72"/>
          <p:cNvSpPr txBox="1"/>
          <p:nvPr/>
        </p:nvSpPr>
        <p:spPr>
          <a:xfrm>
            <a:off x="3575304" y="5129784"/>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74" name="TextBox 73"/>
          <p:cNvSpPr txBox="1"/>
          <p:nvPr/>
        </p:nvSpPr>
        <p:spPr>
          <a:xfrm>
            <a:off x="4160520" y="5129784"/>
            <a:ext cx="585216" cy="420624"/>
          </a:xfrm>
          <a:prstGeom prst="rect">
            <a:avLst/>
          </a:prstGeom>
          <a:noFill/>
        </p:spPr>
        <p:txBody>
          <a:bodyPr wrap="none" anchor="ctr" lIns="0" rIns="0">
            <a:spAutoFit/>
          </a:bodyPr>
          <a:lstStyle/>
          <a:p>
            <a:pPr algn="ctr"/>
            <a:r>
              <a:rPr sz="1600">
                <a:solidFill>
                  <a:srgbClr val="1F2623"/>
                </a:solidFill>
                <a:latin typeface="Avenir Next"/>
              </a:rPr>
              <a:t>0.81</a:t>
            </a:r>
          </a:p>
        </p:txBody>
      </p:sp>
      <p:sp>
        <p:nvSpPr>
          <p:cNvPr id="75" name="TextBox 74"/>
          <p:cNvSpPr txBox="1"/>
          <p:nvPr/>
        </p:nvSpPr>
        <p:spPr>
          <a:xfrm>
            <a:off x="4745736" y="5129784"/>
            <a:ext cx="585216" cy="420624"/>
          </a:xfrm>
          <a:prstGeom prst="rect">
            <a:avLst/>
          </a:prstGeom>
          <a:noFill/>
        </p:spPr>
        <p:txBody>
          <a:bodyPr wrap="none" anchor="ctr" lIns="0" rIns="0">
            <a:spAutoFit/>
          </a:bodyPr>
          <a:lstStyle/>
          <a:p>
            <a:pPr algn="ctr"/>
            <a:r>
              <a:rPr sz="1600">
                <a:solidFill>
                  <a:srgbClr val="1F2623"/>
                </a:solidFill>
                <a:latin typeface="Avenir Next"/>
              </a:rPr>
              <a:t>0.81</a:t>
            </a:r>
          </a:p>
        </p:txBody>
      </p:sp>
      <p:cxnSp>
        <p:nvCxnSpPr>
          <p:cNvPr id="76" name="Connector 75"/>
          <p:cNvCxnSpPr/>
          <p:nvPr/>
        </p:nvCxnSpPr>
        <p:spPr>
          <a:xfrm>
            <a:off x="1188720" y="2606040"/>
            <a:ext cx="0" cy="2944368"/>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1188720" y="2606040"/>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1188720" y="5550408"/>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5376672" y="2606040"/>
            <a:ext cx="0" cy="2944368"/>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H="1">
            <a:off x="5248656" y="2606040"/>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H="1">
            <a:off x="5248656" y="5550408"/>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1234440" y="2194560"/>
            <a:ext cx="585216" cy="365760"/>
          </a:xfrm>
          <a:prstGeom prst="rect">
            <a:avLst/>
          </a:prstGeom>
          <a:noFill/>
        </p:spPr>
        <p:txBody>
          <a:bodyPr wrap="square">
            <a:spAutoFit/>
          </a:bodyPr>
          <a:lstStyle/>
          <a:p>
            <a:pPr algn="ctr"/>
            <a:r>
              <a:rPr sz="1400">
                <a:solidFill>
                  <a:srgbClr val="6E6F68"/>
                </a:solidFill>
                <a:latin typeface="Avenir Next"/>
              </a:rPr>
              <a:t>E</a:t>
            </a:r>
          </a:p>
        </p:txBody>
      </p:sp>
      <p:sp>
        <p:nvSpPr>
          <p:cNvPr id="83" name="TextBox 82"/>
          <p:cNvSpPr txBox="1"/>
          <p:nvPr/>
        </p:nvSpPr>
        <p:spPr>
          <a:xfrm>
            <a:off x="1819656" y="2194560"/>
            <a:ext cx="585216" cy="365760"/>
          </a:xfrm>
          <a:prstGeom prst="rect">
            <a:avLst/>
          </a:prstGeom>
          <a:noFill/>
        </p:spPr>
        <p:txBody>
          <a:bodyPr wrap="square">
            <a:spAutoFit/>
          </a:bodyPr>
          <a:lstStyle/>
          <a:p>
            <a:pPr algn="ctr"/>
            <a:r>
              <a:rPr sz="1400">
                <a:solidFill>
                  <a:srgbClr val="6E6F68"/>
                </a:solidFill>
                <a:latin typeface="Avenir Next"/>
              </a:rPr>
              <a:t>SJ</a:t>
            </a:r>
          </a:p>
        </p:txBody>
      </p:sp>
      <p:sp>
        <p:nvSpPr>
          <p:cNvPr id="84" name="TextBox 83"/>
          <p:cNvSpPr txBox="1"/>
          <p:nvPr/>
        </p:nvSpPr>
        <p:spPr>
          <a:xfrm>
            <a:off x="2404872" y="2194560"/>
            <a:ext cx="585216" cy="365760"/>
          </a:xfrm>
          <a:prstGeom prst="rect">
            <a:avLst/>
          </a:prstGeom>
          <a:noFill/>
        </p:spPr>
        <p:txBody>
          <a:bodyPr wrap="square">
            <a:spAutoFit/>
          </a:bodyPr>
          <a:lstStyle/>
          <a:p>
            <a:pPr algn="ctr"/>
            <a:r>
              <a:rPr sz="1400">
                <a:solidFill>
                  <a:srgbClr val="6E6F68"/>
                </a:solidFill>
                <a:latin typeface="Avenir Next"/>
              </a:rPr>
              <a:t>LJ</a:t>
            </a:r>
          </a:p>
        </p:txBody>
      </p:sp>
      <p:sp>
        <p:nvSpPr>
          <p:cNvPr id="85" name="TextBox 84"/>
          <p:cNvSpPr txBox="1"/>
          <p:nvPr/>
        </p:nvSpPr>
        <p:spPr>
          <a:xfrm>
            <a:off x="2990088" y="2194560"/>
            <a:ext cx="585216" cy="365760"/>
          </a:xfrm>
          <a:prstGeom prst="rect">
            <a:avLst/>
          </a:prstGeom>
          <a:noFill/>
        </p:spPr>
        <p:txBody>
          <a:bodyPr wrap="square">
            <a:spAutoFit/>
          </a:bodyPr>
          <a:lstStyle/>
          <a:p>
            <a:pPr algn="ctr"/>
            <a:r>
              <a:rPr sz="1400">
                <a:solidFill>
                  <a:srgbClr val="6E6F68"/>
                </a:solidFill>
                <a:latin typeface="Avenir Next"/>
              </a:rPr>
              <a:t>SA</a:t>
            </a:r>
          </a:p>
        </p:txBody>
      </p:sp>
      <p:sp>
        <p:nvSpPr>
          <p:cNvPr id="86" name="TextBox 85"/>
          <p:cNvSpPr txBox="1"/>
          <p:nvPr/>
        </p:nvSpPr>
        <p:spPr>
          <a:xfrm>
            <a:off x="3575304" y="2194560"/>
            <a:ext cx="585216" cy="365760"/>
          </a:xfrm>
          <a:prstGeom prst="rect">
            <a:avLst/>
          </a:prstGeom>
          <a:noFill/>
        </p:spPr>
        <p:txBody>
          <a:bodyPr wrap="square">
            <a:spAutoFit/>
          </a:bodyPr>
          <a:lstStyle/>
          <a:p>
            <a:pPr algn="ctr"/>
            <a:r>
              <a:rPr sz="1400">
                <a:solidFill>
                  <a:srgbClr val="6E6F68"/>
                </a:solidFill>
                <a:latin typeface="Avenir Next"/>
              </a:rPr>
              <a:t>NB</a:t>
            </a:r>
          </a:p>
        </p:txBody>
      </p:sp>
      <p:sp>
        <p:nvSpPr>
          <p:cNvPr id="87" name="TextBox 86"/>
          <p:cNvSpPr txBox="1"/>
          <p:nvPr/>
        </p:nvSpPr>
        <p:spPr>
          <a:xfrm>
            <a:off x="4160520" y="2194560"/>
            <a:ext cx="585216" cy="365760"/>
          </a:xfrm>
          <a:prstGeom prst="rect">
            <a:avLst/>
          </a:prstGeom>
          <a:noFill/>
        </p:spPr>
        <p:txBody>
          <a:bodyPr wrap="square">
            <a:spAutoFit/>
          </a:bodyPr>
          <a:lstStyle/>
          <a:p>
            <a:pPr algn="ctr"/>
            <a:r>
              <a:rPr sz="1400">
                <a:solidFill>
                  <a:srgbClr val="6E6F68"/>
                </a:solidFill>
                <a:latin typeface="Avenir Next"/>
              </a:rPr>
              <a:t>R</a:t>
            </a:r>
          </a:p>
        </p:txBody>
      </p:sp>
      <p:sp>
        <p:nvSpPr>
          <p:cNvPr id="88" name="TextBox 87"/>
          <p:cNvSpPr txBox="1"/>
          <p:nvPr/>
        </p:nvSpPr>
        <p:spPr>
          <a:xfrm>
            <a:off x="4745736" y="2194560"/>
            <a:ext cx="585216" cy="365760"/>
          </a:xfrm>
          <a:prstGeom prst="rect">
            <a:avLst/>
          </a:prstGeom>
          <a:noFill/>
        </p:spPr>
        <p:txBody>
          <a:bodyPr wrap="square">
            <a:spAutoFit/>
          </a:bodyPr>
          <a:lstStyle/>
          <a:p>
            <a:pPr algn="ctr"/>
            <a:r>
              <a:rPr sz="1400">
                <a:solidFill>
                  <a:srgbClr val="6E6F68"/>
                </a:solidFill>
                <a:latin typeface="Avenir Next"/>
              </a:rPr>
              <a:t>MB</a:t>
            </a:r>
          </a:p>
        </p:txBody>
      </p:sp>
      <p:sp>
        <p:nvSpPr>
          <p:cNvPr id="89" name="TextBox 88"/>
          <p:cNvSpPr txBox="1"/>
          <p:nvPr/>
        </p:nvSpPr>
        <p:spPr>
          <a:xfrm>
            <a:off x="5669280" y="3803904"/>
            <a:ext cx="1005840" cy="548640"/>
          </a:xfrm>
          <a:prstGeom prst="rect">
            <a:avLst/>
          </a:prstGeom>
          <a:noFill/>
        </p:spPr>
        <p:txBody>
          <a:bodyPr wrap="square">
            <a:spAutoFit/>
          </a:bodyPr>
          <a:lstStyle/>
          <a:p>
            <a:pPr algn="r"/>
            <a:r>
              <a:rPr b="1" sz="2400">
                <a:solidFill>
                  <a:srgbClr val="1F2623"/>
                </a:solidFill>
                <a:latin typeface="Avenir Next"/>
              </a:rPr>
              <a:t>E</a:t>
            </a:r>
            <a:r>
              <a:rPr sz="2400">
                <a:solidFill>
                  <a:srgbClr val="1F2623"/>
                </a:solidFill>
                <a:latin typeface="Avenir Next"/>
              </a:rPr>
              <a:t> =</a:t>
            </a:r>
          </a:p>
        </p:txBody>
      </p:sp>
      <p:sp>
        <p:nvSpPr>
          <p:cNvPr id="90" name="TextBox 89"/>
          <p:cNvSpPr txBox="1"/>
          <p:nvPr/>
        </p:nvSpPr>
        <p:spPr>
          <a:xfrm>
            <a:off x="6812280" y="2606040"/>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91" name="TextBox 90"/>
          <p:cNvSpPr txBox="1"/>
          <p:nvPr/>
        </p:nvSpPr>
        <p:spPr>
          <a:xfrm>
            <a:off x="7397496" y="2606040"/>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92" name="TextBox 91"/>
          <p:cNvSpPr txBox="1"/>
          <p:nvPr/>
        </p:nvSpPr>
        <p:spPr>
          <a:xfrm>
            <a:off x="7982712" y="2606040"/>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93" name="TextBox 92"/>
          <p:cNvSpPr txBox="1"/>
          <p:nvPr/>
        </p:nvSpPr>
        <p:spPr>
          <a:xfrm>
            <a:off x="8567928" y="2606040"/>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94" name="TextBox 93"/>
          <p:cNvSpPr txBox="1"/>
          <p:nvPr/>
        </p:nvSpPr>
        <p:spPr>
          <a:xfrm>
            <a:off x="9153144" y="2606040"/>
            <a:ext cx="585216" cy="420624"/>
          </a:xfrm>
          <a:prstGeom prst="rect">
            <a:avLst/>
          </a:prstGeom>
          <a:noFill/>
        </p:spPr>
        <p:txBody>
          <a:bodyPr wrap="none" anchor="ctr" lIns="0" rIns="0">
            <a:spAutoFit/>
          </a:bodyPr>
          <a:lstStyle/>
          <a:p>
            <a:pPr algn="ctr"/>
            <a:r>
              <a:rPr sz="1600">
                <a:solidFill>
                  <a:srgbClr val="1F2623"/>
                </a:solidFill>
                <a:latin typeface="Avenir Next"/>
              </a:rPr>
              <a:t>0.01</a:t>
            </a:r>
          </a:p>
        </p:txBody>
      </p:sp>
      <p:sp>
        <p:nvSpPr>
          <p:cNvPr id="95" name="TextBox 94"/>
          <p:cNvSpPr txBox="1"/>
          <p:nvPr/>
        </p:nvSpPr>
        <p:spPr>
          <a:xfrm>
            <a:off x="9738360" y="2606040"/>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96" name="TextBox 95"/>
          <p:cNvSpPr txBox="1"/>
          <p:nvPr/>
        </p:nvSpPr>
        <p:spPr>
          <a:xfrm>
            <a:off x="10323576" y="2606040"/>
            <a:ext cx="585216" cy="420624"/>
          </a:xfrm>
          <a:prstGeom prst="rect">
            <a:avLst/>
          </a:prstGeom>
          <a:noFill/>
        </p:spPr>
        <p:txBody>
          <a:bodyPr wrap="none" anchor="ctr" lIns="0" rIns="0">
            <a:spAutoFit/>
          </a:bodyPr>
          <a:lstStyle/>
          <a:p>
            <a:pPr algn="ctr"/>
            <a:r>
              <a:rPr sz="1600">
                <a:solidFill>
                  <a:srgbClr val="1F2623"/>
                </a:solidFill>
                <a:latin typeface="Avenir Next"/>
              </a:rPr>
              <a:t>0.04</a:t>
            </a:r>
          </a:p>
        </p:txBody>
      </p:sp>
      <p:sp>
        <p:nvSpPr>
          <p:cNvPr id="97" name="TextBox 96"/>
          <p:cNvSpPr txBox="1"/>
          <p:nvPr/>
        </p:nvSpPr>
        <p:spPr>
          <a:xfrm>
            <a:off x="6812280" y="3026664"/>
            <a:ext cx="585216" cy="420624"/>
          </a:xfrm>
          <a:prstGeom prst="rect">
            <a:avLst/>
          </a:prstGeom>
          <a:noFill/>
        </p:spPr>
        <p:txBody>
          <a:bodyPr wrap="none" anchor="ctr" lIns="0" rIns="0">
            <a:spAutoFit/>
          </a:bodyPr>
          <a:lstStyle/>
          <a:p>
            <a:pPr algn="ctr"/>
            <a:r>
              <a:rPr sz="1600">
                <a:solidFill>
                  <a:srgbClr val="1F2623"/>
                </a:solidFill>
                <a:latin typeface="Avenir Next"/>
              </a:rPr>
              <a:t>0.05</a:t>
            </a:r>
          </a:p>
        </p:txBody>
      </p:sp>
      <p:sp>
        <p:nvSpPr>
          <p:cNvPr id="98" name="TextBox 97"/>
          <p:cNvSpPr txBox="1"/>
          <p:nvPr/>
        </p:nvSpPr>
        <p:spPr>
          <a:xfrm>
            <a:off x="7397496" y="3026664"/>
            <a:ext cx="585216" cy="420624"/>
          </a:xfrm>
          <a:prstGeom prst="rect">
            <a:avLst/>
          </a:prstGeom>
          <a:noFill/>
        </p:spPr>
        <p:txBody>
          <a:bodyPr wrap="none" anchor="ctr" lIns="0" rIns="0">
            <a:spAutoFit/>
          </a:bodyPr>
          <a:lstStyle/>
          <a:p>
            <a:pPr algn="ctr"/>
            <a:r>
              <a:rPr sz="1600" b="1">
                <a:solidFill>
                  <a:srgbClr val="A4503A"/>
                </a:solidFill>
                <a:latin typeface="Avenir Next"/>
              </a:rPr>
              <a:t>0.18</a:t>
            </a:r>
          </a:p>
        </p:txBody>
      </p:sp>
      <p:sp>
        <p:nvSpPr>
          <p:cNvPr id="99" name="TextBox 98"/>
          <p:cNvSpPr txBox="1"/>
          <p:nvPr/>
        </p:nvSpPr>
        <p:spPr>
          <a:xfrm>
            <a:off x="7982712" y="3026664"/>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00" name="TextBox 99"/>
          <p:cNvSpPr txBox="1"/>
          <p:nvPr/>
        </p:nvSpPr>
        <p:spPr>
          <a:xfrm>
            <a:off x="8567928" y="3026664"/>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01" name="TextBox 100"/>
          <p:cNvSpPr txBox="1"/>
          <p:nvPr/>
        </p:nvSpPr>
        <p:spPr>
          <a:xfrm>
            <a:off x="9153144" y="3026664"/>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02" name="TextBox 101"/>
          <p:cNvSpPr txBox="1"/>
          <p:nvPr/>
        </p:nvSpPr>
        <p:spPr>
          <a:xfrm>
            <a:off x="9738360" y="3026664"/>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03" name="TextBox 102"/>
          <p:cNvSpPr txBox="1"/>
          <p:nvPr/>
        </p:nvSpPr>
        <p:spPr>
          <a:xfrm>
            <a:off x="10323576" y="3026664"/>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04" name="TextBox 103"/>
          <p:cNvSpPr txBox="1"/>
          <p:nvPr/>
        </p:nvSpPr>
        <p:spPr>
          <a:xfrm>
            <a:off x="6812280" y="3447288"/>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05" name="TextBox 104"/>
          <p:cNvSpPr txBox="1"/>
          <p:nvPr/>
        </p:nvSpPr>
        <p:spPr>
          <a:xfrm>
            <a:off x="7397496" y="3447288"/>
            <a:ext cx="585216" cy="420624"/>
          </a:xfrm>
          <a:prstGeom prst="rect">
            <a:avLst/>
          </a:prstGeom>
          <a:noFill/>
        </p:spPr>
        <p:txBody>
          <a:bodyPr wrap="none" anchor="ctr" lIns="0" rIns="0">
            <a:spAutoFit/>
          </a:bodyPr>
          <a:lstStyle/>
          <a:p>
            <a:pPr algn="ctr"/>
            <a:r>
              <a:rPr sz="1600">
                <a:solidFill>
                  <a:srgbClr val="1F2623"/>
                </a:solidFill>
                <a:latin typeface="Avenir Next"/>
              </a:rPr>
              <a:t>0.05</a:t>
            </a:r>
          </a:p>
        </p:txBody>
      </p:sp>
      <p:sp>
        <p:nvSpPr>
          <p:cNvPr id="106" name="TextBox 105"/>
          <p:cNvSpPr txBox="1"/>
          <p:nvPr/>
        </p:nvSpPr>
        <p:spPr>
          <a:xfrm>
            <a:off x="7982712" y="3447288"/>
            <a:ext cx="585216" cy="420624"/>
          </a:xfrm>
          <a:prstGeom prst="rect">
            <a:avLst/>
          </a:prstGeom>
          <a:noFill/>
        </p:spPr>
        <p:txBody>
          <a:bodyPr wrap="none" anchor="ctr" lIns="0" rIns="0">
            <a:spAutoFit/>
          </a:bodyPr>
          <a:lstStyle/>
          <a:p>
            <a:pPr algn="ctr"/>
            <a:r>
              <a:rPr sz="1600" b="1">
                <a:solidFill>
                  <a:srgbClr val="A4503A"/>
                </a:solidFill>
                <a:latin typeface="Avenir Next"/>
              </a:rPr>
              <a:t>0.12</a:t>
            </a:r>
          </a:p>
        </p:txBody>
      </p:sp>
      <p:sp>
        <p:nvSpPr>
          <p:cNvPr id="107" name="TextBox 106"/>
          <p:cNvSpPr txBox="1"/>
          <p:nvPr/>
        </p:nvSpPr>
        <p:spPr>
          <a:xfrm>
            <a:off x="8567928" y="3447288"/>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08" name="TextBox 107"/>
          <p:cNvSpPr txBox="1"/>
          <p:nvPr/>
        </p:nvSpPr>
        <p:spPr>
          <a:xfrm>
            <a:off x="9153144" y="3447288"/>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09" name="TextBox 108"/>
          <p:cNvSpPr txBox="1"/>
          <p:nvPr/>
        </p:nvSpPr>
        <p:spPr>
          <a:xfrm>
            <a:off x="9738360" y="3447288"/>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10" name="TextBox 109"/>
          <p:cNvSpPr txBox="1"/>
          <p:nvPr/>
        </p:nvSpPr>
        <p:spPr>
          <a:xfrm>
            <a:off x="10323576" y="3447288"/>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11" name="TextBox 110"/>
          <p:cNvSpPr txBox="1"/>
          <p:nvPr/>
        </p:nvSpPr>
        <p:spPr>
          <a:xfrm>
            <a:off x="6812280" y="3867912"/>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12" name="TextBox 111"/>
          <p:cNvSpPr txBox="1"/>
          <p:nvPr/>
        </p:nvSpPr>
        <p:spPr>
          <a:xfrm>
            <a:off x="7397496" y="3867912"/>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13" name="TextBox 112"/>
          <p:cNvSpPr txBox="1"/>
          <p:nvPr/>
        </p:nvSpPr>
        <p:spPr>
          <a:xfrm>
            <a:off x="7982712" y="3867912"/>
            <a:ext cx="585216" cy="420624"/>
          </a:xfrm>
          <a:prstGeom prst="rect">
            <a:avLst/>
          </a:prstGeom>
          <a:noFill/>
        </p:spPr>
        <p:txBody>
          <a:bodyPr wrap="none" anchor="ctr" lIns="0" rIns="0">
            <a:spAutoFit/>
          </a:bodyPr>
          <a:lstStyle/>
          <a:p>
            <a:pPr algn="ctr"/>
            <a:r>
              <a:rPr sz="1600">
                <a:solidFill>
                  <a:srgbClr val="1F2623"/>
                </a:solidFill>
                <a:latin typeface="Avenir Next"/>
              </a:rPr>
              <a:t>0.05</a:t>
            </a:r>
          </a:p>
        </p:txBody>
      </p:sp>
      <p:sp>
        <p:nvSpPr>
          <p:cNvPr id="114" name="TextBox 113"/>
          <p:cNvSpPr txBox="1"/>
          <p:nvPr/>
        </p:nvSpPr>
        <p:spPr>
          <a:xfrm>
            <a:off x="8567928" y="3867912"/>
            <a:ext cx="585216" cy="420624"/>
          </a:xfrm>
          <a:prstGeom prst="rect">
            <a:avLst/>
          </a:prstGeom>
          <a:noFill/>
        </p:spPr>
        <p:txBody>
          <a:bodyPr wrap="none" anchor="ctr" lIns="0" rIns="0">
            <a:spAutoFit/>
          </a:bodyPr>
          <a:lstStyle/>
          <a:p>
            <a:pPr algn="ctr"/>
            <a:r>
              <a:rPr sz="1600" b="1">
                <a:solidFill>
                  <a:srgbClr val="A4503A"/>
                </a:solidFill>
                <a:latin typeface="Avenir Next"/>
              </a:rPr>
              <a:t>0.14</a:t>
            </a:r>
          </a:p>
        </p:txBody>
      </p:sp>
      <p:sp>
        <p:nvSpPr>
          <p:cNvPr id="115" name="TextBox 114"/>
          <p:cNvSpPr txBox="1"/>
          <p:nvPr/>
        </p:nvSpPr>
        <p:spPr>
          <a:xfrm>
            <a:off x="9153144" y="3867912"/>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16" name="TextBox 115"/>
          <p:cNvSpPr txBox="1"/>
          <p:nvPr/>
        </p:nvSpPr>
        <p:spPr>
          <a:xfrm>
            <a:off x="9738360" y="3867912"/>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17" name="TextBox 116"/>
          <p:cNvSpPr txBox="1"/>
          <p:nvPr/>
        </p:nvSpPr>
        <p:spPr>
          <a:xfrm>
            <a:off x="10323576" y="3867912"/>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18" name="TextBox 117"/>
          <p:cNvSpPr txBox="1"/>
          <p:nvPr/>
        </p:nvSpPr>
        <p:spPr>
          <a:xfrm>
            <a:off x="6812280" y="4288536"/>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19" name="TextBox 118"/>
          <p:cNvSpPr txBox="1"/>
          <p:nvPr/>
        </p:nvSpPr>
        <p:spPr>
          <a:xfrm>
            <a:off x="7397496" y="4288536"/>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20" name="TextBox 119"/>
          <p:cNvSpPr txBox="1"/>
          <p:nvPr/>
        </p:nvSpPr>
        <p:spPr>
          <a:xfrm>
            <a:off x="7982712" y="4288536"/>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21" name="TextBox 120"/>
          <p:cNvSpPr txBox="1"/>
          <p:nvPr/>
        </p:nvSpPr>
        <p:spPr>
          <a:xfrm>
            <a:off x="8567928" y="4288536"/>
            <a:ext cx="585216" cy="420624"/>
          </a:xfrm>
          <a:prstGeom prst="rect">
            <a:avLst/>
          </a:prstGeom>
          <a:noFill/>
        </p:spPr>
        <p:txBody>
          <a:bodyPr wrap="none" anchor="ctr" lIns="0" rIns="0">
            <a:spAutoFit/>
          </a:bodyPr>
          <a:lstStyle/>
          <a:p>
            <a:pPr algn="ctr"/>
            <a:r>
              <a:rPr sz="1600">
                <a:solidFill>
                  <a:srgbClr val="1F2623"/>
                </a:solidFill>
                <a:latin typeface="Avenir Next"/>
              </a:rPr>
              <a:t>0.05</a:t>
            </a:r>
          </a:p>
        </p:txBody>
      </p:sp>
      <p:sp>
        <p:nvSpPr>
          <p:cNvPr id="122" name="TextBox 121"/>
          <p:cNvSpPr txBox="1"/>
          <p:nvPr/>
        </p:nvSpPr>
        <p:spPr>
          <a:xfrm>
            <a:off x="9153144" y="4288536"/>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23" name="TextBox 122"/>
          <p:cNvSpPr txBox="1"/>
          <p:nvPr/>
        </p:nvSpPr>
        <p:spPr>
          <a:xfrm>
            <a:off x="9738360" y="4288536"/>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24" name="TextBox 123"/>
          <p:cNvSpPr txBox="1"/>
          <p:nvPr/>
        </p:nvSpPr>
        <p:spPr>
          <a:xfrm>
            <a:off x="10323576" y="4288536"/>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25" name="TextBox 124"/>
          <p:cNvSpPr txBox="1"/>
          <p:nvPr/>
        </p:nvSpPr>
        <p:spPr>
          <a:xfrm>
            <a:off x="6812280" y="4709160"/>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26" name="TextBox 125"/>
          <p:cNvSpPr txBox="1"/>
          <p:nvPr/>
        </p:nvSpPr>
        <p:spPr>
          <a:xfrm>
            <a:off x="7397496" y="4709160"/>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27" name="TextBox 126"/>
          <p:cNvSpPr txBox="1"/>
          <p:nvPr/>
        </p:nvSpPr>
        <p:spPr>
          <a:xfrm>
            <a:off x="7982712" y="4709160"/>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28" name="TextBox 127"/>
          <p:cNvSpPr txBox="1"/>
          <p:nvPr/>
        </p:nvSpPr>
        <p:spPr>
          <a:xfrm>
            <a:off x="8567928" y="4709160"/>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29" name="TextBox 128"/>
          <p:cNvSpPr txBox="1"/>
          <p:nvPr/>
        </p:nvSpPr>
        <p:spPr>
          <a:xfrm>
            <a:off x="9153144" y="4709160"/>
            <a:ext cx="585216" cy="420624"/>
          </a:xfrm>
          <a:prstGeom prst="rect">
            <a:avLst/>
          </a:prstGeom>
          <a:noFill/>
        </p:spPr>
        <p:txBody>
          <a:bodyPr wrap="none" anchor="ctr" lIns="0" rIns="0">
            <a:spAutoFit/>
          </a:bodyPr>
          <a:lstStyle/>
          <a:p>
            <a:pPr algn="ctr"/>
            <a:r>
              <a:rPr sz="1600">
                <a:solidFill>
                  <a:srgbClr val="1F2623"/>
                </a:solidFill>
                <a:latin typeface="Avenir Next"/>
              </a:rPr>
              <a:t>0.04</a:t>
            </a:r>
          </a:p>
        </p:txBody>
      </p:sp>
      <p:sp>
        <p:nvSpPr>
          <p:cNvPr id="130" name="TextBox 129"/>
          <p:cNvSpPr txBox="1"/>
          <p:nvPr/>
        </p:nvSpPr>
        <p:spPr>
          <a:xfrm>
            <a:off x="9738360" y="4709160"/>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31" name="TextBox 130"/>
          <p:cNvSpPr txBox="1"/>
          <p:nvPr/>
        </p:nvSpPr>
        <p:spPr>
          <a:xfrm>
            <a:off x="10323576" y="4709160"/>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32" name="TextBox 131"/>
          <p:cNvSpPr txBox="1"/>
          <p:nvPr/>
        </p:nvSpPr>
        <p:spPr>
          <a:xfrm>
            <a:off x="6812280" y="5129784"/>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33" name="TextBox 132"/>
          <p:cNvSpPr txBox="1"/>
          <p:nvPr/>
        </p:nvSpPr>
        <p:spPr>
          <a:xfrm>
            <a:off x="7397496" y="5129784"/>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34" name="TextBox 133"/>
          <p:cNvSpPr txBox="1"/>
          <p:nvPr/>
        </p:nvSpPr>
        <p:spPr>
          <a:xfrm>
            <a:off x="7982712" y="5129784"/>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35" name="TextBox 134"/>
          <p:cNvSpPr txBox="1"/>
          <p:nvPr/>
        </p:nvSpPr>
        <p:spPr>
          <a:xfrm>
            <a:off x="8567928" y="5129784"/>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36" name="TextBox 135"/>
          <p:cNvSpPr txBox="1"/>
          <p:nvPr/>
        </p:nvSpPr>
        <p:spPr>
          <a:xfrm>
            <a:off x="9153144" y="5129784"/>
            <a:ext cx="585216" cy="420624"/>
          </a:xfrm>
          <a:prstGeom prst="rect">
            <a:avLst/>
          </a:prstGeom>
          <a:noFill/>
        </p:spPr>
        <p:txBody>
          <a:bodyPr wrap="none" anchor="ctr" lIns="0" rIns="0">
            <a:spAutoFit/>
          </a:bodyPr>
          <a:lstStyle/>
          <a:p>
            <a:pPr algn="ctr"/>
            <a:r>
              <a:rPr sz="1600">
                <a:solidFill>
                  <a:srgbClr val="9AAE9F"/>
                </a:solidFill>
                <a:latin typeface="Avenir Next"/>
              </a:rPr>
              <a:t>0</a:t>
            </a:r>
          </a:p>
        </p:txBody>
      </p:sp>
      <p:sp>
        <p:nvSpPr>
          <p:cNvPr id="137" name="TextBox 136"/>
          <p:cNvSpPr txBox="1"/>
          <p:nvPr/>
        </p:nvSpPr>
        <p:spPr>
          <a:xfrm>
            <a:off x="9738360" y="5129784"/>
            <a:ext cx="585216" cy="420624"/>
          </a:xfrm>
          <a:prstGeom prst="rect">
            <a:avLst/>
          </a:prstGeom>
          <a:noFill/>
        </p:spPr>
        <p:txBody>
          <a:bodyPr wrap="none" anchor="ctr" lIns="0" rIns="0">
            <a:spAutoFit/>
          </a:bodyPr>
          <a:lstStyle/>
          <a:p>
            <a:pPr algn="ctr"/>
            <a:r>
              <a:rPr sz="1600">
                <a:solidFill>
                  <a:srgbClr val="1F2623"/>
                </a:solidFill>
                <a:latin typeface="Avenir Next"/>
              </a:rPr>
              <a:t>0.04</a:t>
            </a:r>
          </a:p>
        </p:txBody>
      </p:sp>
      <p:sp>
        <p:nvSpPr>
          <p:cNvPr id="138" name="TextBox 137"/>
          <p:cNvSpPr txBox="1"/>
          <p:nvPr/>
        </p:nvSpPr>
        <p:spPr>
          <a:xfrm>
            <a:off x="10323576" y="5129784"/>
            <a:ext cx="585216" cy="420624"/>
          </a:xfrm>
          <a:prstGeom prst="rect">
            <a:avLst/>
          </a:prstGeom>
          <a:noFill/>
        </p:spPr>
        <p:txBody>
          <a:bodyPr wrap="none" anchor="ctr" lIns="0" rIns="0">
            <a:spAutoFit/>
          </a:bodyPr>
          <a:lstStyle/>
          <a:p>
            <a:pPr algn="ctr"/>
            <a:r>
              <a:rPr sz="1600" b="1">
                <a:solidFill>
                  <a:srgbClr val="A4503A"/>
                </a:solidFill>
                <a:latin typeface="Avenir Next"/>
              </a:rPr>
              <a:t>0.23</a:t>
            </a:r>
          </a:p>
        </p:txBody>
      </p:sp>
      <p:cxnSp>
        <p:nvCxnSpPr>
          <p:cNvPr id="139" name="Connector 138"/>
          <p:cNvCxnSpPr/>
          <p:nvPr/>
        </p:nvCxnSpPr>
        <p:spPr>
          <a:xfrm>
            <a:off x="6766560" y="2606040"/>
            <a:ext cx="0" cy="2944368"/>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a:off x="6766560" y="2606040"/>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a:off x="6766560" y="5550408"/>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a:off x="10954512" y="2606040"/>
            <a:ext cx="0" cy="2944368"/>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H="1">
            <a:off x="10826496" y="2606040"/>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H="1">
            <a:off x="10826496" y="5550408"/>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sp>
        <p:nvSpPr>
          <p:cNvPr id="145" name="TextBox 144"/>
          <p:cNvSpPr txBox="1"/>
          <p:nvPr/>
        </p:nvSpPr>
        <p:spPr>
          <a:xfrm>
            <a:off x="6812280" y="2194560"/>
            <a:ext cx="585216" cy="365760"/>
          </a:xfrm>
          <a:prstGeom prst="rect">
            <a:avLst/>
          </a:prstGeom>
          <a:noFill/>
        </p:spPr>
        <p:txBody>
          <a:bodyPr wrap="square">
            <a:spAutoFit/>
          </a:bodyPr>
          <a:lstStyle/>
          <a:p>
            <a:pPr algn="ctr"/>
            <a:r>
              <a:rPr sz="1400">
                <a:solidFill>
                  <a:srgbClr val="6E6F68"/>
                </a:solidFill>
                <a:latin typeface="Avenir Next"/>
              </a:rPr>
              <a:t>E</a:t>
            </a:r>
          </a:p>
        </p:txBody>
      </p:sp>
      <p:sp>
        <p:nvSpPr>
          <p:cNvPr id="146" name="TextBox 145"/>
          <p:cNvSpPr txBox="1"/>
          <p:nvPr/>
        </p:nvSpPr>
        <p:spPr>
          <a:xfrm>
            <a:off x="7397496" y="2194560"/>
            <a:ext cx="585216" cy="365760"/>
          </a:xfrm>
          <a:prstGeom prst="rect">
            <a:avLst/>
          </a:prstGeom>
          <a:noFill/>
        </p:spPr>
        <p:txBody>
          <a:bodyPr wrap="square">
            <a:spAutoFit/>
          </a:bodyPr>
          <a:lstStyle/>
          <a:p>
            <a:pPr algn="ctr"/>
            <a:r>
              <a:rPr sz="1400">
                <a:solidFill>
                  <a:srgbClr val="6E6F68"/>
                </a:solidFill>
                <a:latin typeface="Avenir Next"/>
              </a:rPr>
              <a:t>SJ</a:t>
            </a:r>
          </a:p>
        </p:txBody>
      </p:sp>
      <p:sp>
        <p:nvSpPr>
          <p:cNvPr id="147" name="TextBox 146"/>
          <p:cNvSpPr txBox="1"/>
          <p:nvPr/>
        </p:nvSpPr>
        <p:spPr>
          <a:xfrm>
            <a:off x="7982712" y="2194560"/>
            <a:ext cx="585216" cy="365760"/>
          </a:xfrm>
          <a:prstGeom prst="rect">
            <a:avLst/>
          </a:prstGeom>
          <a:noFill/>
        </p:spPr>
        <p:txBody>
          <a:bodyPr wrap="square">
            <a:spAutoFit/>
          </a:bodyPr>
          <a:lstStyle/>
          <a:p>
            <a:pPr algn="ctr"/>
            <a:r>
              <a:rPr sz="1400">
                <a:solidFill>
                  <a:srgbClr val="6E6F68"/>
                </a:solidFill>
                <a:latin typeface="Avenir Next"/>
              </a:rPr>
              <a:t>LJ</a:t>
            </a:r>
          </a:p>
        </p:txBody>
      </p:sp>
      <p:sp>
        <p:nvSpPr>
          <p:cNvPr id="148" name="TextBox 147"/>
          <p:cNvSpPr txBox="1"/>
          <p:nvPr/>
        </p:nvSpPr>
        <p:spPr>
          <a:xfrm>
            <a:off x="8567928" y="2194560"/>
            <a:ext cx="585216" cy="365760"/>
          </a:xfrm>
          <a:prstGeom prst="rect">
            <a:avLst/>
          </a:prstGeom>
          <a:noFill/>
        </p:spPr>
        <p:txBody>
          <a:bodyPr wrap="square">
            <a:spAutoFit/>
          </a:bodyPr>
          <a:lstStyle/>
          <a:p>
            <a:pPr algn="ctr"/>
            <a:r>
              <a:rPr sz="1400">
                <a:solidFill>
                  <a:srgbClr val="6E6F68"/>
                </a:solidFill>
                <a:latin typeface="Avenir Next"/>
              </a:rPr>
              <a:t>SA</a:t>
            </a:r>
          </a:p>
        </p:txBody>
      </p:sp>
      <p:sp>
        <p:nvSpPr>
          <p:cNvPr id="149" name="TextBox 148"/>
          <p:cNvSpPr txBox="1"/>
          <p:nvPr/>
        </p:nvSpPr>
        <p:spPr>
          <a:xfrm>
            <a:off x="9153144" y="2194560"/>
            <a:ext cx="585216" cy="365760"/>
          </a:xfrm>
          <a:prstGeom prst="rect">
            <a:avLst/>
          </a:prstGeom>
          <a:noFill/>
        </p:spPr>
        <p:txBody>
          <a:bodyPr wrap="square">
            <a:spAutoFit/>
          </a:bodyPr>
          <a:lstStyle/>
          <a:p>
            <a:pPr algn="ctr"/>
            <a:r>
              <a:rPr sz="1400">
                <a:solidFill>
                  <a:srgbClr val="6E6F68"/>
                </a:solidFill>
                <a:latin typeface="Avenir Next"/>
              </a:rPr>
              <a:t>NB</a:t>
            </a:r>
          </a:p>
        </p:txBody>
      </p:sp>
      <p:sp>
        <p:nvSpPr>
          <p:cNvPr id="150" name="TextBox 149"/>
          <p:cNvSpPr txBox="1"/>
          <p:nvPr/>
        </p:nvSpPr>
        <p:spPr>
          <a:xfrm>
            <a:off x="9738360" y="2194560"/>
            <a:ext cx="585216" cy="365760"/>
          </a:xfrm>
          <a:prstGeom prst="rect">
            <a:avLst/>
          </a:prstGeom>
          <a:noFill/>
        </p:spPr>
        <p:txBody>
          <a:bodyPr wrap="square">
            <a:spAutoFit/>
          </a:bodyPr>
          <a:lstStyle/>
          <a:p>
            <a:pPr algn="ctr"/>
            <a:r>
              <a:rPr sz="1400">
                <a:solidFill>
                  <a:srgbClr val="6E6F68"/>
                </a:solidFill>
                <a:latin typeface="Avenir Next"/>
              </a:rPr>
              <a:t>R</a:t>
            </a:r>
          </a:p>
        </p:txBody>
      </p:sp>
      <p:sp>
        <p:nvSpPr>
          <p:cNvPr id="151" name="TextBox 150"/>
          <p:cNvSpPr txBox="1"/>
          <p:nvPr/>
        </p:nvSpPr>
        <p:spPr>
          <a:xfrm>
            <a:off x="10323576" y="2194560"/>
            <a:ext cx="585216" cy="365760"/>
          </a:xfrm>
          <a:prstGeom prst="rect">
            <a:avLst/>
          </a:prstGeom>
          <a:noFill/>
        </p:spPr>
        <p:txBody>
          <a:bodyPr wrap="square">
            <a:spAutoFit/>
          </a:bodyPr>
          <a:lstStyle/>
          <a:p>
            <a:pPr algn="ctr"/>
            <a:r>
              <a:rPr sz="1400">
                <a:solidFill>
                  <a:srgbClr val="6E6F68"/>
                </a:solidFill>
                <a:latin typeface="Avenir Next"/>
              </a:rPr>
              <a:t>MB</a:t>
            </a:r>
          </a:p>
        </p:txBody>
      </p:sp>
      <p:sp>
        <p:nvSpPr>
          <p:cNvPr id="152" name="TextBox 151"/>
          <p:cNvSpPr txBox="1"/>
          <p:nvPr/>
        </p:nvSpPr>
        <p:spPr>
          <a:xfrm>
            <a:off x="11045952" y="2606040"/>
            <a:ext cx="1463040" cy="420624"/>
          </a:xfrm>
          <a:prstGeom prst="rect">
            <a:avLst/>
          </a:prstGeom>
          <a:noFill/>
        </p:spPr>
        <p:txBody>
          <a:bodyPr wrap="square" anchor="ctr">
            <a:spAutoFit/>
          </a:bodyPr>
          <a:lstStyle/>
          <a:p>
            <a:pPr algn="l"/>
            <a:r>
              <a:rPr sz="1400">
                <a:solidFill>
                  <a:srgbClr val="6E6F68"/>
                </a:solidFill>
                <a:latin typeface="Avenir Next"/>
              </a:rPr>
              <a:t>E</a:t>
            </a:r>
          </a:p>
        </p:txBody>
      </p:sp>
      <p:sp>
        <p:nvSpPr>
          <p:cNvPr id="153" name="TextBox 152"/>
          <p:cNvSpPr txBox="1"/>
          <p:nvPr/>
        </p:nvSpPr>
        <p:spPr>
          <a:xfrm>
            <a:off x="11045952" y="3026664"/>
            <a:ext cx="1463040" cy="420624"/>
          </a:xfrm>
          <a:prstGeom prst="rect">
            <a:avLst/>
          </a:prstGeom>
          <a:noFill/>
        </p:spPr>
        <p:txBody>
          <a:bodyPr wrap="square" anchor="ctr">
            <a:spAutoFit/>
          </a:bodyPr>
          <a:lstStyle/>
          <a:p>
            <a:pPr algn="l"/>
            <a:r>
              <a:rPr sz="1400">
                <a:solidFill>
                  <a:srgbClr val="6E6F68"/>
                </a:solidFill>
                <a:latin typeface="Avenir Next"/>
              </a:rPr>
              <a:t>SJ</a:t>
            </a:r>
          </a:p>
        </p:txBody>
      </p:sp>
      <p:sp>
        <p:nvSpPr>
          <p:cNvPr id="154" name="TextBox 153"/>
          <p:cNvSpPr txBox="1"/>
          <p:nvPr/>
        </p:nvSpPr>
        <p:spPr>
          <a:xfrm>
            <a:off x="11045952" y="3447288"/>
            <a:ext cx="1463040" cy="420624"/>
          </a:xfrm>
          <a:prstGeom prst="rect">
            <a:avLst/>
          </a:prstGeom>
          <a:noFill/>
        </p:spPr>
        <p:txBody>
          <a:bodyPr wrap="square" anchor="ctr">
            <a:spAutoFit/>
          </a:bodyPr>
          <a:lstStyle/>
          <a:p>
            <a:pPr algn="l"/>
            <a:r>
              <a:rPr sz="1400">
                <a:solidFill>
                  <a:srgbClr val="6E6F68"/>
                </a:solidFill>
                <a:latin typeface="Avenir Next"/>
              </a:rPr>
              <a:t>LJ</a:t>
            </a:r>
          </a:p>
        </p:txBody>
      </p:sp>
      <p:sp>
        <p:nvSpPr>
          <p:cNvPr id="155" name="TextBox 154"/>
          <p:cNvSpPr txBox="1"/>
          <p:nvPr/>
        </p:nvSpPr>
        <p:spPr>
          <a:xfrm>
            <a:off x="11045952" y="3867912"/>
            <a:ext cx="1463040" cy="420624"/>
          </a:xfrm>
          <a:prstGeom prst="rect">
            <a:avLst/>
          </a:prstGeom>
          <a:noFill/>
        </p:spPr>
        <p:txBody>
          <a:bodyPr wrap="square" anchor="ctr">
            <a:spAutoFit/>
          </a:bodyPr>
          <a:lstStyle/>
          <a:p>
            <a:pPr algn="l"/>
            <a:r>
              <a:rPr sz="1400">
                <a:solidFill>
                  <a:srgbClr val="6E6F68"/>
                </a:solidFill>
                <a:latin typeface="Avenir Next"/>
              </a:rPr>
              <a:t>SA</a:t>
            </a:r>
          </a:p>
        </p:txBody>
      </p:sp>
      <p:sp>
        <p:nvSpPr>
          <p:cNvPr id="156" name="TextBox 155"/>
          <p:cNvSpPr txBox="1"/>
          <p:nvPr/>
        </p:nvSpPr>
        <p:spPr>
          <a:xfrm>
            <a:off x="11045952" y="4288536"/>
            <a:ext cx="1463040" cy="420624"/>
          </a:xfrm>
          <a:prstGeom prst="rect">
            <a:avLst/>
          </a:prstGeom>
          <a:noFill/>
        </p:spPr>
        <p:txBody>
          <a:bodyPr wrap="square" anchor="ctr">
            <a:spAutoFit/>
          </a:bodyPr>
          <a:lstStyle/>
          <a:p>
            <a:pPr algn="l"/>
            <a:r>
              <a:rPr sz="1400">
                <a:solidFill>
                  <a:srgbClr val="6E6F68"/>
                </a:solidFill>
                <a:latin typeface="Avenir Next"/>
              </a:rPr>
              <a:t>NB</a:t>
            </a:r>
          </a:p>
        </p:txBody>
      </p:sp>
      <p:sp>
        <p:nvSpPr>
          <p:cNvPr id="157" name="TextBox 156"/>
          <p:cNvSpPr txBox="1"/>
          <p:nvPr/>
        </p:nvSpPr>
        <p:spPr>
          <a:xfrm>
            <a:off x="11045952" y="4709160"/>
            <a:ext cx="1463040" cy="420624"/>
          </a:xfrm>
          <a:prstGeom prst="rect">
            <a:avLst/>
          </a:prstGeom>
          <a:noFill/>
        </p:spPr>
        <p:txBody>
          <a:bodyPr wrap="square" anchor="ctr">
            <a:spAutoFit/>
          </a:bodyPr>
          <a:lstStyle/>
          <a:p>
            <a:pPr algn="l"/>
            <a:r>
              <a:rPr sz="1400">
                <a:solidFill>
                  <a:srgbClr val="6E6F68"/>
                </a:solidFill>
                <a:latin typeface="Avenir Next"/>
              </a:rPr>
              <a:t>R</a:t>
            </a:r>
          </a:p>
        </p:txBody>
      </p:sp>
      <p:sp>
        <p:nvSpPr>
          <p:cNvPr id="158" name="TextBox 157"/>
          <p:cNvSpPr txBox="1"/>
          <p:nvPr/>
        </p:nvSpPr>
        <p:spPr>
          <a:xfrm>
            <a:off x="11045952" y="5129784"/>
            <a:ext cx="1463040" cy="420624"/>
          </a:xfrm>
          <a:prstGeom prst="rect">
            <a:avLst/>
          </a:prstGeom>
          <a:noFill/>
        </p:spPr>
        <p:txBody>
          <a:bodyPr wrap="square" anchor="ctr">
            <a:spAutoFit/>
          </a:bodyPr>
          <a:lstStyle/>
          <a:p>
            <a:pPr algn="l"/>
            <a:r>
              <a:rPr sz="1400">
                <a:solidFill>
                  <a:srgbClr val="6E6F68"/>
                </a:solidFill>
                <a:latin typeface="Avenir Next"/>
              </a:rPr>
              <a:t>MB</a:t>
            </a:r>
          </a:p>
        </p:txBody>
      </p:sp>
      <p:sp>
        <p:nvSpPr>
          <p:cNvPr id="159" name="TextBox 158"/>
          <p:cNvSpPr txBox="1"/>
          <p:nvPr/>
        </p:nvSpPr>
        <p:spPr>
          <a:xfrm>
            <a:off x="731520" y="1783080"/>
            <a:ext cx="5120640" cy="365760"/>
          </a:xfrm>
          <a:prstGeom prst="rect">
            <a:avLst/>
          </a:prstGeom>
          <a:noFill/>
        </p:spPr>
        <p:txBody>
          <a:bodyPr wrap="square">
            <a:spAutoFit/>
          </a:bodyPr>
          <a:lstStyle/>
          <a:p>
            <a:pPr algn="ctr"/>
            <a:r>
              <a:rPr sz="1400">
                <a:solidFill>
                  <a:srgbClr val="6E6F68"/>
                </a:solidFill>
                <a:latin typeface="Avenir Next"/>
              </a:rPr>
              <a:t>Projection matrix (from → columns, to → rows)</a:t>
            </a:r>
          </a:p>
        </p:txBody>
      </p:sp>
      <p:sp>
        <p:nvSpPr>
          <p:cNvPr id="160" name="TextBox 159"/>
          <p:cNvSpPr txBox="1"/>
          <p:nvPr/>
        </p:nvSpPr>
        <p:spPr>
          <a:xfrm>
            <a:off x="6309360" y="1783080"/>
            <a:ext cx="5120640" cy="365760"/>
          </a:xfrm>
          <a:prstGeom prst="rect">
            <a:avLst/>
          </a:prstGeom>
          <a:noFill/>
        </p:spPr>
        <p:txBody>
          <a:bodyPr wrap="square">
            <a:spAutoFit/>
          </a:bodyPr>
          <a:lstStyle/>
          <a:p>
            <a:pPr algn="ctr"/>
            <a:r>
              <a:rPr sz="1400">
                <a:solidFill>
                  <a:srgbClr val="6E6F68"/>
                </a:solidFill>
                <a:latin typeface="Avenir Next"/>
              </a:rPr>
              <a:t>Elasticity of λ to each element (sums to 1)</a:t>
            </a:r>
          </a:p>
        </p:txBody>
      </p:sp>
      <p:sp>
        <p:nvSpPr>
          <p:cNvPr id="161" name="TextBox 160"/>
          <p:cNvSpPr txBox="1"/>
          <p:nvPr/>
        </p:nvSpPr>
        <p:spPr>
          <a:xfrm>
            <a:off x="731520" y="5669280"/>
            <a:ext cx="10698480" cy="457200"/>
          </a:xfrm>
          <a:prstGeom prst="rect">
            <a:avLst/>
          </a:prstGeom>
          <a:noFill/>
        </p:spPr>
        <p:txBody>
          <a:bodyPr wrap="square">
            <a:spAutoFit/>
          </a:bodyPr>
          <a:lstStyle/>
          <a:p>
            <a:pPr algn="ctr"/>
            <a:r>
              <a:rPr sz="1500">
                <a:solidFill>
                  <a:srgbClr val="1F2623"/>
                </a:solidFill>
                <a:latin typeface="Avenir Next"/>
              </a:rPr>
              <a:t>Fecundity is huge in </a:t>
            </a:r>
            <a:r>
              <a:rPr b="1" sz="1500">
                <a:solidFill>
                  <a:srgbClr val="1F2623"/>
                </a:solidFill>
                <a:latin typeface="Avenir Next"/>
              </a:rPr>
              <a:t>A</a:t>
            </a:r>
            <a:r>
              <a:rPr sz="1500">
                <a:solidFill>
                  <a:srgbClr val="1F2623"/>
                </a:solidFill>
                <a:latin typeface="Avenir Next"/>
              </a:rPr>
              <a:t> (127, 80) but tiny in </a:t>
            </a:r>
            <a:r>
              <a:rPr b="1" sz="1500">
                <a:solidFill>
                  <a:srgbClr val="1F2623"/>
                </a:solidFill>
                <a:latin typeface="Avenir Next"/>
              </a:rPr>
              <a:t>E</a:t>
            </a:r>
            <a:r>
              <a:rPr sz="1500">
                <a:solidFill>
                  <a:srgbClr val="1F2623"/>
                </a:solidFill>
                <a:latin typeface="Avenir Next"/>
              </a:rPr>
              <a:t> (0.01, 0.04). Survival of juveniles and adults dominates </a:t>
            </a:r>
            <a:r>
              <a:rPr b="1" sz="1500">
                <a:solidFill>
                  <a:srgbClr val="1F2623"/>
                </a:solidFill>
                <a:latin typeface="Avenir Next"/>
              </a:rPr>
              <a:t>E</a:t>
            </a:r>
            <a:r>
              <a:rPr sz="1500">
                <a:solidFill>
                  <a:srgbClr val="1F2623"/>
                </a:solidFill>
                <a:latin typeface="Avenir Next"/>
              </a:rPr>
              <a: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Elasticity is low for eggs</a:t>
            </a:r>
          </a:p>
        </p:txBody>
      </p:sp>
      <p:pic>
        <p:nvPicPr>
          <p:cNvPr id="3" name="Picture Placeholder 2" descr="07_crouse_elasticity.png"/>
          <p:cNvPicPr>
            <a:picLocks noGrp="1" noChangeAspect="1"/>
          </p:cNvPicPr>
          <p:nvPr>
            <p:ph type="pic" idx="101"/>
          </p:nvPr>
        </p:nvPicPr>
        <p:blipFill>
          <a:blip r:embed="rId2"/>
          <a:srcRect/>
          <a:stretch>
            <a:fillRect/>
          </a:stretch>
        </p:blipFill>
        <p:spPr/>
      </p:pic>
      <p:sp>
        <p:nvSpPr>
          <p:cNvPr id="4" name="Text Placeholder 3"/>
          <p:cNvSpPr>
            <a:spLocks noGrp="1"/>
          </p:cNvSpPr>
          <p:nvPr>
            <p:ph type="body" idx="103"/>
          </p:nvPr>
        </p:nvSpPr>
        <p:spPr/>
        <p:txBody>
          <a:bodyPr/>
          <a:lstStyle/>
          <a:p>
            <a:pPr/>
            <a:r>
              <a:t>TAKEAWAY</a:t>
            </a:r>
          </a:p>
        </p:txBody>
      </p:sp>
      <p:sp>
        <p:nvSpPr>
          <p:cNvPr id="5" name="Text Placeholder 4"/>
          <p:cNvSpPr>
            <a:spLocks noGrp="1"/>
          </p:cNvSpPr>
          <p:nvPr>
            <p:ph type="body" idx="105"/>
          </p:nvPr>
        </p:nvSpPr>
        <p:spPr/>
        <p:txBody>
          <a:bodyPr/>
          <a:lstStyle/>
          <a:p>
            <a:pPr/>
            <a:r>
              <a:rPr sz="1800"/>
              <a:t>Eggs and hatchlings: 0.05</a:t>
            </a:r>
          </a:p>
          <a:p>
            <a:pPr/>
            <a:r>
              <a:rPr sz="1800"/>
              <a:t>Adult survival is the largest single element (0.23)</a:t>
            </a:r>
          </a:p>
          <a:p>
            <a:pPr/>
            <a:r>
              <a:rPr sz="1800"/>
              <a:t>Juvenile and subadult survival together: 0.59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rPr i="1"/>
              <a:t>In silico</a:t>
            </a:r>
            <a:r>
              <a:t>: halve the mortality of one stage</a:t>
            </a:r>
          </a:p>
        </p:txBody>
      </p:sp>
      <p:pic>
        <p:nvPicPr>
          <p:cNvPr id="3" name="Picture Placeholder 2" descr="08_crouse_in_silico.png"/>
          <p:cNvPicPr>
            <a:picLocks noGrp="1" noChangeAspect="1"/>
          </p:cNvPicPr>
          <p:nvPr>
            <p:ph type="pic" idx="101"/>
          </p:nvPr>
        </p:nvPicPr>
        <p:blipFill>
          <a:blip r:embed="rId2"/>
          <a:srcRect/>
          <a:stretch>
            <a:fillRect/>
          </a:stretch>
        </p:blipFill>
        <p:spPr/>
      </p:pic>
      <p:sp>
        <p:nvSpPr>
          <p:cNvPr id="4" name="Text Placeholder 3"/>
          <p:cNvSpPr>
            <a:spLocks noGrp="1"/>
          </p:cNvSpPr>
          <p:nvPr>
            <p:ph type="body" idx="103"/>
          </p:nvPr>
        </p:nvSpPr>
        <p:spPr/>
        <p:txBody>
          <a:bodyPr/>
          <a:lstStyle/>
          <a:p>
            <a:pPr/>
            <a:r>
              <a:t>IN SILICO</a:t>
            </a:r>
          </a:p>
        </p:txBody>
      </p:sp>
      <p:sp>
        <p:nvSpPr>
          <p:cNvPr id="5" name="Text Placeholder 4"/>
          <p:cNvSpPr>
            <a:spLocks noGrp="1"/>
          </p:cNvSpPr>
          <p:nvPr>
            <p:ph type="body" idx="105"/>
          </p:nvPr>
        </p:nvSpPr>
        <p:spPr/>
        <p:txBody>
          <a:bodyPr/>
          <a:lstStyle/>
          <a:p>
            <a:pPr/>
            <a:r>
              <a:rPr sz="1700"/>
              <a:t>Even 100% egg survival: λ = 0.965, still declining</a:t>
            </a:r>
          </a:p>
          <a:p>
            <a:pPr/>
            <a:r>
              <a:rPr sz="1700"/>
              <a:t>Halving large-juvenile mortality: λ = 1.04, growing</a:t>
            </a:r>
          </a:p>
          <a:p>
            <a:pPr/>
            <a:r>
              <a:rPr sz="1700"/>
              <a:t>Basis for turtle excluder devices (TEDs)</a:t>
            </a:r>
          </a:p>
          <a:p>
            <a:pPr/>
            <a:r>
              <a:rPr sz="1700"/>
              <a:t>In R: edit a copy, </a:t>
            </a:r>
            <a:r>
              <a:rPr sz="1700">
                <a:latin typeface="Menlo"/>
              </a:rPr>
              <a:t>A_mod</a:t>
            </a:r>
            <a:r>
              <a:rPr sz="1700"/>
              <a:t>; compare λ</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1"/>
          <p:cNvSpPr>
            <a:spLocks noGrp="1"/>
          </p:cNvSpPr>
          <p:nvPr>
            <p:ph type="title" idx="100"/>
          </p:nvPr>
        </p:nvSpPr>
        <p:spPr/>
        <p:txBody>
          <a:bodyPr/>
          <a:lstStyle/>
          <a:p>
            <a:pPr/>
            <a:r>
              <a:t>A fast life history: the red fox</a:t>
            </a:r>
          </a:p>
        </p:txBody>
      </p:sp>
      <p:pic>
        <p:nvPicPr>
          <p:cNvPr id="3" name="Picture Placeholder 2" descr="09_fox_diagram.png"/>
          <p:cNvPicPr>
            <a:picLocks noGrp="1" noChangeAspect="1"/>
          </p:cNvPicPr>
          <p:nvPr>
            <p:ph type="pic" idx="101"/>
          </p:nvPr>
        </p:nvPicPr>
        <p:blipFill>
          <a:blip r:embed="rId2"/>
          <a:srcRect t="13" b="13"/>
          <a:stretch>
            <a:fillRect/>
          </a:stretch>
        </p:blipFill>
        <p:spPr/>
      </p:pic>
      <p:sp>
        <p:nvSpPr>
          <p:cNvPr id="4" name="Text Placeholder 3"/>
          <p:cNvSpPr>
            <a:spLocks noGrp="1"/>
          </p:cNvSpPr>
          <p:nvPr>
            <p:ph type="body" idx="102"/>
          </p:nvPr>
        </p:nvSpPr>
        <p:spPr/>
        <p:txBody>
          <a:bodyPr/>
          <a:lstStyle/>
          <a:p>
            <a:pPr/>
            <a:r>
              <a:rPr i="1"/>
              <a:t>Vulpes vulpes</a:t>
            </a:r>
            <a:r>
              <a:t>, Bristol, UK; females, age classes (Devenish-Nelson et al. 2013). λ = 1.14.</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1"/>
          <p:cNvSpPr>
            <a:spLocks noGrp="1"/>
          </p:cNvSpPr>
          <p:nvPr>
            <p:ph type="title" idx="100"/>
          </p:nvPr>
        </p:nvSpPr>
        <p:spPr/>
        <p:txBody>
          <a:bodyPr/>
          <a:lstStyle/>
          <a:p>
            <a:pPr/>
            <a:r>
              <a:t>Fox: the big numbers move</a:t>
            </a:r>
          </a:p>
        </p:txBody>
      </p:sp>
      <p:sp>
        <p:nvSpPr>
          <p:cNvPr id="26" name="TextBox 25"/>
          <p:cNvSpPr txBox="1"/>
          <p:nvPr/>
        </p:nvSpPr>
        <p:spPr>
          <a:xfrm>
            <a:off x="594359" y="3465576"/>
            <a:ext cx="1005840" cy="548640"/>
          </a:xfrm>
          <a:prstGeom prst="rect">
            <a:avLst/>
          </a:prstGeom>
          <a:noFill/>
        </p:spPr>
        <p:txBody>
          <a:bodyPr wrap="square">
            <a:spAutoFit/>
          </a:bodyPr>
          <a:lstStyle/>
          <a:p>
            <a:pPr algn="r"/>
            <a:r>
              <a:rPr b="1" sz="2400">
                <a:solidFill>
                  <a:srgbClr val="1F2623"/>
                </a:solidFill>
                <a:latin typeface="Avenir Next"/>
              </a:rPr>
              <a:t>A</a:t>
            </a:r>
            <a:r>
              <a:rPr sz="2400">
                <a:solidFill>
                  <a:srgbClr val="1F2623"/>
                </a:solidFill>
                <a:latin typeface="Avenir Next"/>
              </a:rPr>
              <a:t> =</a:t>
            </a:r>
          </a:p>
        </p:txBody>
      </p:sp>
      <p:sp>
        <p:nvSpPr>
          <p:cNvPr id="27" name="TextBox 26"/>
          <p:cNvSpPr txBox="1"/>
          <p:nvPr/>
        </p:nvSpPr>
        <p:spPr>
          <a:xfrm>
            <a:off x="1737360" y="2606040"/>
            <a:ext cx="868680" cy="566928"/>
          </a:xfrm>
          <a:prstGeom prst="rect">
            <a:avLst/>
          </a:prstGeom>
          <a:noFill/>
        </p:spPr>
        <p:txBody>
          <a:bodyPr wrap="none" anchor="ctr" lIns="0" rIns="0">
            <a:spAutoFit/>
          </a:bodyPr>
          <a:lstStyle/>
          <a:p>
            <a:pPr algn="ctr"/>
            <a:r>
              <a:rPr sz="2000">
                <a:solidFill>
                  <a:srgbClr val="1F2623"/>
                </a:solidFill>
                <a:latin typeface="Avenir Next"/>
              </a:rPr>
              <a:t>0.55</a:t>
            </a:r>
          </a:p>
        </p:txBody>
      </p:sp>
      <p:sp>
        <p:nvSpPr>
          <p:cNvPr id="28" name="TextBox 27"/>
          <p:cNvSpPr txBox="1"/>
          <p:nvPr/>
        </p:nvSpPr>
        <p:spPr>
          <a:xfrm>
            <a:off x="2606039" y="2606040"/>
            <a:ext cx="868680" cy="566928"/>
          </a:xfrm>
          <a:prstGeom prst="rect">
            <a:avLst/>
          </a:prstGeom>
          <a:noFill/>
        </p:spPr>
        <p:txBody>
          <a:bodyPr wrap="none" anchor="ctr" lIns="0" rIns="0">
            <a:spAutoFit/>
          </a:bodyPr>
          <a:lstStyle/>
          <a:p>
            <a:pPr algn="ctr"/>
            <a:r>
              <a:rPr sz="2000">
                <a:solidFill>
                  <a:srgbClr val="1F2623"/>
                </a:solidFill>
                <a:latin typeface="Avenir Next"/>
              </a:rPr>
              <a:t>0.77</a:t>
            </a:r>
          </a:p>
        </p:txBody>
      </p:sp>
      <p:sp>
        <p:nvSpPr>
          <p:cNvPr id="29" name="TextBox 28"/>
          <p:cNvSpPr txBox="1"/>
          <p:nvPr/>
        </p:nvSpPr>
        <p:spPr>
          <a:xfrm>
            <a:off x="3474720" y="2606040"/>
            <a:ext cx="868680" cy="566928"/>
          </a:xfrm>
          <a:prstGeom prst="rect">
            <a:avLst/>
          </a:prstGeom>
          <a:noFill/>
        </p:spPr>
        <p:txBody>
          <a:bodyPr wrap="none" anchor="ctr" lIns="0" rIns="0">
            <a:spAutoFit/>
          </a:bodyPr>
          <a:lstStyle/>
          <a:p>
            <a:pPr algn="ctr"/>
            <a:r>
              <a:rPr sz="2000">
                <a:solidFill>
                  <a:srgbClr val="1F2623"/>
                </a:solidFill>
                <a:latin typeface="Avenir Next"/>
              </a:rPr>
              <a:t>0.71</a:t>
            </a:r>
          </a:p>
        </p:txBody>
      </p:sp>
      <p:sp>
        <p:nvSpPr>
          <p:cNvPr id="30" name="TextBox 29"/>
          <p:cNvSpPr txBox="1"/>
          <p:nvPr/>
        </p:nvSpPr>
        <p:spPr>
          <a:xfrm>
            <a:off x="4343400" y="2606040"/>
            <a:ext cx="868680" cy="566928"/>
          </a:xfrm>
          <a:prstGeom prst="rect">
            <a:avLst/>
          </a:prstGeom>
          <a:noFill/>
        </p:spPr>
        <p:txBody>
          <a:bodyPr wrap="none" anchor="ctr" lIns="0" rIns="0">
            <a:spAutoFit/>
          </a:bodyPr>
          <a:lstStyle/>
          <a:p>
            <a:pPr algn="ctr"/>
            <a:r>
              <a:rPr sz="2000">
                <a:solidFill>
                  <a:srgbClr val="1F2623"/>
                </a:solidFill>
                <a:latin typeface="Avenir Next"/>
              </a:rPr>
              <a:t>0.74</a:t>
            </a:r>
          </a:p>
        </p:txBody>
      </p:sp>
      <p:sp>
        <p:nvSpPr>
          <p:cNvPr id="31" name="TextBox 30"/>
          <p:cNvSpPr txBox="1"/>
          <p:nvPr/>
        </p:nvSpPr>
        <p:spPr>
          <a:xfrm>
            <a:off x="1737360" y="3172968"/>
            <a:ext cx="868680" cy="566928"/>
          </a:xfrm>
          <a:prstGeom prst="rect">
            <a:avLst/>
          </a:prstGeom>
          <a:noFill/>
        </p:spPr>
        <p:txBody>
          <a:bodyPr wrap="none" anchor="ctr" lIns="0" rIns="0">
            <a:spAutoFit/>
          </a:bodyPr>
          <a:lstStyle/>
          <a:p>
            <a:pPr algn="ctr"/>
            <a:r>
              <a:rPr sz="2000">
                <a:solidFill>
                  <a:srgbClr val="1F2623"/>
                </a:solidFill>
                <a:latin typeface="Avenir Next"/>
              </a:rPr>
              <a:t>0.48</a:t>
            </a:r>
          </a:p>
        </p:txBody>
      </p:sp>
      <p:sp>
        <p:nvSpPr>
          <p:cNvPr id="32" name="TextBox 31"/>
          <p:cNvSpPr txBox="1"/>
          <p:nvPr/>
        </p:nvSpPr>
        <p:spPr>
          <a:xfrm>
            <a:off x="2606039" y="3172968"/>
            <a:ext cx="868680" cy="566928"/>
          </a:xfrm>
          <a:prstGeom prst="rect">
            <a:avLst/>
          </a:prstGeom>
          <a:noFill/>
        </p:spPr>
        <p:txBody>
          <a:bodyPr wrap="none" anchor="ctr" lIns="0" rIns="0">
            <a:spAutoFit/>
          </a:bodyPr>
          <a:lstStyle/>
          <a:p>
            <a:pPr algn="ctr"/>
            <a:r>
              <a:rPr sz="2000">
                <a:solidFill>
                  <a:srgbClr val="9AAE9F"/>
                </a:solidFill>
                <a:latin typeface="Avenir Next"/>
              </a:rPr>
              <a:t>0</a:t>
            </a:r>
          </a:p>
        </p:txBody>
      </p:sp>
      <p:sp>
        <p:nvSpPr>
          <p:cNvPr id="33" name="TextBox 32"/>
          <p:cNvSpPr txBox="1"/>
          <p:nvPr/>
        </p:nvSpPr>
        <p:spPr>
          <a:xfrm>
            <a:off x="3474720" y="3172968"/>
            <a:ext cx="868680" cy="566928"/>
          </a:xfrm>
          <a:prstGeom prst="rect">
            <a:avLst/>
          </a:prstGeom>
          <a:noFill/>
        </p:spPr>
        <p:txBody>
          <a:bodyPr wrap="none" anchor="ctr" lIns="0" rIns="0">
            <a:spAutoFit/>
          </a:bodyPr>
          <a:lstStyle/>
          <a:p>
            <a:pPr algn="ctr"/>
            <a:r>
              <a:rPr sz="2000">
                <a:solidFill>
                  <a:srgbClr val="9AAE9F"/>
                </a:solidFill>
                <a:latin typeface="Avenir Next"/>
              </a:rPr>
              <a:t>0</a:t>
            </a:r>
          </a:p>
        </p:txBody>
      </p:sp>
      <p:sp>
        <p:nvSpPr>
          <p:cNvPr id="34" name="TextBox 33"/>
          <p:cNvSpPr txBox="1"/>
          <p:nvPr/>
        </p:nvSpPr>
        <p:spPr>
          <a:xfrm>
            <a:off x="4343400" y="3172968"/>
            <a:ext cx="868680" cy="566928"/>
          </a:xfrm>
          <a:prstGeom prst="rect">
            <a:avLst/>
          </a:prstGeom>
          <a:noFill/>
        </p:spPr>
        <p:txBody>
          <a:bodyPr wrap="none" anchor="ctr" lIns="0" rIns="0">
            <a:spAutoFit/>
          </a:bodyPr>
          <a:lstStyle/>
          <a:p>
            <a:pPr algn="ctr"/>
            <a:r>
              <a:rPr sz="2000">
                <a:solidFill>
                  <a:srgbClr val="9AAE9F"/>
                </a:solidFill>
                <a:latin typeface="Avenir Next"/>
              </a:rPr>
              <a:t>0</a:t>
            </a:r>
          </a:p>
        </p:txBody>
      </p:sp>
      <p:sp>
        <p:nvSpPr>
          <p:cNvPr id="35" name="TextBox 34"/>
          <p:cNvSpPr txBox="1"/>
          <p:nvPr/>
        </p:nvSpPr>
        <p:spPr>
          <a:xfrm>
            <a:off x="1737360" y="3739896"/>
            <a:ext cx="868680" cy="566928"/>
          </a:xfrm>
          <a:prstGeom prst="rect">
            <a:avLst/>
          </a:prstGeom>
          <a:noFill/>
        </p:spPr>
        <p:txBody>
          <a:bodyPr wrap="none" anchor="ctr" lIns="0" rIns="0">
            <a:spAutoFit/>
          </a:bodyPr>
          <a:lstStyle/>
          <a:p>
            <a:pPr algn="ctr"/>
            <a:r>
              <a:rPr sz="2000">
                <a:solidFill>
                  <a:srgbClr val="9AAE9F"/>
                </a:solidFill>
                <a:latin typeface="Avenir Next"/>
              </a:rPr>
              <a:t>0</a:t>
            </a:r>
          </a:p>
        </p:txBody>
      </p:sp>
      <p:sp>
        <p:nvSpPr>
          <p:cNvPr id="36" name="TextBox 35"/>
          <p:cNvSpPr txBox="1"/>
          <p:nvPr/>
        </p:nvSpPr>
        <p:spPr>
          <a:xfrm>
            <a:off x="2606039" y="3739896"/>
            <a:ext cx="868680" cy="566928"/>
          </a:xfrm>
          <a:prstGeom prst="rect">
            <a:avLst/>
          </a:prstGeom>
          <a:noFill/>
        </p:spPr>
        <p:txBody>
          <a:bodyPr wrap="none" anchor="ctr" lIns="0" rIns="0">
            <a:spAutoFit/>
          </a:bodyPr>
          <a:lstStyle/>
          <a:p>
            <a:pPr algn="ctr"/>
            <a:r>
              <a:rPr sz="2000">
                <a:solidFill>
                  <a:srgbClr val="1F2623"/>
                </a:solidFill>
                <a:latin typeface="Avenir Next"/>
              </a:rPr>
              <a:t>0.54</a:t>
            </a:r>
          </a:p>
        </p:txBody>
      </p:sp>
      <p:sp>
        <p:nvSpPr>
          <p:cNvPr id="37" name="TextBox 36"/>
          <p:cNvSpPr txBox="1"/>
          <p:nvPr/>
        </p:nvSpPr>
        <p:spPr>
          <a:xfrm>
            <a:off x="3474720" y="3739896"/>
            <a:ext cx="868680" cy="566928"/>
          </a:xfrm>
          <a:prstGeom prst="rect">
            <a:avLst/>
          </a:prstGeom>
          <a:noFill/>
        </p:spPr>
        <p:txBody>
          <a:bodyPr wrap="none" anchor="ctr" lIns="0" rIns="0">
            <a:spAutoFit/>
          </a:bodyPr>
          <a:lstStyle/>
          <a:p>
            <a:pPr algn="ctr"/>
            <a:r>
              <a:rPr sz="2000">
                <a:solidFill>
                  <a:srgbClr val="9AAE9F"/>
                </a:solidFill>
                <a:latin typeface="Avenir Next"/>
              </a:rPr>
              <a:t>0</a:t>
            </a:r>
          </a:p>
        </p:txBody>
      </p:sp>
      <p:sp>
        <p:nvSpPr>
          <p:cNvPr id="38" name="TextBox 37"/>
          <p:cNvSpPr txBox="1"/>
          <p:nvPr/>
        </p:nvSpPr>
        <p:spPr>
          <a:xfrm>
            <a:off x="4343400" y="3739896"/>
            <a:ext cx="868680" cy="566928"/>
          </a:xfrm>
          <a:prstGeom prst="rect">
            <a:avLst/>
          </a:prstGeom>
          <a:noFill/>
        </p:spPr>
        <p:txBody>
          <a:bodyPr wrap="none" anchor="ctr" lIns="0" rIns="0">
            <a:spAutoFit/>
          </a:bodyPr>
          <a:lstStyle/>
          <a:p>
            <a:pPr algn="ctr"/>
            <a:r>
              <a:rPr sz="2000">
                <a:solidFill>
                  <a:srgbClr val="9AAE9F"/>
                </a:solidFill>
                <a:latin typeface="Avenir Next"/>
              </a:rPr>
              <a:t>0</a:t>
            </a:r>
          </a:p>
        </p:txBody>
      </p:sp>
      <p:sp>
        <p:nvSpPr>
          <p:cNvPr id="39" name="TextBox 38"/>
          <p:cNvSpPr txBox="1"/>
          <p:nvPr/>
        </p:nvSpPr>
        <p:spPr>
          <a:xfrm>
            <a:off x="1737360" y="4306824"/>
            <a:ext cx="868680" cy="566928"/>
          </a:xfrm>
          <a:prstGeom prst="rect">
            <a:avLst/>
          </a:prstGeom>
          <a:noFill/>
        </p:spPr>
        <p:txBody>
          <a:bodyPr wrap="none" anchor="ctr" lIns="0" rIns="0">
            <a:spAutoFit/>
          </a:bodyPr>
          <a:lstStyle/>
          <a:p>
            <a:pPr algn="ctr"/>
            <a:r>
              <a:rPr sz="2000">
                <a:solidFill>
                  <a:srgbClr val="9AAE9F"/>
                </a:solidFill>
                <a:latin typeface="Avenir Next"/>
              </a:rPr>
              <a:t>0</a:t>
            </a:r>
          </a:p>
        </p:txBody>
      </p:sp>
      <p:sp>
        <p:nvSpPr>
          <p:cNvPr id="40" name="TextBox 39"/>
          <p:cNvSpPr txBox="1"/>
          <p:nvPr/>
        </p:nvSpPr>
        <p:spPr>
          <a:xfrm>
            <a:off x="2606039" y="4306824"/>
            <a:ext cx="868680" cy="566928"/>
          </a:xfrm>
          <a:prstGeom prst="rect">
            <a:avLst/>
          </a:prstGeom>
          <a:noFill/>
        </p:spPr>
        <p:txBody>
          <a:bodyPr wrap="none" anchor="ctr" lIns="0" rIns="0">
            <a:spAutoFit/>
          </a:bodyPr>
          <a:lstStyle/>
          <a:p>
            <a:pPr algn="ctr"/>
            <a:r>
              <a:rPr sz="2000">
                <a:solidFill>
                  <a:srgbClr val="9AAE9F"/>
                </a:solidFill>
                <a:latin typeface="Avenir Next"/>
              </a:rPr>
              <a:t>0</a:t>
            </a:r>
          </a:p>
        </p:txBody>
      </p:sp>
      <p:sp>
        <p:nvSpPr>
          <p:cNvPr id="41" name="TextBox 40"/>
          <p:cNvSpPr txBox="1"/>
          <p:nvPr/>
        </p:nvSpPr>
        <p:spPr>
          <a:xfrm>
            <a:off x="3474720" y="4306824"/>
            <a:ext cx="868680" cy="566928"/>
          </a:xfrm>
          <a:prstGeom prst="rect">
            <a:avLst/>
          </a:prstGeom>
          <a:noFill/>
        </p:spPr>
        <p:txBody>
          <a:bodyPr wrap="none" anchor="ctr" lIns="0" rIns="0">
            <a:spAutoFit/>
          </a:bodyPr>
          <a:lstStyle/>
          <a:p>
            <a:pPr algn="ctr"/>
            <a:r>
              <a:rPr sz="2000">
                <a:solidFill>
                  <a:srgbClr val="1F2623"/>
                </a:solidFill>
                <a:latin typeface="Avenir Next"/>
              </a:rPr>
              <a:t>0.53</a:t>
            </a:r>
          </a:p>
        </p:txBody>
      </p:sp>
      <p:sp>
        <p:nvSpPr>
          <p:cNvPr id="42" name="TextBox 41"/>
          <p:cNvSpPr txBox="1"/>
          <p:nvPr/>
        </p:nvSpPr>
        <p:spPr>
          <a:xfrm>
            <a:off x="4343400" y="4306824"/>
            <a:ext cx="868680" cy="566928"/>
          </a:xfrm>
          <a:prstGeom prst="rect">
            <a:avLst/>
          </a:prstGeom>
          <a:noFill/>
        </p:spPr>
        <p:txBody>
          <a:bodyPr wrap="none" anchor="ctr" lIns="0" rIns="0">
            <a:spAutoFit/>
          </a:bodyPr>
          <a:lstStyle/>
          <a:p>
            <a:pPr algn="ctr"/>
            <a:r>
              <a:rPr sz="2000">
                <a:solidFill>
                  <a:srgbClr val="1F2623"/>
                </a:solidFill>
                <a:latin typeface="Avenir Next"/>
              </a:rPr>
              <a:t>0.51</a:t>
            </a:r>
          </a:p>
        </p:txBody>
      </p:sp>
      <p:cxnSp>
        <p:nvCxnSpPr>
          <p:cNvPr id="43" name="Connector 42"/>
          <p:cNvCxnSpPr/>
          <p:nvPr/>
        </p:nvCxnSpPr>
        <p:spPr>
          <a:xfrm>
            <a:off x="1691639" y="2606040"/>
            <a:ext cx="0" cy="2267712"/>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691639" y="2606040"/>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691639" y="4873752"/>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5257799" y="2606040"/>
            <a:ext cx="0" cy="2267712"/>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5129783" y="2606040"/>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5129783" y="4873752"/>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1737360" y="2194560"/>
            <a:ext cx="868680" cy="365760"/>
          </a:xfrm>
          <a:prstGeom prst="rect">
            <a:avLst/>
          </a:prstGeom>
          <a:noFill/>
        </p:spPr>
        <p:txBody>
          <a:bodyPr wrap="square">
            <a:spAutoFit/>
          </a:bodyPr>
          <a:lstStyle/>
          <a:p>
            <a:pPr algn="ctr"/>
            <a:r>
              <a:rPr sz="1400">
                <a:solidFill>
                  <a:srgbClr val="6E6F68"/>
                </a:solidFill>
                <a:latin typeface="Avenir Next"/>
              </a:rPr>
              <a:t>0</a:t>
            </a:r>
          </a:p>
        </p:txBody>
      </p:sp>
      <p:sp>
        <p:nvSpPr>
          <p:cNvPr id="50" name="TextBox 49"/>
          <p:cNvSpPr txBox="1"/>
          <p:nvPr/>
        </p:nvSpPr>
        <p:spPr>
          <a:xfrm>
            <a:off x="2606039" y="2194560"/>
            <a:ext cx="868680" cy="365760"/>
          </a:xfrm>
          <a:prstGeom prst="rect">
            <a:avLst/>
          </a:prstGeom>
          <a:noFill/>
        </p:spPr>
        <p:txBody>
          <a:bodyPr wrap="square">
            <a:spAutoFit/>
          </a:bodyPr>
          <a:lstStyle/>
          <a:p>
            <a:pPr algn="ctr"/>
            <a:r>
              <a:rPr sz="1400">
                <a:solidFill>
                  <a:srgbClr val="6E6F68"/>
                </a:solidFill>
                <a:latin typeface="Avenir Next"/>
              </a:rPr>
              <a:t>1</a:t>
            </a:r>
          </a:p>
        </p:txBody>
      </p:sp>
      <p:sp>
        <p:nvSpPr>
          <p:cNvPr id="51" name="TextBox 50"/>
          <p:cNvSpPr txBox="1"/>
          <p:nvPr/>
        </p:nvSpPr>
        <p:spPr>
          <a:xfrm>
            <a:off x="3474720" y="2194560"/>
            <a:ext cx="868680" cy="365760"/>
          </a:xfrm>
          <a:prstGeom prst="rect">
            <a:avLst/>
          </a:prstGeom>
          <a:noFill/>
        </p:spPr>
        <p:txBody>
          <a:bodyPr wrap="square">
            <a:spAutoFit/>
          </a:bodyPr>
          <a:lstStyle/>
          <a:p>
            <a:pPr algn="ctr"/>
            <a:r>
              <a:rPr sz="1400">
                <a:solidFill>
                  <a:srgbClr val="6E6F68"/>
                </a:solidFill>
                <a:latin typeface="Avenir Next"/>
              </a:rPr>
              <a:t>2</a:t>
            </a:r>
          </a:p>
        </p:txBody>
      </p:sp>
      <p:sp>
        <p:nvSpPr>
          <p:cNvPr id="52" name="TextBox 51"/>
          <p:cNvSpPr txBox="1"/>
          <p:nvPr/>
        </p:nvSpPr>
        <p:spPr>
          <a:xfrm>
            <a:off x="4343400" y="2194560"/>
            <a:ext cx="868680" cy="365760"/>
          </a:xfrm>
          <a:prstGeom prst="rect">
            <a:avLst/>
          </a:prstGeom>
          <a:noFill/>
        </p:spPr>
        <p:txBody>
          <a:bodyPr wrap="square">
            <a:spAutoFit/>
          </a:bodyPr>
          <a:lstStyle/>
          <a:p>
            <a:pPr algn="ctr"/>
            <a:r>
              <a:rPr sz="1400">
                <a:solidFill>
                  <a:srgbClr val="6E6F68"/>
                </a:solidFill>
                <a:latin typeface="Avenir Next"/>
              </a:rPr>
              <a:t>3+</a:t>
            </a:r>
          </a:p>
        </p:txBody>
      </p:sp>
      <p:sp>
        <p:nvSpPr>
          <p:cNvPr id="53" name="TextBox 52"/>
          <p:cNvSpPr txBox="1"/>
          <p:nvPr/>
        </p:nvSpPr>
        <p:spPr>
          <a:xfrm>
            <a:off x="6080760" y="3465576"/>
            <a:ext cx="1005840" cy="548640"/>
          </a:xfrm>
          <a:prstGeom prst="rect">
            <a:avLst/>
          </a:prstGeom>
          <a:noFill/>
        </p:spPr>
        <p:txBody>
          <a:bodyPr wrap="square">
            <a:spAutoFit/>
          </a:bodyPr>
          <a:lstStyle/>
          <a:p>
            <a:pPr algn="r"/>
            <a:r>
              <a:rPr b="1" sz="2400">
                <a:solidFill>
                  <a:srgbClr val="1F2623"/>
                </a:solidFill>
                <a:latin typeface="Avenir Next"/>
              </a:rPr>
              <a:t>E</a:t>
            </a:r>
            <a:r>
              <a:rPr sz="2400">
                <a:solidFill>
                  <a:srgbClr val="1F2623"/>
                </a:solidFill>
                <a:latin typeface="Avenir Next"/>
              </a:rPr>
              <a:t> =</a:t>
            </a:r>
          </a:p>
        </p:txBody>
      </p:sp>
      <p:sp>
        <p:nvSpPr>
          <p:cNvPr id="54" name="TextBox 53"/>
          <p:cNvSpPr txBox="1"/>
          <p:nvPr/>
        </p:nvSpPr>
        <p:spPr>
          <a:xfrm>
            <a:off x="7223760" y="2606040"/>
            <a:ext cx="868680" cy="566928"/>
          </a:xfrm>
          <a:prstGeom prst="rect">
            <a:avLst/>
          </a:prstGeom>
          <a:noFill/>
        </p:spPr>
        <p:txBody>
          <a:bodyPr wrap="none" anchor="ctr" lIns="0" rIns="0">
            <a:spAutoFit/>
          </a:bodyPr>
          <a:lstStyle/>
          <a:p>
            <a:pPr algn="ctr"/>
            <a:r>
              <a:rPr sz="2000" b="1">
                <a:solidFill>
                  <a:srgbClr val="A4503A"/>
                </a:solidFill>
                <a:latin typeface="Avenir Next"/>
              </a:rPr>
              <a:t>0.25</a:t>
            </a:r>
          </a:p>
        </p:txBody>
      </p:sp>
      <p:sp>
        <p:nvSpPr>
          <p:cNvPr id="55" name="TextBox 54"/>
          <p:cNvSpPr txBox="1"/>
          <p:nvPr/>
        </p:nvSpPr>
        <p:spPr>
          <a:xfrm>
            <a:off x="8092440" y="2606040"/>
            <a:ext cx="868680" cy="566928"/>
          </a:xfrm>
          <a:prstGeom prst="rect">
            <a:avLst/>
          </a:prstGeom>
          <a:noFill/>
        </p:spPr>
        <p:txBody>
          <a:bodyPr wrap="none" anchor="ctr" lIns="0" rIns="0">
            <a:spAutoFit/>
          </a:bodyPr>
          <a:lstStyle/>
          <a:p>
            <a:pPr algn="ctr"/>
            <a:r>
              <a:rPr sz="2000" b="1">
                <a:solidFill>
                  <a:srgbClr val="A4503A"/>
                </a:solidFill>
                <a:latin typeface="Avenir Next"/>
              </a:rPr>
              <a:t>0.15</a:t>
            </a:r>
          </a:p>
        </p:txBody>
      </p:sp>
      <p:sp>
        <p:nvSpPr>
          <p:cNvPr id="56" name="TextBox 55"/>
          <p:cNvSpPr txBox="1"/>
          <p:nvPr/>
        </p:nvSpPr>
        <p:spPr>
          <a:xfrm>
            <a:off x="8961120" y="2606040"/>
            <a:ext cx="868680" cy="566928"/>
          </a:xfrm>
          <a:prstGeom prst="rect">
            <a:avLst/>
          </a:prstGeom>
          <a:noFill/>
        </p:spPr>
        <p:txBody>
          <a:bodyPr wrap="none" anchor="ctr" lIns="0" rIns="0">
            <a:spAutoFit/>
          </a:bodyPr>
          <a:lstStyle/>
          <a:p>
            <a:pPr algn="ctr"/>
            <a:r>
              <a:rPr sz="2000">
                <a:solidFill>
                  <a:srgbClr val="1F2623"/>
                </a:solidFill>
                <a:latin typeface="Avenir Next"/>
              </a:rPr>
              <a:t>0.06</a:t>
            </a:r>
          </a:p>
        </p:txBody>
      </p:sp>
      <p:sp>
        <p:nvSpPr>
          <p:cNvPr id="57" name="TextBox 56"/>
          <p:cNvSpPr txBox="1"/>
          <p:nvPr/>
        </p:nvSpPr>
        <p:spPr>
          <a:xfrm>
            <a:off x="9829800" y="2606040"/>
            <a:ext cx="868680" cy="566928"/>
          </a:xfrm>
          <a:prstGeom prst="rect">
            <a:avLst/>
          </a:prstGeom>
          <a:noFill/>
        </p:spPr>
        <p:txBody>
          <a:bodyPr wrap="none" anchor="ctr" lIns="0" rIns="0">
            <a:spAutoFit/>
          </a:bodyPr>
          <a:lstStyle/>
          <a:p>
            <a:pPr algn="ctr"/>
            <a:r>
              <a:rPr sz="2000">
                <a:solidFill>
                  <a:srgbClr val="1F2623"/>
                </a:solidFill>
                <a:latin typeface="Avenir Next"/>
              </a:rPr>
              <a:t>0.06</a:t>
            </a:r>
          </a:p>
        </p:txBody>
      </p:sp>
      <p:sp>
        <p:nvSpPr>
          <p:cNvPr id="58" name="TextBox 57"/>
          <p:cNvSpPr txBox="1"/>
          <p:nvPr/>
        </p:nvSpPr>
        <p:spPr>
          <a:xfrm>
            <a:off x="7223760" y="3172968"/>
            <a:ext cx="868680" cy="566928"/>
          </a:xfrm>
          <a:prstGeom prst="rect">
            <a:avLst/>
          </a:prstGeom>
          <a:noFill/>
        </p:spPr>
        <p:txBody>
          <a:bodyPr wrap="none" anchor="ctr" lIns="0" rIns="0">
            <a:spAutoFit/>
          </a:bodyPr>
          <a:lstStyle/>
          <a:p>
            <a:pPr algn="ctr"/>
            <a:r>
              <a:rPr sz="2000" b="1">
                <a:solidFill>
                  <a:srgbClr val="A4503A"/>
                </a:solidFill>
                <a:latin typeface="Avenir Next"/>
              </a:rPr>
              <a:t>0.27</a:t>
            </a:r>
          </a:p>
        </p:txBody>
      </p:sp>
      <p:sp>
        <p:nvSpPr>
          <p:cNvPr id="59" name="TextBox 58"/>
          <p:cNvSpPr txBox="1"/>
          <p:nvPr/>
        </p:nvSpPr>
        <p:spPr>
          <a:xfrm>
            <a:off x="8092440" y="3172968"/>
            <a:ext cx="868680" cy="566928"/>
          </a:xfrm>
          <a:prstGeom prst="rect">
            <a:avLst/>
          </a:prstGeom>
          <a:noFill/>
        </p:spPr>
        <p:txBody>
          <a:bodyPr wrap="none" anchor="ctr" lIns="0" rIns="0">
            <a:spAutoFit/>
          </a:bodyPr>
          <a:lstStyle/>
          <a:p>
            <a:pPr algn="ctr"/>
            <a:r>
              <a:rPr sz="2000">
                <a:solidFill>
                  <a:srgbClr val="9AAE9F"/>
                </a:solidFill>
                <a:latin typeface="Avenir Next"/>
              </a:rPr>
              <a:t>0</a:t>
            </a:r>
          </a:p>
        </p:txBody>
      </p:sp>
      <p:sp>
        <p:nvSpPr>
          <p:cNvPr id="60" name="TextBox 59"/>
          <p:cNvSpPr txBox="1"/>
          <p:nvPr/>
        </p:nvSpPr>
        <p:spPr>
          <a:xfrm>
            <a:off x="8961120" y="3172968"/>
            <a:ext cx="868680" cy="566928"/>
          </a:xfrm>
          <a:prstGeom prst="rect">
            <a:avLst/>
          </a:prstGeom>
          <a:noFill/>
        </p:spPr>
        <p:txBody>
          <a:bodyPr wrap="none" anchor="ctr" lIns="0" rIns="0">
            <a:spAutoFit/>
          </a:bodyPr>
          <a:lstStyle/>
          <a:p>
            <a:pPr algn="ctr"/>
            <a:r>
              <a:rPr sz="2000">
                <a:solidFill>
                  <a:srgbClr val="9AAE9F"/>
                </a:solidFill>
                <a:latin typeface="Avenir Next"/>
              </a:rPr>
              <a:t>0</a:t>
            </a:r>
          </a:p>
        </p:txBody>
      </p:sp>
      <p:sp>
        <p:nvSpPr>
          <p:cNvPr id="61" name="TextBox 60"/>
          <p:cNvSpPr txBox="1"/>
          <p:nvPr/>
        </p:nvSpPr>
        <p:spPr>
          <a:xfrm>
            <a:off x="9829800" y="3172968"/>
            <a:ext cx="868680" cy="566928"/>
          </a:xfrm>
          <a:prstGeom prst="rect">
            <a:avLst/>
          </a:prstGeom>
          <a:noFill/>
        </p:spPr>
        <p:txBody>
          <a:bodyPr wrap="none" anchor="ctr" lIns="0" rIns="0">
            <a:spAutoFit/>
          </a:bodyPr>
          <a:lstStyle/>
          <a:p>
            <a:pPr algn="ctr"/>
            <a:r>
              <a:rPr sz="2000">
                <a:solidFill>
                  <a:srgbClr val="9AAE9F"/>
                </a:solidFill>
                <a:latin typeface="Avenir Next"/>
              </a:rPr>
              <a:t>0</a:t>
            </a:r>
          </a:p>
        </p:txBody>
      </p:sp>
      <p:sp>
        <p:nvSpPr>
          <p:cNvPr id="62" name="TextBox 61"/>
          <p:cNvSpPr txBox="1"/>
          <p:nvPr/>
        </p:nvSpPr>
        <p:spPr>
          <a:xfrm>
            <a:off x="7223760" y="3739896"/>
            <a:ext cx="868680" cy="566928"/>
          </a:xfrm>
          <a:prstGeom prst="rect">
            <a:avLst/>
          </a:prstGeom>
          <a:noFill/>
        </p:spPr>
        <p:txBody>
          <a:bodyPr wrap="none" anchor="ctr" lIns="0" rIns="0">
            <a:spAutoFit/>
          </a:bodyPr>
          <a:lstStyle/>
          <a:p>
            <a:pPr algn="ctr"/>
            <a:r>
              <a:rPr sz="2000">
                <a:solidFill>
                  <a:srgbClr val="9AAE9F"/>
                </a:solidFill>
                <a:latin typeface="Avenir Next"/>
              </a:rPr>
              <a:t>0</a:t>
            </a:r>
          </a:p>
        </p:txBody>
      </p:sp>
      <p:sp>
        <p:nvSpPr>
          <p:cNvPr id="63" name="TextBox 62"/>
          <p:cNvSpPr txBox="1"/>
          <p:nvPr/>
        </p:nvSpPr>
        <p:spPr>
          <a:xfrm>
            <a:off x="8092440" y="3739896"/>
            <a:ext cx="868680" cy="566928"/>
          </a:xfrm>
          <a:prstGeom prst="rect">
            <a:avLst/>
          </a:prstGeom>
          <a:noFill/>
        </p:spPr>
        <p:txBody>
          <a:bodyPr wrap="none" anchor="ctr" lIns="0" rIns="0">
            <a:spAutoFit/>
          </a:bodyPr>
          <a:lstStyle/>
          <a:p>
            <a:pPr algn="ctr"/>
            <a:r>
              <a:rPr sz="2000" b="1">
                <a:solidFill>
                  <a:srgbClr val="A4503A"/>
                </a:solidFill>
                <a:latin typeface="Avenir Next"/>
              </a:rPr>
              <a:t>0.12</a:t>
            </a:r>
          </a:p>
        </p:txBody>
      </p:sp>
      <p:sp>
        <p:nvSpPr>
          <p:cNvPr id="64" name="TextBox 63"/>
          <p:cNvSpPr txBox="1"/>
          <p:nvPr/>
        </p:nvSpPr>
        <p:spPr>
          <a:xfrm>
            <a:off x="8961120" y="3739896"/>
            <a:ext cx="868680" cy="566928"/>
          </a:xfrm>
          <a:prstGeom prst="rect">
            <a:avLst/>
          </a:prstGeom>
          <a:noFill/>
        </p:spPr>
        <p:txBody>
          <a:bodyPr wrap="none" anchor="ctr" lIns="0" rIns="0">
            <a:spAutoFit/>
          </a:bodyPr>
          <a:lstStyle/>
          <a:p>
            <a:pPr algn="ctr"/>
            <a:r>
              <a:rPr sz="2000">
                <a:solidFill>
                  <a:srgbClr val="9AAE9F"/>
                </a:solidFill>
                <a:latin typeface="Avenir Next"/>
              </a:rPr>
              <a:t>0</a:t>
            </a:r>
          </a:p>
        </p:txBody>
      </p:sp>
      <p:sp>
        <p:nvSpPr>
          <p:cNvPr id="65" name="TextBox 64"/>
          <p:cNvSpPr txBox="1"/>
          <p:nvPr/>
        </p:nvSpPr>
        <p:spPr>
          <a:xfrm>
            <a:off x="9829800" y="3739896"/>
            <a:ext cx="868680" cy="566928"/>
          </a:xfrm>
          <a:prstGeom prst="rect">
            <a:avLst/>
          </a:prstGeom>
          <a:noFill/>
        </p:spPr>
        <p:txBody>
          <a:bodyPr wrap="none" anchor="ctr" lIns="0" rIns="0">
            <a:spAutoFit/>
          </a:bodyPr>
          <a:lstStyle/>
          <a:p>
            <a:pPr algn="ctr"/>
            <a:r>
              <a:rPr sz="2000">
                <a:solidFill>
                  <a:srgbClr val="9AAE9F"/>
                </a:solidFill>
                <a:latin typeface="Avenir Next"/>
              </a:rPr>
              <a:t>0</a:t>
            </a:r>
          </a:p>
        </p:txBody>
      </p:sp>
      <p:sp>
        <p:nvSpPr>
          <p:cNvPr id="66" name="TextBox 65"/>
          <p:cNvSpPr txBox="1"/>
          <p:nvPr/>
        </p:nvSpPr>
        <p:spPr>
          <a:xfrm>
            <a:off x="7223760" y="4306824"/>
            <a:ext cx="868680" cy="566928"/>
          </a:xfrm>
          <a:prstGeom prst="rect">
            <a:avLst/>
          </a:prstGeom>
          <a:noFill/>
        </p:spPr>
        <p:txBody>
          <a:bodyPr wrap="none" anchor="ctr" lIns="0" rIns="0">
            <a:spAutoFit/>
          </a:bodyPr>
          <a:lstStyle/>
          <a:p>
            <a:pPr algn="ctr"/>
            <a:r>
              <a:rPr sz="2000">
                <a:solidFill>
                  <a:srgbClr val="9AAE9F"/>
                </a:solidFill>
                <a:latin typeface="Avenir Next"/>
              </a:rPr>
              <a:t>0</a:t>
            </a:r>
          </a:p>
        </p:txBody>
      </p:sp>
      <p:sp>
        <p:nvSpPr>
          <p:cNvPr id="67" name="TextBox 66"/>
          <p:cNvSpPr txBox="1"/>
          <p:nvPr/>
        </p:nvSpPr>
        <p:spPr>
          <a:xfrm>
            <a:off x="8092440" y="4306824"/>
            <a:ext cx="868680" cy="566928"/>
          </a:xfrm>
          <a:prstGeom prst="rect">
            <a:avLst/>
          </a:prstGeom>
          <a:noFill/>
        </p:spPr>
        <p:txBody>
          <a:bodyPr wrap="none" anchor="ctr" lIns="0" rIns="0">
            <a:spAutoFit/>
          </a:bodyPr>
          <a:lstStyle/>
          <a:p>
            <a:pPr algn="ctr"/>
            <a:r>
              <a:rPr sz="2000">
                <a:solidFill>
                  <a:srgbClr val="9AAE9F"/>
                </a:solidFill>
                <a:latin typeface="Avenir Next"/>
              </a:rPr>
              <a:t>0</a:t>
            </a:r>
          </a:p>
        </p:txBody>
      </p:sp>
      <p:sp>
        <p:nvSpPr>
          <p:cNvPr id="68" name="TextBox 67"/>
          <p:cNvSpPr txBox="1"/>
          <p:nvPr/>
        </p:nvSpPr>
        <p:spPr>
          <a:xfrm>
            <a:off x="8961120" y="4306824"/>
            <a:ext cx="868680" cy="566928"/>
          </a:xfrm>
          <a:prstGeom prst="rect">
            <a:avLst/>
          </a:prstGeom>
          <a:noFill/>
        </p:spPr>
        <p:txBody>
          <a:bodyPr wrap="none" anchor="ctr" lIns="0" rIns="0">
            <a:spAutoFit/>
          </a:bodyPr>
          <a:lstStyle/>
          <a:p>
            <a:pPr algn="ctr"/>
            <a:r>
              <a:rPr sz="2000">
                <a:solidFill>
                  <a:srgbClr val="1F2623"/>
                </a:solidFill>
                <a:latin typeface="Avenir Next"/>
              </a:rPr>
              <a:t>0.06</a:t>
            </a:r>
          </a:p>
        </p:txBody>
      </p:sp>
      <p:sp>
        <p:nvSpPr>
          <p:cNvPr id="69" name="TextBox 68"/>
          <p:cNvSpPr txBox="1"/>
          <p:nvPr/>
        </p:nvSpPr>
        <p:spPr>
          <a:xfrm>
            <a:off x="9829800" y="4306824"/>
            <a:ext cx="868680" cy="566928"/>
          </a:xfrm>
          <a:prstGeom prst="rect">
            <a:avLst/>
          </a:prstGeom>
          <a:noFill/>
        </p:spPr>
        <p:txBody>
          <a:bodyPr wrap="none" anchor="ctr" lIns="0" rIns="0">
            <a:spAutoFit/>
          </a:bodyPr>
          <a:lstStyle/>
          <a:p>
            <a:pPr algn="ctr"/>
            <a:r>
              <a:rPr sz="2000">
                <a:solidFill>
                  <a:srgbClr val="1F2623"/>
                </a:solidFill>
                <a:latin typeface="Avenir Next"/>
              </a:rPr>
              <a:t>0.05</a:t>
            </a:r>
          </a:p>
        </p:txBody>
      </p:sp>
      <p:cxnSp>
        <p:nvCxnSpPr>
          <p:cNvPr id="70" name="Connector 69"/>
          <p:cNvCxnSpPr/>
          <p:nvPr/>
        </p:nvCxnSpPr>
        <p:spPr>
          <a:xfrm>
            <a:off x="7178040" y="2606040"/>
            <a:ext cx="0" cy="2267712"/>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7178040" y="2606040"/>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7178040" y="4873752"/>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10744200" y="2606040"/>
            <a:ext cx="0" cy="2267712"/>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a:off x="10616184" y="2606040"/>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H="1">
            <a:off x="10616184" y="4873752"/>
            <a:ext cx="128016" cy="0"/>
          </a:xfrm>
          <a:prstGeom prst="line">
            <a:avLst/>
          </a:prstGeom>
          <a:ln w="25400">
            <a:solidFill>
              <a:srgbClr val="1F2623"/>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7223760" y="2194560"/>
            <a:ext cx="868680" cy="365760"/>
          </a:xfrm>
          <a:prstGeom prst="rect">
            <a:avLst/>
          </a:prstGeom>
          <a:noFill/>
        </p:spPr>
        <p:txBody>
          <a:bodyPr wrap="square">
            <a:spAutoFit/>
          </a:bodyPr>
          <a:lstStyle/>
          <a:p>
            <a:pPr algn="ctr"/>
            <a:r>
              <a:rPr sz="1400">
                <a:solidFill>
                  <a:srgbClr val="6E6F68"/>
                </a:solidFill>
                <a:latin typeface="Avenir Next"/>
              </a:rPr>
              <a:t>0</a:t>
            </a:r>
          </a:p>
        </p:txBody>
      </p:sp>
      <p:sp>
        <p:nvSpPr>
          <p:cNvPr id="77" name="TextBox 76"/>
          <p:cNvSpPr txBox="1"/>
          <p:nvPr/>
        </p:nvSpPr>
        <p:spPr>
          <a:xfrm>
            <a:off x="8092440" y="2194560"/>
            <a:ext cx="868680" cy="365760"/>
          </a:xfrm>
          <a:prstGeom prst="rect">
            <a:avLst/>
          </a:prstGeom>
          <a:noFill/>
        </p:spPr>
        <p:txBody>
          <a:bodyPr wrap="square">
            <a:spAutoFit/>
          </a:bodyPr>
          <a:lstStyle/>
          <a:p>
            <a:pPr algn="ctr"/>
            <a:r>
              <a:rPr sz="1400">
                <a:solidFill>
                  <a:srgbClr val="6E6F68"/>
                </a:solidFill>
                <a:latin typeface="Avenir Next"/>
              </a:rPr>
              <a:t>1</a:t>
            </a:r>
          </a:p>
        </p:txBody>
      </p:sp>
      <p:sp>
        <p:nvSpPr>
          <p:cNvPr id="78" name="TextBox 77"/>
          <p:cNvSpPr txBox="1"/>
          <p:nvPr/>
        </p:nvSpPr>
        <p:spPr>
          <a:xfrm>
            <a:off x="8961120" y="2194560"/>
            <a:ext cx="868680" cy="365760"/>
          </a:xfrm>
          <a:prstGeom prst="rect">
            <a:avLst/>
          </a:prstGeom>
          <a:noFill/>
        </p:spPr>
        <p:txBody>
          <a:bodyPr wrap="square">
            <a:spAutoFit/>
          </a:bodyPr>
          <a:lstStyle/>
          <a:p>
            <a:pPr algn="ctr"/>
            <a:r>
              <a:rPr sz="1400">
                <a:solidFill>
                  <a:srgbClr val="6E6F68"/>
                </a:solidFill>
                <a:latin typeface="Avenir Next"/>
              </a:rPr>
              <a:t>2</a:t>
            </a:r>
          </a:p>
        </p:txBody>
      </p:sp>
      <p:sp>
        <p:nvSpPr>
          <p:cNvPr id="79" name="TextBox 78"/>
          <p:cNvSpPr txBox="1"/>
          <p:nvPr/>
        </p:nvSpPr>
        <p:spPr>
          <a:xfrm>
            <a:off x="9829800" y="2194560"/>
            <a:ext cx="868680" cy="365760"/>
          </a:xfrm>
          <a:prstGeom prst="rect">
            <a:avLst/>
          </a:prstGeom>
          <a:noFill/>
        </p:spPr>
        <p:txBody>
          <a:bodyPr wrap="square">
            <a:spAutoFit/>
          </a:bodyPr>
          <a:lstStyle/>
          <a:p>
            <a:pPr algn="ctr"/>
            <a:r>
              <a:rPr sz="1400">
                <a:solidFill>
                  <a:srgbClr val="6E6F68"/>
                </a:solidFill>
                <a:latin typeface="Avenir Next"/>
              </a:rPr>
              <a:t>3+</a:t>
            </a:r>
          </a:p>
        </p:txBody>
      </p:sp>
      <p:sp>
        <p:nvSpPr>
          <p:cNvPr id="80" name="TextBox 79"/>
          <p:cNvSpPr txBox="1"/>
          <p:nvPr/>
        </p:nvSpPr>
        <p:spPr>
          <a:xfrm>
            <a:off x="10835640" y="2606040"/>
            <a:ext cx="1463040" cy="566928"/>
          </a:xfrm>
          <a:prstGeom prst="rect">
            <a:avLst/>
          </a:prstGeom>
          <a:noFill/>
        </p:spPr>
        <p:txBody>
          <a:bodyPr wrap="square" anchor="ctr">
            <a:spAutoFit/>
          </a:bodyPr>
          <a:lstStyle/>
          <a:p>
            <a:pPr algn="l"/>
            <a:r>
              <a:rPr sz="1400">
                <a:solidFill>
                  <a:srgbClr val="6E6F68"/>
                </a:solidFill>
                <a:latin typeface="Avenir Next"/>
              </a:rPr>
              <a:t>0</a:t>
            </a:r>
          </a:p>
        </p:txBody>
      </p:sp>
      <p:sp>
        <p:nvSpPr>
          <p:cNvPr id="81" name="TextBox 80"/>
          <p:cNvSpPr txBox="1"/>
          <p:nvPr/>
        </p:nvSpPr>
        <p:spPr>
          <a:xfrm>
            <a:off x="10835640" y="3172968"/>
            <a:ext cx="1463040" cy="566928"/>
          </a:xfrm>
          <a:prstGeom prst="rect">
            <a:avLst/>
          </a:prstGeom>
          <a:noFill/>
        </p:spPr>
        <p:txBody>
          <a:bodyPr wrap="square" anchor="ctr">
            <a:spAutoFit/>
          </a:bodyPr>
          <a:lstStyle/>
          <a:p>
            <a:pPr algn="l"/>
            <a:r>
              <a:rPr sz="1400">
                <a:solidFill>
                  <a:srgbClr val="6E6F68"/>
                </a:solidFill>
                <a:latin typeface="Avenir Next"/>
              </a:rPr>
              <a:t>1</a:t>
            </a:r>
          </a:p>
        </p:txBody>
      </p:sp>
      <p:sp>
        <p:nvSpPr>
          <p:cNvPr id="82" name="TextBox 81"/>
          <p:cNvSpPr txBox="1"/>
          <p:nvPr/>
        </p:nvSpPr>
        <p:spPr>
          <a:xfrm>
            <a:off x="10835640" y="3739896"/>
            <a:ext cx="1463040" cy="566928"/>
          </a:xfrm>
          <a:prstGeom prst="rect">
            <a:avLst/>
          </a:prstGeom>
          <a:noFill/>
        </p:spPr>
        <p:txBody>
          <a:bodyPr wrap="square" anchor="ctr">
            <a:spAutoFit/>
          </a:bodyPr>
          <a:lstStyle/>
          <a:p>
            <a:pPr algn="l"/>
            <a:r>
              <a:rPr sz="1400">
                <a:solidFill>
                  <a:srgbClr val="6E6F68"/>
                </a:solidFill>
                <a:latin typeface="Avenir Next"/>
              </a:rPr>
              <a:t>2</a:t>
            </a:r>
          </a:p>
        </p:txBody>
      </p:sp>
      <p:sp>
        <p:nvSpPr>
          <p:cNvPr id="83" name="TextBox 82"/>
          <p:cNvSpPr txBox="1"/>
          <p:nvPr/>
        </p:nvSpPr>
        <p:spPr>
          <a:xfrm>
            <a:off x="10835640" y="4306824"/>
            <a:ext cx="1463040" cy="566928"/>
          </a:xfrm>
          <a:prstGeom prst="rect">
            <a:avLst/>
          </a:prstGeom>
          <a:noFill/>
        </p:spPr>
        <p:txBody>
          <a:bodyPr wrap="square" anchor="ctr">
            <a:spAutoFit/>
          </a:bodyPr>
          <a:lstStyle/>
          <a:p>
            <a:pPr algn="l"/>
            <a:r>
              <a:rPr sz="1400">
                <a:solidFill>
                  <a:srgbClr val="6E6F68"/>
                </a:solidFill>
                <a:latin typeface="Avenir Next"/>
              </a:rPr>
              <a:t>3+</a:t>
            </a:r>
          </a:p>
        </p:txBody>
      </p:sp>
      <p:sp>
        <p:nvSpPr>
          <p:cNvPr id="84" name="TextBox 83"/>
          <p:cNvSpPr txBox="1"/>
          <p:nvPr/>
        </p:nvSpPr>
        <p:spPr>
          <a:xfrm>
            <a:off x="731520" y="1828800"/>
            <a:ext cx="5120640" cy="365760"/>
          </a:xfrm>
          <a:prstGeom prst="rect">
            <a:avLst/>
          </a:prstGeom>
          <a:noFill/>
        </p:spPr>
        <p:txBody>
          <a:bodyPr wrap="square">
            <a:spAutoFit/>
          </a:bodyPr>
          <a:lstStyle/>
          <a:p>
            <a:pPr algn="ctr"/>
            <a:r>
              <a:rPr sz="1400">
                <a:solidFill>
                  <a:srgbClr val="6E6F68"/>
                </a:solidFill>
                <a:latin typeface="Avenir Next"/>
              </a:rPr>
              <a:t>Projection matrix (age this year → columns)</a:t>
            </a:r>
          </a:p>
        </p:txBody>
      </p:sp>
      <p:sp>
        <p:nvSpPr>
          <p:cNvPr id="85" name="TextBox 84"/>
          <p:cNvSpPr txBox="1"/>
          <p:nvPr/>
        </p:nvSpPr>
        <p:spPr>
          <a:xfrm>
            <a:off x="6309360" y="1828800"/>
            <a:ext cx="5120640" cy="365760"/>
          </a:xfrm>
          <a:prstGeom prst="rect">
            <a:avLst/>
          </a:prstGeom>
          <a:noFill/>
        </p:spPr>
        <p:txBody>
          <a:bodyPr wrap="square">
            <a:spAutoFit/>
          </a:bodyPr>
          <a:lstStyle/>
          <a:p>
            <a:pPr algn="ctr"/>
            <a:r>
              <a:rPr sz="1400">
                <a:solidFill>
                  <a:srgbClr val="6E6F68"/>
                </a:solidFill>
                <a:latin typeface="Avenir Next"/>
              </a:rPr>
              <a:t>Elasticity of λ to each element (sums to 1)</a:t>
            </a:r>
          </a:p>
        </p:txBody>
      </p:sp>
      <p:sp>
        <p:nvSpPr>
          <p:cNvPr id="86" name="TextBox 85"/>
          <p:cNvSpPr txBox="1"/>
          <p:nvPr/>
        </p:nvSpPr>
        <p:spPr>
          <a:xfrm>
            <a:off x="731520" y="5257800"/>
            <a:ext cx="10698480" cy="457200"/>
          </a:xfrm>
          <a:prstGeom prst="rect">
            <a:avLst/>
          </a:prstGeom>
          <a:noFill/>
        </p:spPr>
        <p:txBody>
          <a:bodyPr wrap="square">
            <a:spAutoFit/>
          </a:bodyPr>
          <a:lstStyle/>
          <a:p>
            <a:pPr algn="ctr"/>
            <a:r>
              <a:rPr sz="1600">
                <a:solidFill>
                  <a:srgbClr val="1F2623"/>
                </a:solidFill>
                <a:latin typeface="Avenir Next"/>
              </a:rPr>
              <a:t>Reproduction (top row) and first-year survival dominate </a:t>
            </a:r>
            <a:r>
              <a:rPr b="1" sz="1600">
                <a:solidFill>
                  <a:srgbClr val="1F2623"/>
                </a:solidFill>
                <a:latin typeface="Avenir Next"/>
              </a:rPr>
              <a:t>E</a:t>
            </a:r>
            <a:r>
              <a:rPr sz="1600">
                <a:solidFill>
                  <a:srgbClr val="1F2623"/>
                </a:solidFill>
                <a:latin typeface="Avenir Next"/>
              </a:rPr>
              <a:t>: the opposite of the loggerhead.</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1"/>
          <p:cNvSpPr>
            <a:spLocks noGrp="1"/>
          </p:cNvSpPr>
          <p:nvPr>
            <p:ph type="title" idx="100"/>
          </p:nvPr>
        </p:nvSpPr>
        <p:spPr/>
        <p:txBody>
          <a:bodyPr/>
          <a:lstStyle/>
          <a:p>
            <a:pPr/>
            <a:r>
              <a:t>Fast and slow life histories</a:t>
            </a:r>
          </a:p>
        </p:txBody>
      </p:sp>
      <p:pic>
        <p:nvPicPr>
          <p:cNvPr id="3" name="Picture Placeholder 2" descr="10_life_history_contrast.png"/>
          <p:cNvPicPr>
            <a:picLocks noGrp="1" noChangeAspect="1"/>
          </p:cNvPicPr>
          <p:nvPr>
            <p:ph type="pic" idx="101"/>
          </p:nvPr>
        </p:nvPicPr>
        <p:blipFill>
          <a:blip r:embed="rId2"/>
          <a:srcRect/>
          <a:stretch>
            <a:fillRect/>
          </a:stretch>
        </p:blipFill>
        <p:spPr/>
      </p:pic>
      <p:sp>
        <p:nvSpPr>
          <p:cNvPr id="4" name="Text Placeholder 3"/>
          <p:cNvSpPr>
            <a:spLocks noGrp="1"/>
          </p:cNvSpPr>
          <p:nvPr>
            <p:ph type="body" idx="103"/>
          </p:nvPr>
        </p:nvSpPr>
        <p:spPr/>
        <p:txBody>
          <a:bodyPr/>
          <a:lstStyle/>
          <a:p>
            <a:pPr/>
            <a:r>
              <a:t>TAKEAWAY</a:t>
            </a:r>
          </a:p>
        </p:txBody>
      </p:sp>
      <p:sp>
        <p:nvSpPr>
          <p:cNvPr id="5" name="Text Placeholder 4"/>
          <p:cNvSpPr>
            <a:spLocks noGrp="1"/>
          </p:cNvSpPr>
          <p:nvPr>
            <p:ph type="body" idx="105"/>
          </p:nvPr>
        </p:nvSpPr>
        <p:spPr/>
        <p:txBody>
          <a:bodyPr/>
          <a:lstStyle/>
          <a:p>
            <a:pPr/>
            <a:r>
              <a:rPr sz="1800"/>
              <a:t>Fox: half the elasticity is in reproduction</a:t>
            </a:r>
          </a:p>
          <a:p>
            <a:pPr/>
            <a:r>
              <a:rPr sz="1800"/>
              <a:t>Turtle and whale: survival dominates; reproduction ≤ 0.05</a:t>
            </a:r>
          </a:p>
          <a:p>
            <a:pPr/>
            <a:r>
              <a:rPr sz="1800"/>
              <a:t>Next lecture: why life histories differ</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pPr/>
            <a:r>
              <a:t>Assumptions of the basic model</a:t>
            </a:r>
          </a:p>
        </p:txBody>
      </p:sp>
      <p:sp>
        <p:nvSpPr>
          <p:cNvPr id="3" name="Text Placeholder 2"/>
          <p:cNvSpPr>
            <a:spLocks noGrp="1"/>
          </p:cNvSpPr>
          <p:nvPr>
            <p:ph type="body" idx="101"/>
          </p:nvPr>
        </p:nvSpPr>
        <p:spPr/>
        <p:txBody>
          <a:bodyPr/>
          <a:lstStyle/>
          <a:p>
            <a:pPr/>
            <a:r>
              <a:rPr sz="2000"/>
              <a:t>Vital rates are constant through time (no environmental variation)</a:t>
            </a:r>
          </a:p>
          <a:p>
            <a:pPr/>
            <a:r>
              <a:rPr sz="2000"/>
              <a:t>No density dependence: vital rates do not depend on population size</a:t>
            </a:r>
          </a:p>
          <a:p>
            <a:pPr/>
            <a:r>
              <a:rPr sz="2000"/>
              <a:t>Closed population: no immigration or emigration</a:t>
            </a:r>
          </a:p>
          <a:p>
            <a:pPr/>
            <a:r>
              <a:rPr sz="2000"/>
              <a:t>All individuals in a stage are equivalent</a:t>
            </a:r>
          </a:p>
          <a:p>
            <a:pPr/>
            <a:r>
              <a:rPr sz="2000"/>
              <a:t>Females only, with no shortage of mates</a:t>
            </a:r>
          </a:p>
          <a:p>
            <a:pPr/>
            <a:r>
              <a:rPr sz="2000"/>
              <a:t>A fixed projection interval and census time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p:txBody>
          <a:bodyPr/>
          <a:lstStyle/>
          <a:p>
            <a:pPr/>
            <a:r>
              <a:t>Key points</a:t>
            </a:r>
          </a:p>
        </p:txBody>
      </p:sp>
      <p:sp>
        <p:nvSpPr>
          <p:cNvPr id="3" name="Text Placeholder 2"/>
          <p:cNvSpPr>
            <a:spLocks noGrp="1"/>
          </p:cNvSpPr>
          <p:nvPr>
            <p:ph type="body" idx="102"/>
          </p:nvPr>
        </p:nvSpPr>
        <p:spPr/>
        <p:txBody>
          <a:bodyPr/>
          <a:lstStyle/>
          <a:p>
            <a:pPr/>
            <a:r>
              <a:rPr sz="2000"/>
              <a:t>Individuals of different ages and stages contribute differently to growth</a:t>
            </a:r>
          </a:p>
          <a:p>
            <a:pPr/>
            <a:r>
              <a:rPr sz="2000"/>
              <a:t>A life cycle diagram converts directly to a matrix: columns from, rows to</a:t>
            </a:r>
          </a:p>
          <a:p>
            <a:pPr/>
            <a:r>
              <a:rPr sz="2000"/>
              <a:t>Fertility includes the survival needed to reach the next census</a:t>
            </a:r>
          </a:p>
          <a:p>
            <a:pPr/>
            <a:r>
              <a:rPr sz="2000"/>
              <a:t>n</a:t>
            </a:r>
            <a:r>
              <a:rPr baseline="-25000" sz="2000"/>
              <a:t>t+1</a:t>
            </a:r>
            <a:r>
              <a:rPr sz="2000"/>
              <a:t> = </a:t>
            </a:r>
            <a:r>
              <a:rPr b="1" sz="2000"/>
              <a:t>A</a:t>
            </a:r>
            <a:r>
              <a:rPr sz="2000"/>
              <a:t>n</a:t>
            </a:r>
            <a:r>
              <a:rPr baseline="-25000" sz="2000"/>
              <a:t>t</a:t>
            </a:r>
            <a:r>
              <a:rPr sz="2000"/>
              <a:t> projects size and structure; λ and the stable stage distribution are its dominant eigenvalue and eigenvector</a:t>
            </a:r>
          </a:p>
          <a:p>
            <a:pPr/>
            <a:r>
              <a:rPr sz="2000"/>
              <a:t>Elasticity and </a:t>
            </a:r>
            <a:r>
              <a:rPr i="1" sz="2000"/>
              <a:t>in silico</a:t>
            </a:r>
            <a:r>
              <a:rPr sz="2000"/>
              <a:t> experiments rank management options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a:lstStyle/>
          <a:p>
            <a:pPr/>
            <a:r>
              <a:t>PRACTICAL · PAPER, THEN R</a:t>
            </a:r>
          </a:p>
        </p:txBody>
      </p:sp>
      <p:sp>
        <p:nvSpPr>
          <p:cNvPr id="3" name="Title 2"/>
          <p:cNvSpPr>
            <a:spLocks noGrp="1"/>
          </p:cNvSpPr>
          <p:nvPr>
            <p:ph type="title" idx="102"/>
          </p:nvPr>
        </p:nvSpPr>
        <p:spPr/>
        <p:txBody>
          <a:bodyPr/>
          <a:lstStyle/>
          <a:p>
            <a:pPr/>
            <a:r>
              <a:rPr sz="3000"/>
              <a:t>Can you model the life cycle of an organism of your choice?</a:t>
            </a:r>
          </a:p>
        </p:txBody>
      </p:sp>
      <p:sp>
        <p:nvSpPr>
          <p:cNvPr id="4" name="Text Placeholder 3"/>
          <p:cNvSpPr>
            <a:spLocks noGrp="1"/>
          </p:cNvSpPr>
          <p:nvPr>
            <p:ph type="body" idx="103"/>
          </p:nvPr>
        </p:nvSpPr>
        <p:spPr/>
        <p:txBody>
          <a:bodyPr/>
          <a:lstStyle/>
          <a:p>
            <a:pPr/>
            <a:r>
              <a:rPr sz="1700"/>
              <a:t>Draw a life cycle (2–3 stages, up to 7 arrows), add values, check them, write the matrix</a:t>
            </a:r>
          </a:p>
          <a:p>
            <a:pPr/>
            <a:r>
              <a:rPr sz="1700"/>
              <a:t>Predict, then project: does the starting population matter?</a:t>
            </a:r>
          </a:p>
          <a:p>
            <a:pPr/>
            <a:r>
              <a:rPr sz="1700"/>
              <a:t>Find λ, the stable stage distribution and the elasticities</a:t>
            </a:r>
          </a:p>
          <a:p>
            <a:pPr/>
            <a:r>
              <a:rPr i="1" sz="1700"/>
              <a:t>In silico</a:t>
            </a:r>
            <a:r>
              <a:rPr sz="1700"/>
              <a:t>: predict, change a copy of the matrix, compare λ, explain</a:t>
            </a:r>
          </a:p>
          <a:p>
            <a:pPr/>
            <a:r>
              <a:rPr sz="1700"/>
              <a:t>Evolution: is a mutant with one more offspring but lower juvenile survival fitter?</a:t>
            </a:r>
          </a:p>
        </p:txBody>
      </p:sp>
    </p:spTree>
  </p:cSld>
  <p:clrMapOvr>
    <a:masterClrMapping/>
  </p:clrMapOvr>
</p:sld>
</file>

<file path=ppt/theme/theme1.xml><?xml version="1.0" encoding="utf-8"?>
<a:theme xmlns:a="http://schemas.openxmlformats.org/drawingml/2006/main" name="BB512 Population Biology and Evolution">
  <a:themeElements>
    <a:clrScheme name="BB512 Population Biology and Evolution">
      <a:dk1>
        <a:srgbClr val="1F2623"/>
      </a:dk1>
      <a:lt1>
        <a:srgbClr val="FBFAF6"/>
      </a:lt1>
      <a:dk2>
        <a:srgbClr val="1F4D3F"/>
      </a:dk2>
      <a:lt2>
        <a:srgbClr val="EFEEE6"/>
      </a:lt2>
      <a:accent1>
        <a:srgbClr val="1F4D3F"/>
      </a:accent1>
      <a:accent2>
        <a:srgbClr val="C08A2E"/>
      </a:accent2>
      <a:accent3>
        <a:srgbClr val="A4503A"/>
      </a:accent3>
      <a:accent4>
        <a:srgbClr val="3E6E7E"/>
      </a:accent4>
      <a:accent5>
        <a:srgbClr val="9AAE9F"/>
      </a:accent5>
      <a:accent6>
        <a:srgbClr val="6E6F68"/>
      </a:accent6>
      <a:hlink>
        <a:srgbClr val="2D6F8A"/>
      </a:hlink>
      <a:folHlink>
        <a:srgbClr val="6B4E8A"/>
      </a:folHlink>
    </a:clrScheme>
    <a:fontScheme name="BB512 Population Biology and Evolution">
      <a:majorFont>
        <a:latin typeface="Avenir Nex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venir Nex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BB512 Population Biology and Evolution</dc:title>
  <dc:subject>PptxGenJS Presentation</dc:subject>
  <dc:creator>Owen Jones</dc:creator>
  <cp:lastModifiedBy>Owen Jones</cp:lastModifiedBy>
  <cp:revision>1</cp:revision>
  <dcterms:created xsi:type="dcterms:W3CDTF">2026-10-14T08:25:59Z</dcterms:created>
  <dcterms:modified xsi:type="dcterms:W3CDTF">2026-10-14T08:25:59Z</dcterms:modified>
</cp:coreProperties>
</file>