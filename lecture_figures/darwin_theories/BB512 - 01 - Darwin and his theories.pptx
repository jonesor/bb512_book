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Welcome. Today: what evolution is, how Darwin arrived at his two great theories, and the evidence he used.</a:t>
            </a:r>
          </a:p>
          <a:p>
            <a:r>
              <a:t>Image: Darwin's "I think" sketch of a branching tree of descent, Notebook B (1837), p. 36. Public domain (Cambridge University Library, via Darwin Online). It is the first tree of life he drew, a year before he read Malthus and had a mechanism.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First, a few minutes on how BB512 works. About 8 minutes in total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two themes are linked throughout: population dynamics determine who survives and reproduces, which is what natural selection acts on.</a:t>
            </a:r>
          </a:p>
          <a:p>
            <a:r>
              <a:t>The five parts match the course book and the schedule.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Owen Jones (lectures and practicals) and Thomas Bjørneboe Berg (population growth and species interaction lectures).</a:t>
            </a:r>
          </a:p>
          <a:p>
            <a:r>
              <a:t>Photos carried over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Examples from my research: great tits in nest boxes (long-term population monitoring), wandering albatross, bristlecone pine (very long-lived), octopus (dies after breeding once), mayflies (short adult life), ducklings, harbour seals, and matrix population models, which you will meet in Part 2.</a:t>
            </a:r>
          </a:p>
          <a:p>
            <a:r>
              <a:t>Photos carried over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Neal (2018), ISBN 978-1107605121. Today's reading: Neal chapters 1 and 2 (in the first edition, 2004: "Darwin concludes that organisms evolve" and "Darwin's theories of evolution").</a:t>
            </a:r>
          </a:p>
          <a:p>
            <a:r>
              <a:t>Literature cited in lectures is available via itslearning.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All practicals are in the online course book, with model answers in the Solutions chapter. Today's practical is chapter 2, The Blind Watchmaker.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Kept from the previous version. The maths in this course is mostly arithmetic, simple algebra and a little R. The models are tools for thinking.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objective per section (01 to 06). The history is the vehicle; the general skills (defining evolution, building and testing an argument from evidence) are what you will be examined on.</a:t>
            </a:r>
          </a:p>
          <a:p>
            <a:r>
              <a:t>Reading: Neal chapters 1 and 2. Next lecture: Understanding natural selection (Neal chapter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Evolution explains the diversity of life in structure, appearance, behaviour and distribution.</a:t>
            </a:r>
          </a:p>
          <a:p>
            <a:r>
              <a:t>Leafy seadragon (*Phycodurus eques*): camouflage. Peacock (*Pavo cristatus*): sexual selection (Part 5). Darwin's finches (*Geospiza*, Gould's drawings from the 1845 *Journal of Researches*): beaks suited to diet. Redback spider (*Latrodectus hasselti*): sexual cannibalism, the male offers himself to the female. Slug-moth caterpillar: warning colours. Tarsier: huge eyes for a nocturnal predator.</a:t>
            </a:r>
          </a:p>
          <a:p>
            <a:r>
              <a:t>Photos carried over from the previous version. The original slide also had an aye-aye; it is in the old deck if wanted.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Before the history, let us be clear what we mean.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Three key words: heritable (passed from parent to offspring), population, generations.</a:t>
            </a:r>
          </a:p>
          <a:p>
            <a:r>
              <a:t>The giraffe example contrasts Darwin with Lamarck (1809), who proposed that characteristics acquired during life (a stretched neck) are inherited. We now know acquired characteristics are not, in general, inherited.</a:t>
            </a:r>
          </a:p>
          <a:p>
            <a:r>
              <a:t>This is the definition used in the rest of the course; in Part 3 we will make it precise as a change in allele frequencies.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Neal's organising idea for chapter 2: the *Origin* interleaves two theories, and it is easy to slip from one to the other without noticing. Keep them apart: you can accept common descent and doubt natural selection (many Victorians did).</a:t>
            </a:r>
          </a:p>
          <a:p>
            <a:r>
              <a:t>Ernst Mayr (1982) splits Darwin's thinking into five theories: evolution itself, common descent, gradualism, population-level speciation, and natural selection. Two is enough for us.</a:t>
            </a:r>
          </a:p>
          <a:p>
            <a:r>
              <a:t>The rest of the lecture follows this split: section 03 is the mechanism, section 04 is the evidence for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Why did a trainee clergyman come to doubt that species were created as they are? About 12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 map for the rest of the lecture. Point out the three dates in red: 1837 (Gould's identification of the Galápagos birds), 1838 (Malthus) and 1859 (the *Origin*). Then the long gap: section 06 asks why.</a:t>
            </a:r>
          </a:p>
          <a:p>
            <a:r>
              <a:t>Darwin read the 6th edition (1826) of Malthus's *Essay* on 28 September 1838 (Notebook D). Mendel published in 1866; his work was rediscovered in 1900, 18 years after Darwin's death.</a:t>
            </a:r>
          </a:p>
          <a:p>
            <a:r>
              <a:t>Script 01_timeline.R (historical dates, not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His father was not pleased: "You care for nothing but shooting, dogs, and rat-catching, and you will be a disgrace to yourself and all your family" (Darwin's *Autobiography*). Neal notes that biographies differ on whether this was said before Edinburgh or after; the *Autobiography* places it at the end of his schooling.</a:t>
            </a:r>
          </a:p>
          <a:p>
            <a:r>
              <a:t>In Edinburgh his mentor was Robert Grant, a sponge expert and convinced evolutionist (a follower of Lamarck), who introduced Darwin to careful comparative work on marine invertebrates.</a:t>
            </a:r>
          </a:p>
          <a:p>
            <a:r>
              <a:t>Correction to the previous version: natural history was not a required part of a theology degree. Darwin attended Henslow's botany lectures voluntarily, and Henslow became his mentor. In 1831 he also learned field geology from Adam Sedgwick in north Wales.</a:t>
            </a:r>
          </a:p>
          <a:p>
            <a:r>
              <a:t>Painting: Ellen Sharples (1816), Charles with his sister Catherine.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Correction to the previous version, which said that uniformitarianism "allows transmutation" while catastrophism allows only fixity. Neither was a theory of evolution. Lyell himself rejected the transmutation of species and called the replacement of extinct species the "mystery of mysteries". Cuvier's catastrophism, by contrast, recognised a progression in the fossil record (younger fossils more like living species), and Darwin accepted that part (Neal Table 1.1, after Mayr 1982).</a:t>
            </a:r>
          </a:p>
          <a:p>
            <a:r>
              <a:t>What mattered for Darwin: from Lyell's *Principles of Geology* (volume 1 went with him on the Beagle), (1) the earth is extremely old, and (2) small, imperceptible changes accumulate into large ones. Natural selection has exactly the same structure.</a:t>
            </a:r>
          </a:p>
          <a:p>
            <a:r>
              <a:t>Spelling: "uniformitarianism", not "uniformatism" (fixed from the previous version).</a:t>
            </a:r>
          </a:p>
          <a:p>
            <a:r>
              <a:t>Image: geological column, carried over from the previous version; source and licence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A local example of slow, accumulated change. These layers of diatoms were laid down on a sea floor about 55 million years ago, then folded by ice sheets in the last glaciations.</a:t>
            </a:r>
          </a:p>
          <a:p>
            <a:r>
              <a:t>Ask: how long did it take to lay down this many layers? Lyell's argument: measure the rate today, then multiply.</a:t>
            </a:r>
          </a:p>
          <a:p>
            <a:r>
              <a:t>Photo carried over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Henslow recommended Darwin as a gentleman companion for Captain Robert FitzRoy. His father refused; his uncle, Josiah Wedgwood II, persuaded him. Darwin was 22, FitzRoy 26.</a:t>
            </a:r>
          </a:p>
          <a:p>
            <a:r>
              <a:t>Darwin was a wretched sailor and seasick throughout, but the time ashore was mostly because the survey took years and he made long inland journeys (Neal: 39 months on land, 18 at sea).</a:t>
            </a:r>
          </a:p>
          <a:p>
            <a:r>
              <a:t>He was mostly a geologist: his geological notes are far longer than his zoological ones (often quoted as about 1,380 against 370 pages).</a:t>
            </a:r>
          </a:p>
          <a:p>
            <a:r>
              <a:t>In Chile (1835) he saw an earthquake raise the beach at Concepción by about 2.4 m, and found shells 100 m above the sea: small uplifts, repeated, build mountains. Lyell was right.</a:t>
            </a:r>
          </a:p>
          <a:p>
            <a:r>
              <a:t>Map: Sémhur, CC BY-SA 3.0, via Wikimedia Commons. The previous version's painting of the Beagle (Ron Scobie) has been dropped; its licence was unclear.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In July 1836, sorting his notes on the way home, Darwin wrote that if the island differences were real, "such facts would undermine the stability of Species".</a:t>
            </a:r>
          </a:p>
          <a:p>
            <a:r>
              <a:t>The question in the third bullet is Neal's paraphrase of Darwin's reasoning (the previous version showed it in quotation marks as if it were Darwin's words).</a:t>
            </a:r>
          </a:p>
          <a:p>
            <a:r>
              <a:t>John Gould, the ornithologist at the Zoological Society of London (not the Natural History Museum, which did not yet exist as such), examined the birds in early 1837 and told Darwin the mockingbirds were three distinct species. Darwin started his first "transmutation" notebook that spring. Today four species of Galápagos mockingbird are recognised.</a:t>
            </a:r>
          </a:p>
          <a:p>
            <a:r>
              <a:t>Image: Brinkhuizen &amp; Nilsson (2020) *Birds and Mammals of the Galápagos*, Lynx Edicions. Teaching use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Correction to the previous version, which said Darwin never mentioned the finches in his books on evolution. He did discuss them, briefly, in the 1845 second edition of his *Journal of Researches*: "one might really fancy that from an original paucity of birds in this archipelago, one species had been taken and modified for different ends". But they do not appear in the *Origin*: his key example was the mockingbirds.</a:t>
            </a:r>
          </a:p>
          <a:p>
            <a:r>
              <a:t>Gould reconstructed the islands of origin using specimens collected by FitzRoy and Darwin's servant, Syms Covington. The name "Darwin's finches" became popular after David Lack's 1947 book; Sulloway (1982) showed how the finch story grew into a legend.</a:t>
            </a:r>
          </a:p>
          <a:p>
            <a:r>
              <a:t>The finches are now a classic case of natural selection in action (the Grants on Daphne Major), which we will meet later in the course.</a:t>
            </a:r>
          </a:p>
          <a:p>
            <a:r>
              <a:t>Image: Gould's drawings from the *Journal of Researches* (1845),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acting governor, Nicholas Lawson, told Darwin he could tell which island a tortoise came from by its shell. Darwin ignored it: he thought the tortoises had been brought from the Indian Ocean by buccaneers.</a:t>
            </a:r>
          </a:p>
          <a:p>
            <a:r>
              <a:t>He could have made the same argument as for the mockingbirds. Instead the crew took 18 giant tortoises on board for fresh meat, and ate them, throwing the shells overboard.</a:t>
            </a:r>
          </a:p>
          <a:p>
            <a:r>
              <a:t>Saddle-backed shells (left) are found on dry islands, where tortoises reach up to browse cactus; domed shells on wetter, higher islands.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In Argentina Darwin dug up fossils of giant ground sloths (*Megatherium*, *Scelidotherium*) and the armour of glyptodonts. Recent fossils in shallow deposits looked like the living sloths and armadillos of the same continent. Why would extinct and living species be similar in the same place, unless the living ones descended from the extinct ones (or from shared ancestors)?</a:t>
            </a:r>
          </a:p>
          <a:p>
            <a:r>
              <a:t>Glyptodonts are now known, from ancient DNA, to be a branch of the armadillo family tree (Delsuc et al. 2016, *Current Biology*).</a:t>
            </a:r>
          </a:p>
          <a:p>
            <a:r>
              <a:t>**Correction from the previous version:** Toxodon is not a giant rodent and is not related to the capybara. It is a notoungulate, an extinct South American hoofed mammal. Darwin and Richard Owen could not place it (it mixes features of rodents, elephants and even whales); collagen protein sequences show its closest living relatives are horses, rhinos and tapirs (Welker et al. 2015, *Nature*; Buckley 2015, *Proc. R. Soc. B*). A good story for students: a puzzle Darwin could not solve, solved by molecules 180 years later.</a:t>
            </a:r>
          </a:p>
          <a:p>
            <a:r>
              <a:t>Credits: Scelidotherium art, Mauricio Antón; sloth photo, D. Maraschiello, CC BY-SA 4.0 (both carried over). The capybara photo has been removed. Glyptodon (Heinrich Harder, c. 1920, public domain) and armadillo (birdphotos.com, CC BY 3.0) from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Darwin's contribution was not the idea that species change but (1) a mass of evidence that they had, and (2) a workable mechanism, natural selection.</a:t>
            </a:r>
          </a:p>
          <a:p>
            <a:r>
              <a:t>Al-Jāḥiẓ, *Kitāb al-Ḥayawān* (Book of Animals), Basra, 9th century: often credited with early ideas about the struggle for existence and environmental influence. Historians debate how close these were to evolution. The previous version's quotation ("God invested matter with energy for development") could not be traced to a source and has been removed.</a:t>
            </a:r>
          </a:p>
          <a:p>
            <a:r>
              <a:t>Erasmus Darwin, *Zoonomia* (1794). Lamarck, *Philosophie zoologique* (1809): the best-known evolutionary theory before Darwin (Neal ch. 1). Robert Chambers published *Vestiges of the Natural History of Creation* anonymously in 1844; scientists savaged it, which made Darwin even more cautious (section 06). Denis Diderot (18th century) also speculated about species arising by trial and survival.</a:t>
            </a:r>
          </a:p>
          <a:p>
            <a:r>
              <a:t>Images: a giraffe from *Kitāb al-Ḥayawān* by al-Jāḥiẓ (public domain, carried over from the previous version); Jean-Baptiste Lamarck, portrait by Charles Thévenin (public domain,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Darwin was convinced species change. But how? About 9 minutes.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Chapter 1 of the *Origin*, "Variation under domestication". Darwin bred pigeons himself and joined London pigeon clubs. The breeds differ so much (carrier, pouter, fantail, tumblers, trumpeter, barb...) that a naturalist finding them wild would call them different species, even genera. Yet they interbreed freely and all descend from the rock dove.</a:t>
            </a:r>
          </a:p>
          <a:p>
            <a:r>
              <a:t>The same for dogs (chihuahua to Great Dane) and for cabbage, kale, broccoli, cauliflower, Brussels sprouts and kohlrabi, all *Brassica oleracea*.</a:t>
            </a:r>
          </a:p>
          <a:p>
            <a:r>
              <a:t>Two lessons: (1) variation exists and much of it is heritable; (2) selection can change a species a lot, in a short time.</a:t>
            </a:r>
          </a:p>
          <a:p>
            <a:r>
              <a:t>Images: pigeon breeds and rock dove carried over from the previous version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Thomas Malthus, *An Essay on the Principle of Population* (first edition 1798; Darwin read the 6th edition, 1826, in September 1838). Correction from the previous version, which dated the essay 1826.</a:t>
            </a:r>
          </a:p>
          <a:p>
            <a:r>
              <a:t>The figure uses Malthus's own example: population doubling every 25 years (1, 2, 4, 8 ... 256) against subsistence increasing by one unit per 25 years (1, 2, 3 ... 9). The gap must be closed by famine, disease and war (Malthus's "checks").</a:t>
            </a:r>
          </a:p>
          <a:p>
            <a:r>
              <a:t>Darwin's leap: this applies "with manifold force" to all animals and plants, which cannot increase their food supply. Most offspring die before breeding. The question is which ones.</a:t>
            </a:r>
          </a:p>
          <a:p>
            <a:r>
              <a:t>You will meet geometric growth properly in lecture 3 (Neal ch. 4) and the practical on geometric growth.</a:t>
            </a:r>
          </a:p>
          <a:p>
            <a:r>
              <a:t>Figure: analytical illustration, script 02_malthus.R.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Build it up in words. Facts 3, 4 and 5 (from Malthus, and from observation): every species can produce far more offspring than replace the parents; resources are limited; yet populations stay roughly constant. Inference: most offspring die, so there is a struggle for existence.</a:t>
            </a:r>
          </a:p>
          <a:p>
            <a:r>
              <a:t>Fact 1: individuals differ. Inference: survival and reproduction are not random; individuals with some variants do better. That is natural selection.</a:t>
            </a:r>
          </a:p>
          <a:p>
            <a:r>
              <a:t>Fact 2: much of the variation is heritable. Inference: the favoured variants become more common in the next generation, and over many generations the population changes. That is evolution by natural selection.</a:t>
            </a:r>
          </a:p>
          <a:p>
            <a:r>
              <a:t>Remove heritability and selection still happens within a generation, but nothing changes in the next. The previous version never mentioned heritability; it is essential.</a:t>
            </a:r>
          </a:p>
          <a:p>
            <a:r>
              <a:t>Schematic, script 03_facts_inferences.R.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Top: predation. Lions select buffalo by size and condition; larger prey are safer. Bottom: competition for water among desert plants, Baja California.</a:t>
            </a:r>
          </a:p>
          <a:p>
            <a:r>
              <a:t>Darwin was explicit that he used "struggle" in a "large and metaphorical sense", including dependence of one being on another and success in leaving offspring, not just fighting.</a:t>
            </a:r>
          </a:p>
          <a:p>
            <a:r>
              <a:t>Photos: Diamond Glacier Adventures, CC BY-SA 2.0 (lioness and Cape buffalo); Tomas Castelazo, CC BY-SA 2.5 (Baja California desert). Wikimedia Commons, carried over.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Answer: D. Selection needs variation (A), heritability (B) and differential survival or reproduction linked to the trait (C). Nothing needs to "try"; variation arises without regard to need (Neal: Darwin was clear that new variants are random with respect to need).</a:t>
            </a:r>
          </a:p>
          <a:p>
            <a:r>
              <a:t>D is the Lamarckian intuition from the giraffe example. Watch for it in exam answers: "the birds needed bigger beaks, so they evolved them" loses marks.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only figure in the *Origin* (1859). Eleven species of a genus (A to L) at the bottom; each horizontal line (I to XIV) is, say, 1,000 generations. Species A gives rise to varieties that diverge, become species, and could eventually be grouped into separate genera. Species F persists unchanged: time alone does not cause change. Most of the others leave no descendants.</a:t>
            </a:r>
          </a:p>
          <a:p>
            <a:r>
              <a:t>Darwin pointed out that the tree matches Linnaean classification: twigs are species, branches genera, and so on. That is the link to the evidence in section 04.</a:t>
            </a:r>
          </a:p>
          <a:p>
            <a:r>
              <a:t>Darwin hedged on the root: life was "originally breathed into a few forms or into one". Today, shared biochemistry (the genetic code) points to one.</a:t>
            </a:r>
          </a:p>
          <a:p>
            <a:r>
              <a:t>Image: Darwin (1859),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Allopatric speciation ("other homeland"): a population is split by a barrier (mountains, sea, a drop in lake level), the parts evolve independently by different selection pressures and by random genetic drift (Part 3), and if they later meet they no longer interbreed.</a:t>
            </a:r>
          </a:p>
          <a:p>
            <a:r>
              <a:t>Repeated cycles of separation and reconnection (glacial cycles, lake-level changes) can work as a "species pump": the lake ends up with several species.</a:t>
            </a:r>
          </a:p>
          <a:p>
            <a:r>
              <a:t>This is a modern term. The previous version titled the slide "This is now called allopatric speciation", implying it was Darwin's mechanism; Darwin in fact emphasised divergence within an area (his "principle of divergence") and gave isolation a smaller role, which Moritz Wagner and later Ernst Mayr developed.</a:t>
            </a:r>
          </a:p>
          <a:p>
            <a:r>
              <a:t>Examples (from the previous version's notes): glacial cycles as an allopatric speciation pump in north-eastern American freshwater fishes; the "Pleistocene species pump" in European butterflies and in alpine *Nebria* ground beetles; island connectivity cycles in Caribbean crickets (which drove divergence but not speciation).</a:t>
            </a:r>
          </a:p>
          <a:p>
            <a:r>
              <a:t>Schematic, redrawn from the previous version's lake diagram: script 05_speciation_pump.R.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If all species are related, what should we see? Darwin's chapters 9 to 13. About 6 minutes.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Ask: how would you sort these 12 animals? Almost everyone gives the same groups: whales (humpback, orca, sperm whale), cats (lion, tiger, cheetah), hoofed mammals (bongo, zebra, elk), rodents (hamster, jerboa, dormouse). Groups within groups: the Linnaean hierarchy (species, genus, family, order, class).</a:t>
            </a:r>
          </a:p>
          <a:p>
            <a:r>
              <a:t>Special creation does not predict a nested pattern; descent with branching does. Note that the groups are not based on way of life: a killer whale and a lion are both top predators, but each resembles its relatives more.</a:t>
            </a:r>
          </a:p>
          <a:p>
            <a:r>
              <a:t>Photos carried over from the previous version; sources to confirm.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*Origin* chapters 11–12. If species were created to suit their conditions, similar conditions should have similar species. Instead, relatedness follows geography.</a:t>
            </a:r>
          </a:p>
          <a:p>
            <a:r>
              <a:t>The Isthmus of Panama: only a few kilometres separate Atlantic and Pacific coastal faunas, in nearly identical conditions, yet the species differ: each is related to its own ocean. We now know the isthmus closed about 3 million years ago and split many marine populations (e.g. snapping shrimps), a natural experiment in allopatric speciation.</a:t>
            </a:r>
          </a:p>
          <a:p>
            <a:r>
              <a:t>Cacti and euphorbias look alike (convergence) but belong to unrelated families.</a:t>
            </a:r>
          </a:p>
          <a:p>
            <a:r>
              <a:t>Map image carried over from the previous version; source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Galápagos species resemble South American ones; Cape Verde species resemble African ones, though the two archipelagos have similar volcanic landscapes and climates. Common ancestry plus colonisation is the best explanation.</a:t>
            </a:r>
          </a:p>
          <a:p>
            <a:r>
              <a:t>Darwin noted that frogs (whose eggs are killed by sea water) and land mammals are absent from oceanic islands far from a continent, unless introduced by people, but bats, which can fly there, are present. Who is on an island depends on who could get there.</a:t>
            </a:r>
          </a:p>
          <a:p>
            <a:r>
              <a:t>Australia is a continent, not an oceanic island; it illustrates the same logic at a larger scale (the previous version listed kangaroos as "island endemics").</a:t>
            </a:r>
          </a:p>
          <a:p>
            <a:r>
              <a:t>Photos: eastern grey kangaroo, Lilly M, CC BY-SA 3.0; Galápagos marine iguana (*Amblyrhynchus cristatus*), RAF-YYC, CC BY-SA 2.0. Wikimedia Commons.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*Origin* chapter 13. Humerus, radius and ulna, carpals and digits in human, cat, porpoise, bat and horse. A designer would not need the same bones for such different jobs; descent with modification explains it.</a:t>
            </a:r>
          </a:p>
          <a:p>
            <a:r>
              <a:t>Title changed from "Embryology &amp; development", because the figure shows comparative anatomy. Caution on embryos: early vertebrate embryos are similar but not identical; Haeckel's famous drawings exaggerated the similarity. Pharyngeal arches, which become gills in fish, become parts of the jaw, ear and throat in humans ("gill slits" is the old, misleading term).</a:t>
            </a:r>
          </a:p>
          <a:p>
            <a:r>
              <a:t>Figure: forelimb homology, from Neal (2018) via Cambridge Core; teaching use only.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previous version used "homoplasious" without defining it. Homoplasy is similarity not due to common descent, usually because similar selection pressures produced similar solutions (convergent evolution).</a:t>
            </a:r>
          </a:p>
          <a:p>
            <a:r>
              <a:t>The same structure can be both: bat and bird wings are homologous as forelimbs (shared bones from a four-legged ancestor) but convergent as wings (flight evolved separately).</a:t>
            </a:r>
          </a:p>
          <a:p>
            <a:r>
              <a:t>Phylogenies must be built from homologous traits; convergence misleads.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Answer: C. The conditions on the two sides of the isthmus are nearly identical, so adaptation cannot explain the difference; separate ancestry can.</a:t>
            </a:r>
          </a:p>
          <a:p>
            <a:r>
              <a:t>A and D are adaptations to local conditions. B is convergence: similarity despite unrelated ancestry.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Darwin devoted a whole chapter (6) to difficulties with his own theory. Another he noted: where are the intermediate fossils? His answer, that the fossil record is very incomplete, was right; many transitional forms (e.g. *Archaeopteryx*, 1861; early whales with legs) have since been found. 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Darwin admitted "profound ignorance" about inheritance (*Origin* ch. 5). Like most of his contemporaries he assumed that offspring blend their parents' characteristics, and his own hypothesis of pangenesis (1868) implied blending. Fleeming Jenkin (1867) pointed out the consequence: a new favourable variant is diluted by half in each generation, so selection could hardly spread it.</a:t>
            </a:r>
          </a:p>
          <a:p>
            <a:r>
              <a:t>The figure: with blending and random mating, the variance among offspring is half the parents' variance (the average of two independent values has half the variance), so after 8 generations less than 1% remains. With particulate inheritance, alleles are passed on intact, and the variance stays the same (the Hardy–Weinberg principle, Part 3).</a:t>
            </a:r>
          </a:p>
          <a:p>
            <a:r>
              <a:t>Mendel's work on peas (1866) showed that inheritance is particulate. It was ignored until 1900, and the synthesis with Darwin's theory took until the 1930s–40s.</a:t>
            </a:r>
          </a:p>
          <a:p>
            <a:r>
              <a:t>Neal also notes that Darwin was clear that new variants arise at random with respect to need.</a:t>
            </a:r>
          </a:p>
          <a:p>
            <a:r>
              <a:t>Simulation: N = 2000, 20 additive loci for the particulate case; seed 512; script 04_blending.R.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Darwin admitted that the evolution of the eye by natural selection "seems, I freely confess, absurd in the highest possible degree", then argued that a series of small steps, each an improvement, could get there, because a graded series of simpler eyes exists in living animals. Living molluscs show such a series today: a light-sensitive patch (limpets), a cup, a pinhole eye (*Nautilus*) and a lens eye (octopus).</a:t>
            </a:r>
          </a:p>
          <a:p>
            <a:r>
              <a:t>Paley's *Natural Theology* (1802) was set reading at Cambridge; Darwin found its logic irrefutable at the time. The argument from design is the topic of the next lecture (Neal ch. 3).</a:t>
            </a:r>
          </a:p>
          <a:p>
            <a:r>
              <a:t>Link to today's practical: Dawkins (1986) *The Blind Watchmaker*. Random variation alone gets nowhere; random variation plus cumulative selection gets there fast.</a:t>
            </a:r>
          </a:p>
          <a:p>
            <a:r>
              <a:t>Photo carried over from the previous version (stock image); check the licence covers the course.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*Origin* chapter 7, "Instinct". The previous version said "critics argued"; in fact Darwin chose these examples himself, to test his theory.</a:t>
            </a:r>
          </a:p>
          <a:p>
            <a:r>
              <a:t>Pomeranian and Doberman: breeds selected for different temperaments as well as sizes.</a:t>
            </a:r>
          </a:p>
          <a:p>
            <a:r>
              <a:t>Sterile castes: how can selection favour individuals that do not reproduce? Darwin suggested that selection acts on the family as well as the individual. He was on the right track; the full answer is kin selection (Hamilton 1964), in Part 5 of the course.</a:t>
            </a:r>
          </a:p>
          <a:p>
            <a:r>
              <a:t>Photos carried over from the previous version; sources to confirm.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Back to the timeline: why the 20-year gap? About 4 minutes.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Darwin was cautious, conventional and concerned about his reputation; he knew transmutation was not respectable, and he wanted an overwhelming body of evidence first. His wife Emma was religious, and he was aware of how the theory would be received.</a:t>
            </a:r>
          </a:p>
          <a:p>
            <a:r>
              <a:t>The barnacle work (*Cirripedia*) gave him first-hand expertise in variation and classification, and credibility as a taxonomist.</a:t>
            </a:r>
          </a:p>
          <a:p>
            <a:r>
              <a:t>The quotation is from Darwin's letter to Hooker of 11 January 1844: "I am almost convinced ... that species are not (it is like confessing a murder) immutable."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Wallace, a professional collector, reached the same idea independently, also after reading Malthus, while ill with fever on Ternate (or Gilolo) in early 1858. His essay was "On the tendency of varieties to depart indefinitely from the original type".</a:t>
            </a:r>
          </a:p>
          <a:p>
            <a:r>
              <a:t>Neither Darwin nor Wallace attended the Linnean Society meeting. Darwin's papers (an extract of the 1844 essay and an 1857 letter to Asa Gray) proved his priority. The joint paper was published in August 1858 and attracted little attention. Wallace generously acknowledged Darwin's precedence throughout his life, and titled his own book *Darwinism* (1889).</a:t>
            </a:r>
          </a:p>
          <a:p>
            <a:r>
              <a:t>The *Origin* was an "abstract" of the big book; the first print run (1,250 copies) sold out to the trade on the day of publication, 24 November 1859.</a:t>
            </a:r>
          </a:p>
          <a:p>
            <a:r>
              <a:t>Painting: Victor Evstafieff (1958), *Wallace in the Malay Archipelago*, Down House (English Heritage). Corrected from the previous version, which credited H.C. Richter. Teaching use only.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Neal's point at the end of chapter 2: people were quickly convinced that evolution had occurred, but there was little acceptance of natural selection for almost a century. Reasons: no theory of inheritance (section 05), the apparent youth of the earth (Kelvin's estimates from cooling), and discomfort with an undirected process. The next lecture asks why natural selection is still contentious for some people.</a:t>
            </a:r>
          </a:p>
          <a:p>
            <a:r>
              <a:t>The Modern Synthesis (Fisher, Haldane, Wright, then Dobzhansky, Mayr, Simpson and others) combined Mendelian genetics, population genetics and natural selection.</a:t>
            </a:r>
          </a:p>
          <a:p>
            <a:r>
              <a:t>Image: first page of the joint Darwin–Wallace paper, *Journal of the Proceedings of the Linnean Society: Zoology* (1858), public domain.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point per objective. Ask students which of the five they could explain to a friend without notes.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Previews the practical "The Blind Watchmaker": https://jonesor.github.io/BB512_Book/the-blind-watchmaker.html</a:t>
            </a:r>
          </a:p>
          <a:p>
            <a:r>
              <a:t>With 32 possible characters, typing the 14-character "I LOVE SCIENCE" at random has probability (1/32)^14 ≈ 8.5 × 10^-22 per attempt. With cumulative selection (correct letters kept), it takes about 100 generations (median 96; 90% of runs between about 50 and 175; checked by simulation).</a:t>
            </a:r>
          </a:p>
          <a:p>
            <a:r>
              <a:t>Watch out: the practical's default phrase has 53 characters and nGenerations &lt;- 100. With set.seed(123) the run ends with 49 of 53 letters correct, and only about 10% of runs would finish within 100 generations (median about 140). That is a useful discussion point for "Does the number of generations affect whether the target is reached?", but warn students so they do not think the code is broken.</a:t>
            </a:r>
          </a:p>
          <a:p>
            <a:r>
              <a:t>Key discussion point for the last question: the program has a target phrase; natural selection has no target, only the current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223760" y="0"/>
            <a:ext cx="496793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Label"/>
          <p:cNvSpPr txBox="1"/>
          <p:nvPr/>
        </p:nvSpPr>
        <p:spPr>
          <a:xfrm>
            <a:off x="731520" y="960120"/>
            <a:ext cx="6035040" cy="320040"/>
          </a:xfrm>
          <a:prstGeom prst="rect">
            <a:avLst/>
          </a:prstGeom>
          <a:noFill/>
          <a:ln/>
        </p:spPr>
        <p:txBody>
          <a:bodyPr wrap="square" lIns="0" tIns="0" rIns="0" bIns="0" rtlCol="0" anchor="t"/>
          <a:lstStyle/>
          <a:p>
            <a:pPr algn="l" indent="0" marL="0">
              <a:buNone/>
            </a:pPr>
            <a:r>
              <a:rPr lang="en-US" sz="1400" b="1" spc="300" kern="0" dirty="0">
                <a:solidFill>
                  <a:schemeClr val="accent2"/>
                </a:solidFill>
                <a:latin typeface="Avenir Next" pitchFamily="34" charset="0"/>
                <a:ea typeface="Avenir Next" pitchFamily="34" charset="-122"/>
                <a:cs typeface="Avenir Next" pitchFamily="34" charset="-120"/>
              </a:rPr>
              <a:t>BB512</a:t>
            </a:r>
            <a:endParaRPr lang="en-US" sz="1400" dirty="0"/>
          </a:p>
        </p:txBody>
      </p:sp>
      <p:sp>
        <p:nvSpPr>
          <p:cNvPr id="4" name="Label 2"/>
          <p:cNvSpPr txBox="1"/>
          <p:nvPr/>
        </p:nvSpPr>
        <p:spPr>
          <a:xfrm>
            <a:off x="731520" y="1325880"/>
            <a:ext cx="6035040" cy="640080"/>
          </a:xfrm>
          <a:prstGeom prst="rect">
            <a:avLst/>
          </a:prstGeom>
          <a:noFill/>
          <a:ln/>
        </p:spPr>
        <p:txBody>
          <a:bodyPr wrap="square" lIns="0" tIns="0" rIns="0" bIns="0" rtlCol="0" anchor="t"/>
          <a:lstStyle/>
          <a:p>
            <a:pPr algn="l" indent="0" marL="0">
              <a:buNone/>
            </a:pPr>
            <a:r>
              <a:rPr lang="en-US" sz="1400" b="1" spc="300" kern="0" dirty="0">
                <a:solidFill>
                  <a:srgbClr val="9DB8AC"/>
                </a:solidFill>
                <a:latin typeface="Avenir Next" pitchFamily="34" charset="0"/>
                <a:ea typeface="Avenir Next" pitchFamily="34" charset="-122"/>
                <a:cs typeface="Avenir Next" pitchFamily="34" charset="-120"/>
              </a:rPr>
              <a:t>POPULATION BIOLOGY AND EVOLUTION</a:t>
            </a:r>
            <a:endParaRPr lang="en-US" sz="1400" dirty="0"/>
          </a:p>
        </p:txBody>
      </p:sp>
      <p:sp>
        <p:nvSpPr>
          <p:cNvPr id="5" name="Title Large"/>
          <p:cNvSpPr/>
          <p:nvPr>
            <p:ph idx="103" type="title" hasCustomPrompt="1"/>
          </p:nvPr>
        </p:nvSpPr>
        <p:spPr>
          <a:xfrm>
            <a:off x="731520" y="1920240"/>
            <a:ext cx="5943600" cy="237744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Lecture title</a:t>
            </a:r>
            <a:endParaRPr lang="en-US" sz="5200" dirty="0"/>
          </a:p>
        </p:txBody>
      </p:sp>
      <p:sp>
        <p:nvSpPr>
          <p:cNvPr id="6" name="Subtitle"/>
          <p:cNvSpPr/>
          <p:nvPr>
            <p:ph idx="104" type="body" hasCustomPrompt="1"/>
          </p:nvPr>
        </p:nvSpPr>
        <p:spPr>
          <a:xfrm>
            <a:off x="731520" y="4526280"/>
            <a:ext cx="5943600" cy="868680"/>
          </a:xfrm>
          <a:prstGeom prst="rect">
            <a:avLst/>
          </a:prstGeom>
          <a:noFill/>
          <a:ln/>
        </p:spPr>
        <p:txBody>
          <a:bodyPr wrap="square" rtlCol="0"/>
          <a:lstStyle>
            <a:lvl1pPr algn="l" indent="0" marL="0">
              <a:buNone/>
              <a:defRPr lang="en-US" sz="2400" dirty="0">
                <a:solidFill>
                  <a:srgbClr val="D9E4DD"/>
                </a:solidFill>
                <a:latin typeface="Avenir Next" pitchFamily="34" charset="0"/>
                <a:ea typeface="Avenir Next" pitchFamily="34" charset="-122"/>
                <a:cs typeface="Avenir Next" pitchFamily="34" charset="-120"/>
              </a:defRPr>
            </a:lvl1pPr>
          </a:lstStyle>
          <a:p>
            <a:pPr algn="l" indent="0" marL="0">
              <a:buNone/>
            </a:pPr>
            <a:r>
              <a:rPr lang="en-US" sz="2400" dirty="0">
                <a:solidFill>
                  <a:srgbClr val="D9E4DD"/>
                </a:solidFill>
                <a:latin typeface="Avenir Next" pitchFamily="34" charset="0"/>
                <a:ea typeface="Avenir Next" pitchFamily="34" charset="-122"/>
                <a:cs typeface="Avenir Next" pitchFamily="34" charset="-120"/>
              </a:rPr>
              <a:t>Subtitle or guiding question</a:t>
            </a:r>
            <a:endParaRPr lang="en-US" sz="2400" dirty="0"/>
          </a:p>
        </p:txBody>
      </p:sp>
      <p:sp>
        <p:nvSpPr>
          <p:cNvPr id="7" name="Caption"/>
          <p:cNvSpPr txBox="1"/>
          <p:nvPr/>
        </p:nvSpPr>
        <p:spPr>
          <a:xfrm>
            <a:off x="731520" y="5897880"/>
            <a:ext cx="6035040" cy="411480"/>
          </a:xfrm>
          <a:prstGeom prst="rect">
            <a:avLst/>
          </a:prstGeom>
          <a:noFill/>
          <a:ln/>
        </p:spPr>
        <p:txBody>
          <a:bodyPr wrap="square" lIns="0" tIns="0" rIns="0" bIns="0" rtlCol="0" anchor="t"/>
          <a:lstStyle/>
          <a:p>
            <a:pPr algn="l" indent="0" marL="0">
              <a:buNone/>
            </a:pPr>
            <a:r>
              <a:rPr lang="en-US" sz="1400" dirty="0">
                <a:solidFill>
                  <a:srgbClr val="9DB8AC"/>
                </a:solidFill>
                <a:latin typeface="Avenir Next" pitchFamily="34" charset="0"/>
                <a:ea typeface="Avenir Next" pitchFamily="34" charset="-122"/>
                <a:cs typeface="Avenir Next" pitchFamily="34" charset="-120"/>
              </a:rPr>
              <a:t>Owen Jones · Population Biology Group, SDU</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5F8A7B"/>
            </a:solidFill>
            <a:prstDash val="solid"/>
          </a:ln>
        </p:spPr>
      </p:sp>
      <p:sp>
        <p:nvSpPr>
          <p:cNvPr id="3" name="Label"/>
          <p:cNvSpPr txBox="1"/>
          <p:nvPr/>
        </p:nvSpPr>
        <p:spPr>
          <a:xfrm>
            <a:off x="731520" y="1325880"/>
            <a:ext cx="2743200" cy="320040"/>
          </a:xfrm>
          <a:prstGeom prst="rect">
            <a:avLst/>
          </a:prstGeom>
          <a:noFill/>
          <a:ln/>
        </p:spPr>
        <p:txBody>
          <a:bodyPr wrap="square" lIns="0" tIns="0" rIns="0" bIns="0" rtlCol="0" anchor="t"/>
          <a:lstStyle/>
          <a:p>
            <a:pPr algn="l" indent="0" marL="0">
              <a:buNone/>
            </a:pPr>
            <a:r>
              <a:rPr lang="en-US" sz="1400" b="1" spc="300" kern="0" dirty="0">
                <a:solidFill>
                  <a:srgbClr val="9DB8AC"/>
                </a:solidFill>
                <a:latin typeface="Avenir Next" pitchFamily="34" charset="0"/>
                <a:ea typeface="Avenir Next" pitchFamily="34" charset="-122"/>
                <a:cs typeface="Avenir Next" pitchFamily="34" charset="-120"/>
              </a:rPr>
              <a:t>SECTION</a:t>
            </a:r>
            <a:endParaRPr lang="en-US" sz="1400" dirty="0"/>
          </a:p>
        </p:txBody>
      </p:sp>
      <p:sp>
        <p:nvSpPr>
          <p:cNvPr id="4" name="Big Number"/>
          <p:cNvSpPr/>
          <p:nvPr>
            <p:ph idx="102" type="body" hasCustomPrompt="1"/>
          </p:nvPr>
        </p:nvSpPr>
        <p:spPr>
          <a:xfrm>
            <a:off x="731520" y="1645920"/>
            <a:ext cx="5486400" cy="20116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01</a:t>
            </a:r>
            <a:endParaRPr lang="en-US" sz="15000" dirty="0"/>
          </a:p>
        </p:txBody>
      </p:sp>
      <p:sp>
        <p:nvSpPr>
          <p:cNvPr id="5" name="Title Large"/>
          <p:cNvSpPr/>
          <p:nvPr>
            <p:ph idx="103" type="title" hasCustomPrompt="1"/>
          </p:nvPr>
        </p:nvSpPr>
        <p:spPr>
          <a:xfrm>
            <a:off x="731520" y="3886200"/>
            <a:ext cx="10058400" cy="164592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Section title</a:t>
            </a:r>
            <a:endParaRPr lang="en-US" sz="52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9DB8AC"/>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LEARNING OBJECTIVES</a:t>
            </a:r>
            <a:endParaRPr lang="en-US" sz="1400" dirty="0"/>
          </a:p>
        </p:txBody>
      </p:sp>
      <p:sp>
        <p:nvSpPr>
          <p:cNvPr id="3" name="Title"/>
          <p:cNvSpPr/>
          <p:nvPr>
            <p:ph idx="101" type="title" hasCustomPrompt="1"/>
          </p:nvPr>
        </p:nvSpPr>
        <p:spPr>
          <a:xfrm>
            <a:off x="731520" y="1417320"/>
            <a:ext cx="3566160" cy="42062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Session topic</a:t>
            </a:r>
            <a:endParaRPr lang="en-US" sz="4000" dirty="0"/>
          </a:p>
        </p:txBody>
      </p:sp>
      <p:sp>
        <p:nvSpPr>
          <p:cNvPr id="4" name="Shape 1"/>
          <p:cNvSpPr/>
          <p:nvPr/>
        </p:nvSpPr>
        <p:spPr>
          <a:xfrm>
            <a:off x="4617720" y="1463040"/>
            <a:ext cx="0" cy="4480560"/>
          </a:xfrm>
          <a:prstGeom prst="line">
            <a:avLst/>
          </a:prstGeom>
          <a:noFill/>
          <a:ln w="12700">
            <a:solidFill>
              <a:srgbClr val="B9C3B8"/>
            </a:solidFill>
            <a:prstDash val="solid"/>
          </a:ln>
        </p:spPr>
      </p:sp>
      <p:sp>
        <p:nvSpPr>
          <p:cNvPr id="5" name="Body"/>
          <p:cNvSpPr/>
          <p:nvPr>
            <p:ph idx="103" type="body" hasCustomPrompt="1"/>
          </p:nvPr>
        </p:nvSpPr>
        <p:spPr>
          <a:xfrm>
            <a:off x="5029200" y="1463040"/>
            <a:ext cx="6430975" cy="44805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Objective one</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Body"/>
          <p:cNvSpPr/>
          <p:nvPr>
            <p:ph idx="101" type="body" hasCustomPrompt="1"/>
          </p:nvPr>
        </p:nvSpPr>
        <p:spPr>
          <a:xfrm>
            <a:off x="731520" y="2103120"/>
            <a:ext cx="9509760" cy="393192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4"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10728655" cy="361188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Caption"/>
          <p:cNvSpPr/>
          <p:nvPr>
            <p:ph idx="102" type="body" hasCustomPrompt="1"/>
          </p:nvPr>
        </p:nvSpPr>
        <p:spPr>
          <a:xfrm>
            <a:off x="731520" y="5715000"/>
            <a:ext cx="10728655"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Fig. Source or caption</a:t>
            </a:r>
            <a:endParaRPr lang="en-US" sz="1400" dirty="0"/>
          </a:p>
        </p:txBody>
      </p:sp>
      <p:sp>
        <p:nvSpPr>
          <p:cNvPr id="5"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Bullets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6766560"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Shape 0"/>
          <p:cNvSpPr/>
          <p:nvPr/>
        </p:nvSpPr>
        <p:spPr>
          <a:xfrm>
            <a:off x="7909560" y="2011680"/>
            <a:ext cx="3550615" cy="3886200"/>
          </a:xfrm>
          <a:prstGeom prst="rect">
            <a:avLst/>
          </a:prstGeom>
          <a:ln w="12700">
            <a:solidFill>
              <a:schemeClr val="tx2"/>
            </a:solidFill>
            <a:prstDash val="solid"/>
          </a:ln>
        </p:spPr>
      </p:sp>
      <p:sp>
        <p:nvSpPr>
          <p:cNvPr id="5" name="Label"/>
          <p:cNvSpPr/>
          <p:nvPr>
            <p:ph idx="103" type="body" hasCustomPrompt="1"/>
          </p:nvPr>
        </p:nvSpPr>
        <p:spPr>
          <a:xfrm>
            <a:off x="8183880" y="2157984"/>
            <a:ext cx="3001975"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TAKEAWAY</a:t>
            </a:r>
            <a:endParaRPr lang="en-US" sz="1400" dirty="0"/>
          </a:p>
        </p:txBody>
      </p:sp>
      <p:sp>
        <p:nvSpPr>
          <p:cNvPr id="6" name="Shape 1"/>
          <p:cNvSpPr/>
          <p:nvPr/>
        </p:nvSpPr>
        <p:spPr>
          <a:xfrm>
            <a:off x="8183880" y="2633472"/>
            <a:ext cx="3001975" cy="0"/>
          </a:xfrm>
          <a:prstGeom prst="line">
            <a:avLst/>
          </a:prstGeom>
          <a:noFill/>
          <a:ln w="12700">
            <a:solidFill>
              <a:srgbClr val="B9C3B8"/>
            </a:solidFill>
            <a:prstDash val="solid"/>
          </a:ln>
        </p:spPr>
      </p:sp>
      <p:sp>
        <p:nvSpPr>
          <p:cNvPr id="7" name="Body"/>
          <p:cNvSpPr/>
          <p:nvPr>
            <p:ph idx="105" type="body" hasCustomPrompt="1"/>
          </p:nvPr>
        </p:nvSpPr>
        <p:spPr>
          <a:xfrm>
            <a:off x="8183880" y="2834640"/>
            <a:ext cx="3001975" cy="28803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One or two sentences on what the figure shows</a:t>
            </a:r>
            <a:endParaRPr lang="en-US" sz="24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igur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5090008"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Body"/>
          <p:cNvSpPr/>
          <p:nvPr>
            <p:ph idx="102" type="body" hasCustomPrompt="1"/>
          </p:nvPr>
        </p:nvSpPr>
        <p:spPr>
          <a:xfrm>
            <a:off x="6370168" y="2011680"/>
            <a:ext cx="5090008" cy="3886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First point</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Concep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9C3B8"/>
            </a:solidFill>
            <a:prstDash val="solid"/>
          </a:ln>
        </p:spPr>
      </p:sp>
      <p:sp>
        <p:nvSpPr>
          <p:cNvPr id="3"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KEY CONCEPT</a:t>
            </a:r>
            <a:endParaRPr lang="en-US" sz="1400" dirty="0"/>
          </a:p>
        </p:txBody>
      </p:sp>
      <p:sp>
        <p:nvSpPr>
          <p:cNvPr id="4" name="Title Large"/>
          <p:cNvSpPr/>
          <p:nvPr>
            <p:ph idx="102" type="title" hasCustomPrompt="1"/>
          </p:nvPr>
        </p:nvSpPr>
        <p:spPr>
          <a:xfrm>
            <a:off x="731520" y="1417320"/>
            <a:ext cx="10728655" cy="1280160"/>
          </a:xfrm>
          <a:prstGeom prst="rect">
            <a:avLst/>
          </a:prstGeom>
          <a:noFill/>
          <a:ln/>
        </p:spPr>
        <p:txBody>
          <a:bodyPr wrap="square" rtlCol="0"/>
          <a:lstStyle>
            <a:lvl1pPr algn="l"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tx2"/>
                </a:solidFill>
                <a:latin typeface="Avenir Next" pitchFamily="34" charset="0"/>
                <a:ea typeface="Avenir Next" pitchFamily="34" charset="-122"/>
                <a:cs typeface="Avenir Next" pitchFamily="34" charset="-120"/>
              </a:rPr>
              <a:t>Term</a:t>
            </a:r>
            <a:endParaRPr lang="en-US" sz="5200" dirty="0"/>
          </a:p>
        </p:txBody>
      </p:sp>
      <p:sp>
        <p:nvSpPr>
          <p:cNvPr id="5" name="Subtitle"/>
          <p:cNvSpPr/>
          <p:nvPr>
            <p:ph idx="103" type="body" hasCustomPrompt="1"/>
          </p:nvPr>
        </p:nvSpPr>
        <p:spPr>
          <a:xfrm>
            <a:off x="731520" y="2880360"/>
            <a:ext cx="9601200" cy="155448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Definition in one or two plain sentences</a:t>
            </a:r>
            <a:endParaRPr lang="en-US" sz="2400" dirty="0"/>
          </a:p>
        </p:txBody>
      </p:sp>
      <p:sp>
        <p:nvSpPr>
          <p:cNvPr id="6" name="Shape 2"/>
          <p:cNvSpPr/>
          <p:nvPr/>
        </p:nvSpPr>
        <p:spPr>
          <a:xfrm>
            <a:off x="731520" y="4663440"/>
            <a:ext cx="1828800" cy="0"/>
          </a:xfrm>
          <a:prstGeom prst="line">
            <a:avLst/>
          </a:prstGeom>
          <a:noFill/>
          <a:ln w="12700">
            <a:solidFill>
              <a:schemeClr val="accent2"/>
            </a:solidFill>
            <a:prstDash val="solid"/>
          </a:ln>
        </p:spPr>
      </p:sp>
      <p:sp>
        <p:nvSpPr>
          <p:cNvPr id="7" name="Body Small"/>
          <p:cNvSpPr/>
          <p:nvPr>
            <p:ph idx="105" type="body" hasCustomPrompt="1"/>
          </p:nvPr>
        </p:nvSpPr>
        <p:spPr>
          <a:xfrm>
            <a:off x="731520" y="4846320"/>
            <a:ext cx="9601200" cy="1097280"/>
          </a:xfrm>
          <a:prstGeom prst="rect">
            <a:avLst/>
          </a:prstGeom>
          <a:noFill/>
          <a:ln/>
        </p:spPr>
        <p:txBody>
          <a:bodyPr wrap="square" rtlCol="0"/>
          <a:lstStyle>
            <a:lvl1pPr algn="l" indent="0" marL="0">
              <a:spcAft>
                <a:spcPts val="1000"/>
              </a:spcAft>
              <a:buNone/>
              <a:defRPr lang="en-US" sz="2000" dirty="0">
                <a:solidFill>
                  <a:schemeClr val="accent6"/>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accent6"/>
                </a:solidFill>
                <a:latin typeface="Avenir Next" pitchFamily="34" charset="0"/>
                <a:ea typeface="Avenir Next" pitchFamily="34" charset="-122"/>
                <a:cs typeface="Avenir Next" pitchFamily="34" charset="-120"/>
              </a:rPr>
              <a:t>Example, equation or common misconception</a:t>
            </a:r>
            <a:endParaRPr lang="en-US" sz="20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Label"/>
          <p:cNvSpPr/>
          <p:nvPr>
            <p:ph idx="101" type="body" hasCustomPrompt="1"/>
          </p:nvPr>
        </p:nvSpPr>
        <p:spPr>
          <a:xfrm>
            <a:off x="731520"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LEFT HEADING</a:t>
            </a:r>
            <a:endParaRPr lang="en-US" sz="1400" dirty="0"/>
          </a:p>
        </p:txBody>
      </p:sp>
      <p:sp>
        <p:nvSpPr>
          <p:cNvPr id="4" name="Shape 0"/>
          <p:cNvSpPr/>
          <p:nvPr/>
        </p:nvSpPr>
        <p:spPr>
          <a:xfrm>
            <a:off x="731520" y="2560320"/>
            <a:ext cx="4998568" cy="0"/>
          </a:xfrm>
          <a:prstGeom prst="line">
            <a:avLst/>
          </a:prstGeom>
          <a:noFill/>
          <a:ln w="12700">
            <a:solidFill>
              <a:srgbClr val="B9C3B8"/>
            </a:solidFill>
            <a:prstDash val="solid"/>
          </a:ln>
        </p:spPr>
      </p:sp>
      <p:sp>
        <p:nvSpPr>
          <p:cNvPr id="5" name="Body"/>
          <p:cNvSpPr/>
          <p:nvPr>
            <p:ph idx="103" type="body" hasCustomPrompt="1"/>
          </p:nvPr>
        </p:nvSpPr>
        <p:spPr>
          <a:xfrm>
            <a:off x="731520"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6" name="Label 2"/>
          <p:cNvSpPr/>
          <p:nvPr>
            <p:ph idx="104" type="body" hasCustomPrompt="1"/>
          </p:nvPr>
        </p:nvSpPr>
        <p:spPr>
          <a:xfrm>
            <a:off x="6461608"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RIGHT HEADING</a:t>
            </a:r>
            <a:endParaRPr lang="en-US" sz="1400" dirty="0"/>
          </a:p>
        </p:txBody>
      </p:sp>
      <p:sp>
        <p:nvSpPr>
          <p:cNvPr id="7" name="Shape 1"/>
          <p:cNvSpPr/>
          <p:nvPr/>
        </p:nvSpPr>
        <p:spPr>
          <a:xfrm>
            <a:off x="6461608" y="2560320"/>
            <a:ext cx="4998568" cy="0"/>
          </a:xfrm>
          <a:prstGeom prst="line">
            <a:avLst/>
          </a:prstGeom>
          <a:noFill/>
          <a:ln w="12700">
            <a:solidFill>
              <a:srgbClr val="B9C3B8"/>
            </a:solidFill>
            <a:prstDash val="solid"/>
          </a:ln>
        </p:spPr>
      </p:sp>
      <p:sp>
        <p:nvSpPr>
          <p:cNvPr id="8" name="Body 2"/>
          <p:cNvSpPr/>
          <p:nvPr>
            <p:ph idx="106" type="body" hasCustomPrompt="1"/>
          </p:nvPr>
        </p:nvSpPr>
        <p:spPr>
          <a:xfrm>
            <a:off x="6461608"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accent2"/>
        </a:solidFill>
      </p:bgPr>
    </p:bg>
    <p:spTree>
      <p:nvGrpSpPr>
        <p:cNvPr id="1" name=""/>
        <p:cNvGrpSpPr/>
        <p:nvPr/>
      </p:nvGrpSpPr>
      <p:grpSpPr>
        <a:xfrm>
          <a:off x="0" y="0"/>
          <a:ext cx="0" cy="0"/>
          <a:chOff x="0" y="0"/>
          <a:chExt cx="0" cy="0"/>
        </a:xfrm>
      </p:grpSpPr>
      <p:sp>
        <p:nvSpPr>
          <p:cNvPr id="2" name="Label"/>
          <p:cNvSpPr txBox="1"/>
          <p:nvPr/>
        </p:nvSpPr>
        <p:spPr>
          <a:xfrm>
            <a:off x="731520" y="731520"/>
            <a:ext cx="1828800" cy="320040"/>
          </a:xfrm>
          <a:prstGeom prst="rect">
            <a:avLst/>
          </a:prstGeom>
          <a:noFill/>
          <a:ln/>
        </p:spPr>
        <p:txBody>
          <a:bodyPr wrap="square" lIns="0" tIns="0" rIns="0" bIns="0" rtlCol="0" anchor="t"/>
          <a:lstStyle/>
          <a:p>
            <a:pPr algn="l" indent="0" marL="0">
              <a:buNone/>
            </a:pPr>
            <a:r>
              <a:rPr lang="en-US" sz="1400" b="1" spc="300" kern="0" dirty="0">
                <a:solidFill>
                  <a:schemeClr val="tx1"/>
                </a:solidFill>
                <a:latin typeface="Avenir Next" pitchFamily="34" charset="0"/>
                <a:ea typeface="Avenir Next" pitchFamily="34" charset="-122"/>
                <a:cs typeface="Avenir Next" pitchFamily="34" charset="-120"/>
              </a:rPr>
              <a:t>YOUR TURN</a:t>
            </a:r>
            <a:endParaRPr lang="en-US" sz="1400" dirty="0"/>
          </a:p>
        </p:txBody>
      </p:sp>
      <p:sp>
        <p:nvSpPr>
          <p:cNvPr id="3" name="Label 2"/>
          <p:cNvSpPr/>
          <p:nvPr>
            <p:ph idx="101" type="body" hasCustomPrompt="1"/>
          </p:nvPr>
        </p:nvSpPr>
        <p:spPr>
          <a:xfrm>
            <a:off x="2651760" y="731520"/>
            <a:ext cx="5486400" cy="320040"/>
          </a:xfrm>
          <a:prstGeom prst="rect">
            <a:avLst/>
          </a:prstGeom>
          <a:noFill/>
          <a:ln/>
        </p:spPr>
        <p:txBody>
          <a:bodyPr wrap="square" rtlCol="0"/>
          <a:lstStyle>
            <a:lvl1pPr algn="l" indent="0" marL="0">
              <a:buNone/>
              <a:defRPr lang="en-US" sz="1400" b="1" spc="300" kern="0" dirty="0">
                <a:solidFill>
                  <a:srgbClr val="3A2A0C"/>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rgbClr val="3A2A0C"/>
                </a:solidFill>
                <a:latin typeface="Avenir Next" pitchFamily="34" charset="0"/>
                <a:ea typeface="Avenir Next" pitchFamily="34" charset="-122"/>
                <a:cs typeface="Avenir Next" pitchFamily="34" charset="-120"/>
              </a:rPr>
              <a:t>TIME · FORMAT</a:t>
            </a:r>
            <a:endParaRPr lang="en-US" sz="1400" dirty="0"/>
          </a:p>
        </p:txBody>
      </p:sp>
      <p:sp>
        <p:nvSpPr>
          <p:cNvPr id="4" name="Title"/>
          <p:cNvSpPr/>
          <p:nvPr>
            <p:ph idx="102" type="title" hasCustomPrompt="1"/>
          </p:nvPr>
        </p:nvSpPr>
        <p:spPr>
          <a:xfrm>
            <a:off x="731520" y="1417320"/>
            <a:ext cx="10728655" cy="1645920"/>
          </a:xfrm>
          <a:prstGeom prst="rect">
            <a:avLst/>
          </a:prstGeom>
          <a:noFill/>
          <a:ln/>
        </p:spPr>
        <p:txBody>
          <a:bodyPr wrap="square" rtlCol="0"/>
          <a:lstStyle>
            <a:lvl1pPr algn="l" indent="0" marL="0">
              <a:buNone/>
              <a:defRPr lang="en-US" sz="4000" b="1"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1"/>
                </a:solidFill>
                <a:latin typeface="Avenir Next" pitchFamily="34" charset="0"/>
                <a:ea typeface="Avenir Next" pitchFamily="34" charset="-122"/>
                <a:cs typeface="Avenir Next" pitchFamily="34" charset="-120"/>
              </a:rPr>
              <a:t>The task, as a question</a:t>
            </a:r>
            <a:endParaRPr lang="en-US" sz="4000" dirty="0"/>
          </a:p>
        </p:txBody>
      </p:sp>
      <p:sp>
        <p:nvSpPr>
          <p:cNvPr id="5" name="Body"/>
          <p:cNvSpPr/>
          <p:nvPr>
            <p:ph idx="103" type="body" hasCustomPrompt="1"/>
          </p:nvPr>
        </p:nvSpPr>
        <p:spPr>
          <a:xfrm>
            <a:off x="731520" y="3291840"/>
            <a:ext cx="10058400" cy="2743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Steps or prompts</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3A2A0C"/>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3A2A0C"/>
                </a:solidFill>
                <a:latin typeface="Avenir Next"/>
                <a:ea typeface="Avenir Next"/>
                <a:cs typeface="Avenir Next"/>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heck Question (4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1508760"/>
          </a:xfrm>
          <a:prstGeom prst="rect">
            <a:avLst/>
          </a:prstGeom>
          <a:ln w="12700">
            <a:solidFill>
              <a:srgbClr val="B9C3B8"/>
            </a:solidFill>
            <a:prstDash val="solid"/>
          </a:ln>
        </p:spPr>
      </p:sp>
      <p:sp>
        <p:nvSpPr>
          <p:cNvPr id="5" name="Shape 2"/>
          <p:cNvSpPr/>
          <p:nvPr/>
        </p:nvSpPr>
        <p:spPr>
          <a:xfrm>
            <a:off x="1005840" y="3081528"/>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05840"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Small"/>
          <p:cNvSpPr/>
          <p:nvPr>
            <p:ph idx="105" type="body" hasCustomPrompt="1"/>
          </p:nvPr>
        </p:nvSpPr>
        <p:spPr>
          <a:xfrm>
            <a:off x="1828800"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A</a:t>
            </a:r>
            <a:endParaRPr lang="en-US" sz="2000" dirty="0"/>
          </a:p>
        </p:txBody>
      </p:sp>
      <p:sp>
        <p:nvSpPr>
          <p:cNvPr id="8" name="Shape 4"/>
          <p:cNvSpPr/>
          <p:nvPr/>
        </p:nvSpPr>
        <p:spPr>
          <a:xfrm>
            <a:off x="6278728" y="2606040"/>
            <a:ext cx="5181448" cy="1508760"/>
          </a:xfrm>
          <a:prstGeom prst="rect">
            <a:avLst/>
          </a:prstGeom>
          <a:ln w="12700">
            <a:solidFill>
              <a:srgbClr val="B9C3B8"/>
            </a:solidFill>
            <a:prstDash val="solid"/>
          </a:ln>
        </p:spPr>
      </p:sp>
      <p:sp>
        <p:nvSpPr>
          <p:cNvPr id="9" name="Shape 5"/>
          <p:cNvSpPr/>
          <p:nvPr/>
        </p:nvSpPr>
        <p:spPr>
          <a:xfrm>
            <a:off x="6553048" y="3081528"/>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53048"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Small 2"/>
          <p:cNvSpPr/>
          <p:nvPr>
            <p:ph idx="109" type="body" hasCustomPrompt="1"/>
          </p:nvPr>
        </p:nvSpPr>
        <p:spPr>
          <a:xfrm>
            <a:off x="7376008"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B</a:t>
            </a:r>
            <a:endParaRPr lang="en-US" sz="2000" dirty="0"/>
          </a:p>
        </p:txBody>
      </p:sp>
      <p:sp>
        <p:nvSpPr>
          <p:cNvPr id="12" name="Shape 7"/>
          <p:cNvSpPr/>
          <p:nvPr/>
        </p:nvSpPr>
        <p:spPr>
          <a:xfrm>
            <a:off x="731520" y="4343400"/>
            <a:ext cx="5181448" cy="1508760"/>
          </a:xfrm>
          <a:prstGeom prst="rect">
            <a:avLst/>
          </a:prstGeom>
          <a:ln w="12700">
            <a:solidFill>
              <a:srgbClr val="B9C3B8"/>
            </a:solidFill>
            <a:prstDash val="solid"/>
          </a:ln>
        </p:spPr>
      </p:sp>
      <p:sp>
        <p:nvSpPr>
          <p:cNvPr id="13" name="Shape 8"/>
          <p:cNvSpPr/>
          <p:nvPr/>
        </p:nvSpPr>
        <p:spPr>
          <a:xfrm>
            <a:off x="1005840" y="4818888"/>
            <a:ext cx="566928" cy="566928"/>
          </a:xfrm>
          <a:prstGeom prst="rect">
            <a:avLst/>
          </a:prstGeom>
          <a:solidFill>
            <a:schemeClr val="accent3"/>
          </a:solidFill>
          <a:ln w="12700">
            <a:solidFill>
              <a:schemeClr val="accent3"/>
            </a:solidFill>
            <a:prstDash val="solid"/>
          </a:ln>
        </p:spPr>
      </p:sp>
      <p:sp>
        <p:nvSpPr>
          <p:cNvPr id="14" name="Label 4"/>
          <p:cNvSpPr txBox="1"/>
          <p:nvPr/>
        </p:nvSpPr>
        <p:spPr>
          <a:xfrm>
            <a:off x="1005840"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C</a:t>
            </a:r>
            <a:endParaRPr lang="en-US" sz="1400" dirty="0"/>
          </a:p>
        </p:txBody>
      </p:sp>
      <p:sp>
        <p:nvSpPr>
          <p:cNvPr id="15" name="Body Small 3"/>
          <p:cNvSpPr/>
          <p:nvPr>
            <p:ph idx="113" type="body" hasCustomPrompt="1"/>
          </p:nvPr>
        </p:nvSpPr>
        <p:spPr>
          <a:xfrm>
            <a:off x="1828800"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C</a:t>
            </a:r>
            <a:endParaRPr lang="en-US" sz="2000" dirty="0"/>
          </a:p>
        </p:txBody>
      </p:sp>
      <p:sp>
        <p:nvSpPr>
          <p:cNvPr id="16" name="Shape 10"/>
          <p:cNvSpPr/>
          <p:nvPr/>
        </p:nvSpPr>
        <p:spPr>
          <a:xfrm>
            <a:off x="6278728" y="4343400"/>
            <a:ext cx="5181448" cy="1508760"/>
          </a:xfrm>
          <a:prstGeom prst="rect">
            <a:avLst/>
          </a:prstGeom>
          <a:ln w="12700">
            <a:solidFill>
              <a:srgbClr val="B9C3B8"/>
            </a:solidFill>
            <a:prstDash val="solid"/>
          </a:ln>
        </p:spPr>
      </p:sp>
      <p:sp>
        <p:nvSpPr>
          <p:cNvPr id="17" name="Shape 11"/>
          <p:cNvSpPr/>
          <p:nvPr/>
        </p:nvSpPr>
        <p:spPr>
          <a:xfrm>
            <a:off x="6553048" y="4818888"/>
            <a:ext cx="566928" cy="566928"/>
          </a:xfrm>
          <a:prstGeom prst="rect">
            <a:avLst/>
          </a:prstGeom>
          <a:solidFill>
            <a:schemeClr val="accent3"/>
          </a:solidFill>
          <a:ln w="12700">
            <a:solidFill>
              <a:schemeClr val="accent3"/>
            </a:solidFill>
            <a:prstDash val="solid"/>
          </a:ln>
        </p:spPr>
      </p:sp>
      <p:sp>
        <p:nvSpPr>
          <p:cNvPr id="18" name="Label 5"/>
          <p:cNvSpPr txBox="1"/>
          <p:nvPr/>
        </p:nvSpPr>
        <p:spPr>
          <a:xfrm>
            <a:off x="6553048"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D</a:t>
            </a:r>
            <a:endParaRPr lang="en-US" sz="1400" dirty="0"/>
          </a:p>
        </p:txBody>
      </p:sp>
      <p:sp>
        <p:nvSpPr>
          <p:cNvPr id="19" name="Body Small 4"/>
          <p:cNvSpPr/>
          <p:nvPr>
            <p:ph idx="117" type="body" hasCustomPrompt="1"/>
          </p:nvPr>
        </p:nvSpPr>
        <p:spPr>
          <a:xfrm>
            <a:off x="7376008"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D</a:t>
            </a:r>
            <a:endParaRPr lang="en-US" sz="2000" dirty="0"/>
          </a:p>
        </p:txBody>
      </p:sp>
      <p:sp>
        <p:nvSpPr>
          <p:cNvPr id="20"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heck Question (2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3383280"/>
          </a:xfrm>
          <a:prstGeom prst="rect">
            <a:avLst/>
          </a:prstGeom>
          <a:ln w="12700">
            <a:solidFill>
              <a:srgbClr val="B9C3B8"/>
            </a:solidFill>
            <a:prstDash val="solid"/>
          </a:ln>
        </p:spPr>
      </p:sp>
      <p:sp>
        <p:nvSpPr>
          <p:cNvPr id="5" name="Shape 2"/>
          <p:cNvSpPr/>
          <p:nvPr/>
        </p:nvSpPr>
        <p:spPr>
          <a:xfrm>
            <a:off x="1051560" y="2926080"/>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51560"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p:cNvSpPr/>
          <p:nvPr>
            <p:ph idx="105" type="body" hasCustomPrompt="1"/>
          </p:nvPr>
        </p:nvSpPr>
        <p:spPr>
          <a:xfrm>
            <a:off x="1051560"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A</a:t>
            </a:r>
            <a:endParaRPr lang="en-US" sz="2400" dirty="0"/>
          </a:p>
        </p:txBody>
      </p:sp>
      <p:sp>
        <p:nvSpPr>
          <p:cNvPr id="8" name="Shape 4"/>
          <p:cNvSpPr/>
          <p:nvPr/>
        </p:nvSpPr>
        <p:spPr>
          <a:xfrm>
            <a:off x="6278728" y="2606040"/>
            <a:ext cx="5181448" cy="3383280"/>
          </a:xfrm>
          <a:prstGeom prst="rect">
            <a:avLst/>
          </a:prstGeom>
          <a:ln w="12700">
            <a:solidFill>
              <a:srgbClr val="B9C3B8"/>
            </a:solidFill>
            <a:prstDash val="solid"/>
          </a:ln>
        </p:spPr>
      </p:sp>
      <p:sp>
        <p:nvSpPr>
          <p:cNvPr id="9" name="Shape 5"/>
          <p:cNvSpPr/>
          <p:nvPr/>
        </p:nvSpPr>
        <p:spPr>
          <a:xfrm>
            <a:off x="6598768" y="2926080"/>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98768"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2"/>
          <p:cNvSpPr/>
          <p:nvPr>
            <p:ph idx="109" type="body" hasCustomPrompt="1"/>
          </p:nvPr>
        </p:nvSpPr>
        <p:spPr>
          <a:xfrm>
            <a:off x="6598768"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B</a:t>
            </a:r>
            <a:endParaRPr lang="en-US" sz="2400" dirty="0"/>
          </a:p>
        </p:txBody>
      </p:sp>
      <p:sp>
        <p:nvSpPr>
          <p:cNvPr id="1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9C3B8"/>
            </a:solidFill>
            <a:prstDash val="solid"/>
          </a:ln>
        </p:spPr>
      </p:sp>
      <p:sp>
        <p:nvSpPr>
          <p:cNvPr id="3" name="Title Large"/>
          <p:cNvSpPr/>
          <p:nvPr>
            <p:ph idx="101" type="title" hasCustomPrompt="1"/>
          </p:nvPr>
        </p:nvSpPr>
        <p:spPr>
          <a:xfrm>
            <a:off x="1280160" y="1463040"/>
            <a:ext cx="9631375" cy="2743200"/>
          </a:xfrm>
          <a:prstGeom prst="rect">
            <a:avLst/>
          </a:prstGeom>
          <a:noFill/>
          <a:ln/>
        </p:spPr>
        <p:txBody>
          <a:bodyPr wrap="square" rtlCol="0"/>
          <a:lstStyle>
            <a:lvl1pPr algn="ctr"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ctr" indent="0" marL="0">
              <a:buNone/>
            </a:pPr>
            <a:r>
              <a:rPr lang="en-US" sz="5200" b="1" dirty="0">
                <a:solidFill>
                  <a:schemeClr val="tx2"/>
                </a:solidFill>
                <a:latin typeface="Avenir Next" pitchFamily="34" charset="0"/>
                <a:ea typeface="Avenir Next" pitchFamily="34" charset="-122"/>
                <a:cs typeface="Avenir Next" pitchFamily="34" charset="-120"/>
              </a:rPr>
              <a:t>One idea worth remembering</a:t>
            </a:r>
            <a:endParaRPr lang="en-US" sz="5200" dirty="0"/>
          </a:p>
        </p:txBody>
      </p:sp>
      <p:sp>
        <p:nvSpPr>
          <p:cNvPr id="4" name="Shape 1"/>
          <p:cNvSpPr/>
          <p:nvPr/>
        </p:nvSpPr>
        <p:spPr>
          <a:xfrm>
            <a:off x="5547208" y="4526280"/>
            <a:ext cx="1097280" cy="0"/>
          </a:xfrm>
          <a:prstGeom prst="line">
            <a:avLst/>
          </a:prstGeom>
          <a:noFill/>
          <a:ln w="12700">
            <a:solidFill>
              <a:schemeClr val="accent2"/>
            </a:solidFill>
            <a:prstDash val="solid"/>
          </a:ln>
        </p:spPr>
      </p:sp>
      <p:sp>
        <p:nvSpPr>
          <p:cNvPr id="5" name="Caption"/>
          <p:cNvSpPr/>
          <p:nvPr>
            <p:ph idx="103" type="body" hasCustomPrompt="1"/>
          </p:nvPr>
        </p:nvSpPr>
        <p:spPr>
          <a:xfrm>
            <a:off x="1280160" y="4754880"/>
            <a:ext cx="9631375" cy="548640"/>
          </a:xfrm>
          <a:prstGeom prst="rect">
            <a:avLst/>
          </a:prstGeom>
          <a:noFill/>
          <a:ln/>
        </p:spPr>
        <p:txBody>
          <a:bodyPr wrap="square" rtlCol="0"/>
          <a:lstStyle>
            <a:lvl1pPr algn="ctr"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ctr" indent="0" marL="0">
              <a:buNone/>
            </a:pPr>
            <a:r>
              <a:rPr lang="en-US" sz="1400" dirty="0">
                <a:solidFill>
                  <a:schemeClr val="accent6"/>
                </a:solidFill>
                <a:latin typeface="Avenir Next" pitchFamily="34" charset="0"/>
                <a:ea typeface="Avenir Next" pitchFamily="34" charset="-122"/>
                <a:cs typeface="Avenir Next" pitchFamily="34" charset="-120"/>
              </a:rPr>
              <a:t>Attribution or context</a:t>
            </a:r>
            <a:endParaRPr lang="en-US" sz="1400" dirty="0"/>
          </a:p>
        </p:txBody>
      </p:sp>
      <p:sp>
        <p:nvSpPr>
          <p:cNvPr id="6"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mmar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66751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Shape 1"/>
          <p:cNvSpPr/>
          <p:nvPr/>
        </p:nvSpPr>
        <p:spPr>
          <a:xfrm>
            <a:off x="8001000" y="2606040"/>
            <a:ext cx="3459175" cy="3383280"/>
          </a:xfrm>
          <a:prstGeom prst="rect">
            <a:avLst/>
          </a:prstGeom>
          <a:ln w="12700">
            <a:solidFill>
              <a:schemeClr val="tx2"/>
            </a:solidFill>
            <a:prstDash val="solid"/>
          </a:ln>
        </p:spPr>
      </p:sp>
      <p:sp>
        <p:nvSpPr>
          <p:cNvPr id="6" name="Label 2"/>
          <p:cNvSpPr txBox="1"/>
          <p:nvPr/>
        </p:nvSpPr>
        <p:spPr>
          <a:xfrm>
            <a:off x="8275320" y="2788920"/>
            <a:ext cx="32004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BEFORE NEXT TIME</a:t>
            </a:r>
            <a:endParaRPr lang="en-US" sz="1400" dirty="0"/>
          </a:p>
        </p:txBody>
      </p:sp>
      <p:sp>
        <p:nvSpPr>
          <p:cNvPr id="7" name="Shape 3"/>
          <p:cNvSpPr/>
          <p:nvPr/>
        </p:nvSpPr>
        <p:spPr>
          <a:xfrm>
            <a:off x="8275320" y="3200400"/>
            <a:ext cx="2910535" cy="0"/>
          </a:xfrm>
          <a:prstGeom prst="line">
            <a:avLst/>
          </a:prstGeom>
          <a:noFill/>
          <a:ln w="12700">
            <a:solidFill>
              <a:srgbClr val="B9C3B8"/>
            </a:solidFill>
            <a:prstDash val="solid"/>
          </a:ln>
        </p:spPr>
      </p:sp>
      <p:sp>
        <p:nvSpPr>
          <p:cNvPr id="8" name="Body Small"/>
          <p:cNvSpPr/>
          <p:nvPr>
            <p:ph idx="106" type="body" hasCustomPrompt="1"/>
          </p:nvPr>
        </p:nvSpPr>
        <p:spPr>
          <a:xfrm>
            <a:off x="8275320" y="3383280"/>
            <a:ext cx="2910535" cy="246888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Reading, exercises, deadlines</a:t>
            </a:r>
            <a:endParaRPr lang="en-US" sz="20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ummary (Key Points Onl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98755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p:bg>
      <p:bgPr>
        <a:solidFill>
          <a:schemeClr val="bg1"/>
        </a:solidFill>
      </p:bgPr>
    </p:bg>
    <p:spTree>
      <p:nvGrpSpPr>
        <p:cNvPr id="1" name=""/>
        <p:cNvGrpSpPr/>
        <p:nvPr/>
      </p:nvGrpSpPr>
      <p:grpSpPr>
        <a:xfrm>
          <a:off x="0" y="0"/>
          <a:ext cx="0" cy="0"/>
          <a:chOff x="0" y="0"/>
          <a:chExt cx="0" cy="0"/>
        </a:xfrm>
      </p:grpSpPr>
      <p:sp>
        <p:nvSpPr>
          <p:cNvPr id="2" name="Body"/>
          <p:cNvSpPr/>
          <p:nvPr>
            <p:ph idx="100" type="body" hasCustomPrompt="1"/>
          </p:nvPr>
        </p:nvSpPr>
        <p:spPr>
          <a:xfrm>
            <a:off x="731520" y="822960"/>
            <a:ext cx="9509760" cy="51206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g Fact">
    <p:bg>
      <p:bgPr>
        <a:solidFill>
          <a:schemeClr val="bg1"/>
        </a:solidFill>
      </p:bgPr>
    </p:bg>
    <p:spTree>
      <p:nvGrpSpPr>
        <p:cNvPr id="1" name=""/>
        <p:cNvGrpSpPr/>
        <p:nvPr/>
      </p:nvGrpSpPr>
      <p:grpSpPr>
        <a:xfrm>
          <a:off x="0" y="0"/>
          <a:ext cx="0" cy="0"/>
          <a:chOff x="0" y="0"/>
          <a:chExt cx="0" cy="0"/>
        </a:xfrm>
      </p:grpSpPr>
      <p:sp>
        <p:nvSpPr>
          <p:cNvPr id="2" name="Big Number"/>
          <p:cNvSpPr/>
          <p:nvPr>
            <p:ph idx="100" type="body" hasCustomPrompt="1"/>
          </p:nvPr>
        </p:nvSpPr>
        <p:spPr>
          <a:xfrm>
            <a:off x="731520" y="914400"/>
            <a:ext cx="10728655" cy="29260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100%</a:t>
            </a:r>
            <a:endParaRPr lang="en-US" sz="15000" dirty="0"/>
          </a:p>
        </p:txBody>
      </p:sp>
      <p:sp>
        <p:nvSpPr>
          <p:cNvPr id="3" name="Shape 0"/>
          <p:cNvSpPr/>
          <p:nvPr/>
        </p:nvSpPr>
        <p:spPr>
          <a:xfrm>
            <a:off x="731520" y="4114800"/>
            <a:ext cx="1828800" cy="0"/>
          </a:xfrm>
          <a:prstGeom prst="line">
            <a:avLst/>
          </a:prstGeom>
          <a:noFill/>
          <a:ln w="12700">
            <a:solidFill>
              <a:schemeClr val="tx2"/>
            </a:solidFill>
            <a:prstDash val="solid"/>
          </a:ln>
        </p:spPr>
      </p:sp>
      <p:sp>
        <p:nvSpPr>
          <p:cNvPr id="4" name="Subtitle"/>
          <p:cNvSpPr/>
          <p:nvPr>
            <p:ph idx="102" type="body" hasCustomPrompt="1"/>
          </p:nvPr>
        </p:nvSpPr>
        <p:spPr>
          <a:xfrm>
            <a:off x="731520" y="4343400"/>
            <a:ext cx="8686800" cy="146304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What the number means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p:bgPr>
    </p:bg>
    <p:spTree>
      <p:nvGrpSpPr>
        <p:cNvPr id="1" name=""/>
        <p:cNvGrpSpPr/>
        <p:nvPr/>
      </p:nvGrpSpPr>
      <p:grpSpPr>
        <a:xfrm>
          <a:off x="0" y="0"/>
          <a:ext cx="0" cy="0"/>
          <a:chOff x="0" y="0"/>
          <a:chExt cx="0" cy="0"/>
        </a:xfrm>
      </p:grpSpPr>
      <p:sp>
        <p:nvSpPr>
          <p:cNvPr id="2" name="Big Number"/>
          <p:cNvSpPr txBox="1"/>
          <p:nvPr/>
        </p:nvSpPr>
        <p:spPr>
          <a:xfrm>
            <a:off x="685800" y="365760"/>
            <a:ext cx="1828800" cy="1645920"/>
          </a:xfrm>
          <a:prstGeom prst="rect">
            <a:avLst/>
          </a:prstGeom>
          <a:noFill/>
          <a:ln/>
        </p:spPr>
        <p:txBody>
          <a:bodyPr wrap="square" lIns="0" tIns="0" rIns="0" bIns="0" rtlCol="0" anchor="t"/>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a:t>
            </a:r>
            <a:endParaRPr lang="en-US" sz="15000" dirty="0"/>
          </a:p>
        </p:txBody>
      </p:sp>
      <p:sp>
        <p:nvSpPr>
          <p:cNvPr id="3" name="Title"/>
          <p:cNvSpPr/>
          <p:nvPr>
            <p:ph idx="101" type="title" hasCustomPrompt="1"/>
          </p:nvPr>
        </p:nvSpPr>
        <p:spPr>
          <a:xfrm>
            <a:off x="731520" y="1828800"/>
            <a:ext cx="10058400" cy="265176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Quotation text</a:t>
            </a:r>
            <a:endParaRPr lang="en-US" sz="4000" dirty="0"/>
          </a:p>
        </p:txBody>
      </p:sp>
      <p:sp>
        <p:nvSpPr>
          <p:cNvPr id="4" name="Shape 1"/>
          <p:cNvSpPr/>
          <p:nvPr/>
        </p:nvSpPr>
        <p:spPr>
          <a:xfrm>
            <a:off x="731520" y="4800600"/>
            <a:ext cx="1097280" cy="0"/>
          </a:xfrm>
          <a:prstGeom prst="line">
            <a:avLst/>
          </a:prstGeom>
          <a:noFill/>
          <a:ln w="12700">
            <a:solidFill>
              <a:schemeClr val="accent2"/>
            </a:solidFill>
            <a:prstDash val="solid"/>
          </a:ln>
        </p:spPr>
      </p:sp>
      <p:sp>
        <p:nvSpPr>
          <p:cNvPr id="5" name="Label"/>
          <p:cNvSpPr/>
          <p:nvPr>
            <p:ph idx="103" type="body" hasCustomPrompt="1"/>
          </p:nvPr>
        </p:nvSpPr>
        <p:spPr>
          <a:xfrm>
            <a:off x="731520" y="4983480"/>
            <a:ext cx="10058400" cy="365760"/>
          </a:xfrm>
          <a:prstGeom prst="rect">
            <a:avLst/>
          </a:prstGeom>
          <a:noFill/>
          <a:ln/>
        </p:spPr>
        <p:txBody>
          <a:bodyPr wrap="square" rtlCol="0"/>
          <a:lstStyle>
            <a:lvl1pPr algn="l" indent="0" marL="0">
              <a:buNone/>
              <a:defRPr lang="en-US" sz="1400" b="1" spc="300" kern="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6"/>
                </a:solidFill>
                <a:latin typeface="Avenir Next" pitchFamily="34" charset="0"/>
                <a:ea typeface="Avenir Next" pitchFamily="34" charset="-122"/>
                <a:cs typeface="Avenir Next" pitchFamily="34" charset="-120"/>
              </a:rPr>
              <a:t>NAME, SOURCE</a:t>
            </a:r>
            <a:endParaRPr lang="en-US" sz="1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p:bg>
      <p:bgPr>
        <a:solidFill>
          <a:schemeClr val="tx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0" y="0"/>
            <a:ext cx="1219169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 3 Up">
    <p:bg>
      <p:bgPr>
        <a:solidFill>
          <a:schemeClr val="bg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31520"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Caption"/>
          <p:cNvSpPr/>
          <p:nvPr>
            <p:ph idx="101" type="body" hasCustomPrompt="1"/>
          </p:nvPr>
        </p:nvSpPr>
        <p:spPr>
          <a:xfrm>
            <a:off x="731520"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4" name="Image 2"/>
          <p:cNvSpPr/>
          <p:nvPr>
            <p:ph type="pic" idx="102" hasCustomPrompt="1"/>
          </p:nvPr>
        </p:nvSpPr>
        <p:spPr>
          <a:xfrm>
            <a:off x="4429658"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5" name="Caption 2"/>
          <p:cNvSpPr/>
          <p:nvPr>
            <p:ph idx="103" type="body" hasCustomPrompt="1"/>
          </p:nvPr>
        </p:nvSpPr>
        <p:spPr>
          <a:xfrm>
            <a:off x="4429658"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6" name="Image 3"/>
          <p:cNvSpPr/>
          <p:nvPr>
            <p:ph type="pic" idx="104" hasCustomPrompt="1"/>
          </p:nvPr>
        </p:nvSpPr>
        <p:spPr>
          <a:xfrm>
            <a:off x="8127797"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7" name="Caption 3"/>
          <p:cNvSpPr/>
          <p:nvPr>
            <p:ph idx="105" type="body" hasCustomPrompt="1"/>
          </p:nvPr>
        </p:nvSpPr>
        <p:spPr>
          <a:xfrm>
            <a:off x="8127797"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8" name="Caption 4"/>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
        <p:nvSpPr>
          <p:cNvPr id="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lette">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t"/>
          <a:lstStyle/>
          <a:p>
            <a:pPr indent="0" marL="0">
              <a:buNone/>
            </a:pPr>
            <a:r>
              <a:rPr lang="en-US" sz="1300" b="1" spc="300" kern="0" dirty="0">
                <a:solidFill>
                  <a:srgbClr val="6E6F68"/>
                </a:solidFill>
                <a:latin typeface="Avenir Next" pitchFamily="34" charset="0"/>
                <a:ea typeface="Avenir Next" pitchFamily="34" charset="-122"/>
                <a:cs typeface="Avenir Next" pitchFamily="34" charset="-120"/>
              </a:rPr>
              <a:t>PALETTE AND USAGE</a:t>
            </a:r>
            <a:endParaRPr lang="en-US" sz="1300" dirty="0"/>
          </a:p>
        </p:txBody>
      </p:sp>
      <p:sp>
        <p:nvSpPr>
          <p:cNvPr id="3" name="Text 1"/>
          <p:cNvSpPr txBox="1"/>
          <p:nvPr/>
        </p:nvSpPr>
        <p:spPr>
          <a:xfrm>
            <a:off x="548640" y="731520"/>
            <a:ext cx="7315200" cy="365760"/>
          </a:xfrm>
          <a:prstGeom prst="rect">
            <a:avLst/>
          </a:prstGeom>
          <a:noFill/>
          <a:ln/>
        </p:spPr>
        <p:txBody>
          <a:bodyPr wrap="square" lIns="0" tIns="0" rIns="0" bIns="0" rtlCol="0" anchor="t"/>
          <a:lstStyle/>
          <a:p>
            <a:pPr indent="0" marL="0">
              <a:buNone/>
            </a:pPr>
            <a:r>
              <a:rPr lang="en-US" sz="1800" b="1" dirty="0">
                <a:solidFill>
                  <a:srgbClr val="1F2623"/>
                </a:solidFill>
                <a:latin typeface="Avenir Next" pitchFamily="34" charset="0"/>
                <a:ea typeface="Avenir Next" pitchFamily="34" charset="-122"/>
                <a:cs typeface="Avenir Next" pitchFamily="34" charset="-120"/>
              </a:rPr>
              <a:t>Reference layout. Not for presenting.</a:t>
            </a:r>
            <a:endParaRPr lang="en-US" sz="1800" dirty="0"/>
          </a:p>
        </p:txBody>
      </p:sp>
      <p:sp>
        <p:nvSpPr>
          <p:cNvPr id="4" name="Shape 2"/>
          <p:cNvSpPr/>
          <p:nvPr/>
        </p:nvSpPr>
        <p:spPr>
          <a:xfrm>
            <a:off x="548640" y="1371600"/>
            <a:ext cx="1388974" cy="1051560"/>
          </a:xfrm>
          <a:prstGeom prst="rect">
            <a:avLst/>
          </a:prstGeom>
          <a:solidFill>
            <a:srgbClr val="1F4D3F"/>
          </a:solidFill>
          <a:ln w="6350">
            <a:solidFill>
              <a:srgbClr val="C9CCD1"/>
            </a:solidFill>
            <a:prstDash val="solid"/>
          </a:ln>
        </p:spPr>
      </p:sp>
      <p:sp>
        <p:nvSpPr>
          <p:cNvPr id="5" name="Text 3"/>
          <p:cNvSpPr txBox="1"/>
          <p:nvPr/>
        </p:nvSpPr>
        <p:spPr>
          <a:xfrm>
            <a:off x="548640"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Main</a:t>
            </a:r>
            <a:endParaRPr lang="en-US" sz="1300" dirty="0"/>
          </a:p>
        </p:txBody>
      </p:sp>
      <p:sp>
        <p:nvSpPr>
          <p:cNvPr id="6" name="Text 4"/>
          <p:cNvSpPr txBox="1"/>
          <p:nvPr/>
        </p:nvSpPr>
        <p:spPr>
          <a:xfrm>
            <a:off x="548640"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#1F4D3F</a:t>
            </a:r>
            <a:endParaRPr lang="en-US" sz="1200" dirty="0"/>
          </a:p>
        </p:txBody>
      </p:sp>
      <p:sp>
        <p:nvSpPr>
          <p:cNvPr id="7" name="Text 5"/>
          <p:cNvSpPr txBox="1"/>
          <p:nvPr/>
        </p:nvSpPr>
        <p:spPr>
          <a:xfrm>
            <a:off x="548640"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Title and section slides, slide titles</a:t>
            </a:r>
            <a:endParaRPr lang="en-US" sz="1100" dirty="0"/>
          </a:p>
        </p:txBody>
      </p:sp>
      <p:sp>
        <p:nvSpPr>
          <p:cNvPr id="8" name="Shape 6"/>
          <p:cNvSpPr/>
          <p:nvPr/>
        </p:nvSpPr>
        <p:spPr>
          <a:xfrm>
            <a:off x="2166214" y="1371600"/>
            <a:ext cx="1388974" cy="1051560"/>
          </a:xfrm>
          <a:prstGeom prst="rect">
            <a:avLst/>
          </a:prstGeom>
          <a:solidFill>
            <a:srgbClr val="C08A2E"/>
          </a:solidFill>
          <a:ln w="6350">
            <a:solidFill>
              <a:srgbClr val="C9CCD1"/>
            </a:solidFill>
            <a:prstDash val="solid"/>
          </a:ln>
        </p:spPr>
      </p:sp>
      <p:sp>
        <p:nvSpPr>
          <p:cNvPr id="9" name="Text 7"/>
          <p:cNvSpPr txBox="1"/>
          <p:nvPr/>
        </p:nvSpPr>
        <p:spPr>
          <a:xfrm>
            <a:off x="2166214"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Accent</a:t>
            </a:r>
            <a:endParaRPr lang="en-US" sz="1300" dirty="0"/>
          </a:p>
        </p:txBody>
      </p:sp>
      <p:sp>
        <p:nvSpPr>
          <p:cNvPr id="10" name="Text 8"/>
          <p:cNvSpPr txBox="1"/>
          <p:nvPr/>
        </p:nvSpPr>
        <p:spPr>
          <a:xfrm>
            <a:off x="2166214"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#C08A2E</a:t>
            </a:r>
            <a:endParaRPr lang="en-US" sz="1200" dirty="0"/>
          </a:p>
        </p:txBody>
      </p:sp>
      <p:sp>
        <p:nvSpPr>
          <p:cNvPr id="11" name="Text 9"/>
          <p:cNvSpPr txBox="1"/>
          <p:nvPr/>
        </p:nvSpPr>
        <p:spPr>
          <a:xfrm>
            <a:off x="2166214"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Activity slides, big numbers</a:t>
            </a:r>
            <a:endParaRPr lang="en-US" sz="1100" dirty="0"/>
          </a:p>
        </p:txBody>
      </p:sp>
      <p:sp>
        <p:nvSpPr>
          <p:cNvPr id="12" name="Shape 10"/>
          <p:cNvSpPr/>
          <p:nvPr/>
        </p:nvSpPr>
        <p:spPr>
          <a:xfrm>
            <a:off x="3783787" y="1371600"/>
            <a:ext cx="1388974" cy="1051560"/>
          </a:xfrm>
          <a:prstGeom prst="rect">
            <a:avLst/>
          </a:prstGeom>
          <a:solidFill>
            <a:srgbClr val="A4503A"/>
          </a:solidFill>
          <a:ln w="6350">
            <a:solidFill>
              <a:srgbClr val="C9CCD1"/>
            </a:solidFill>
            <a:prstDash val="solid"/>
          </a:ln>
        </p:spPr>
      </p:sp>
      <p:sp>
        <p:nvSpPr>
          <p:cNvPr id="13" name="Text 11"/>
          <p:cNvSpPr txBox="1"/>
          <p:nvPr/>
        </p:nvSpPr>
        <p:spPr>
          <a:xfrm>
            <a:off x="3783787"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Secondary</a:t>
            </a:r>
            <a:endParaRPr lang="en-US" sz="1300" dirty="0"/>
          </a:p>
        </p:txBody>
      </p:sp>
      <p:sp>
        <p:nvSpPr>
          <p:cNvPr id="14" name="Text 12"/>
          <p:cNvSpPr txBox="1"/>
          <p:nvPr/>
        </p:nvSpPr>
        <p:spPr>
          <a:xfrm>
            <a:off x="3783787"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#A4503A</a:t>
            </a:r>
            <a:endParaRPr lang="en-US" sz="1200" dirty="0"/>
          </a:p>
        </p:txBody>
      </p:sp>
      <p:sp>
        <p:nvSpPr>
          <p:cNvPr id="15" name="Text 13"/>
          <p:cNvSpPr txBox="1"/>
          <p:nvPr/>
        </p:nvSpPr>
        <p:spPr>
          <a:xfrm>
            <a:off x="3783787"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Check questions, takeaway labels</a:t>
            </a:r>
            <a:endParaRPr lang="en-US" sz="1100" dirty="0"/>
          </a:p>
        </p:txBody>
      </p:sp>
      <p:sp>
        <p:nvSpPr>
          <p:cNvPr id="16" name="Shape 14"/>
          <p:cNvSpPr/>
          <p:nvPr/>
        </p:nvSpPr>
        <p:spPr>
          <a:xfrm>
            <a:off x="5401361" y="1371600"/>
            <a:ext cx="1388974" cy="1051560"/>
          </a:xfrm>
          <a:prstGeom prst="rect">
            <a:avLst/>
          </a:prstGeom>
          <a:solidFill>
            <a:srgbClr val="1F2623"/>
          </a:solidFill>
          <a:ln w="6350">
            <a:solidFill>
              <a:srgbClr val="C9CCD1"/>
            </a:solidFill>
            <a:prstDash val="solid"/>
          </a:ln>
        </p:spPr>
      </p:sp>
      <p:sp>
        <p:nvSpPr>
          <p:cNvPr id="17" name="Text 15"/>
          <p:cNvSpPr txBox="1"/>
          <p:nvPr/>
        </p:nvSpPr>
        <p:spPr>
          <a:xfrm>
            <a:off x="5401361"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Text</a:t>
            </a:r>
            <a:endParaRPr lang="en-US" sz="1300" dirty="0"/>
          </a:p>
        </p:txBody>
      </p:sp>
      <p:sp>
        <p:nvSpPr>
          <p:cNvPr id="18" name="Text 16"/>
          <p:cNvSpPr txBox="1"/>
          <p:nvPr/>
        </p:nvSpPr>
        <p:spPr>
          <a:xfrm>
            <a:off x="5401361"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#1F2623</a:t>
            </a:r>
            <a:endParaRPr lang="en-US" sz="1200" dirty="0"/>
          </a:p>
        </p:txBody>
      </p:sp>
      <p:sp>
        <p:nvSpPr>
          <p:cNvPr id="19" name="Text 17"/>
          <p:cNvSpPr txBox="1"/>
          <p:nvPr/>
        </p:nvSpPr>
        <p:spPr>
          <a:xfrm>
            <a:off x="5401361"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Body text</a:t>
            </a:r>
            <a:endParaRPr lang="en-US" sz="1100" dirty="0"/>
          </a:p>
        </p:txBody>
      </p:sp>
      <p:sp>
        <p:nvSpPr>
          <p:cNvPr id="20" name="Shape 18"/>
          <p:cNvSpPr/>
          <p:nvPr/>
        </p:nvSpPr>
        <p:spPr>
          <a:xfrm>
            <a:off x="7018934" y="1371600"/>
            <a:ext cx="1388974" cy="1051560"/>
          </a:xfrm>
          <a:prstGeom prst="rect">
            <a:avLst/>
          </a:prstGeom>
          <a:solidFill>
            <a:srgbClr val="6E6F68"/>
          </a:solidFill>
          <a:ln w="6350">
            <a:solidFill>
              <a:srgbClr val="C9CCD1"/>
            </a:solidFill>
            <a:prstDash val="solid"/>
          </a:ln>
        </p:spPr>
      </p:sp>
      <p:sp>
        <p:nvSpPr>
          <p:cNvPr id="21" name="Text 19"/>
          <p:cNvSpPr txBox="1"/>
          <p:nvPr/>
        </p:nvSpPr>
        <p:spPr>
          <a:xfrm>
            <a:off x="7018934"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Grey</a:t>
            </a:r>
            <a:endParaRPr lang="en-US" sz="1300" dirty="0"/>
          </a:p>
        </p:txBody>
      </p:sp>
      <p:sp>
        <p:nvSpPr>
          <p:cNvPr id="22" name="Text 20"/>
          <p:cNvSpPr txBox="1"/>
          <p:nvPr/>
        </p:nvSpPr>
        <p:spPr>
          <a:xfrm>
            <a:off x="7018934"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#6E6F68</a:t>
            </a:r>
            <a:endParaRPr lang="en-US" sz="1200" dirty="0"/>
          </a:p>
        </p:txBody>
      </p:sp>
      <p:sp>
        <p:nvSpPr>
          <p:cNvPr id="23" name="Text 21"/>
          <p:cNvSpPr txBox="1"/>
          <p:nvPr/>
        </p:nvSpPr>
        <p:spPr>
          <a:xfrm>
            <a:off x="7018934"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Captions, footer, context in figures</a:t>
            </a:r>
            <a:endParaRPr lang="en-US" sz="1100" dirty="0"/>
          </a:p>
        </p:txBody>
      </p:sp>
      <p:sp>
        <p:nvSpPr>
          <p:cNvPr id="24" name="Shape 22"/>
          <p:cNvSpPr/>
          <p:nvPr/>
        </p:nvSpPr>
        <p:spPr>
          <a:xfrm>
            <a:off x="8636508" y="1371600"/>
            <a:ext cx="1388974" cy="1051560"/>
          </a:xfrm>
          <a:prstGeom prst="rect">
            <a:avLst/>
          </a:prstGeom>
          <a:solidFill>
            <a:srgbClr val="EFEEE6"/>
          </a:solidFill>
          <a:ln w="6350">
            <a:solidFill>
              <a:srgbClr val="C9CCD1"/>
            </a:solidFill>
            <a:prstDash val="solid"/>
          </a:ln>
        </p:spPr>
      </p:sp>
      <p:sp>
        <p:nvSpPr>
          <p:cNvPr id="25" name="Text 23"/>
          <p:cNvSpPr txBox="1"/>
          <p:nvPr/>
        </p:nvSpPr>
        <p:spPr>
          <a:xfrm>
            <a:off x="8636508"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Panel</a:t>
            </a:r>
            <a:endParaRPr lang="en-US" sz="1300" dirty="0"/>
          </a:p>
        </p:txBody>
      </p:sp>
      <p:sp>
        <p:nvSpPr>
          <p:cNvPr id="26" name="Text 24"/>
          <p:cNvSpPr txBox="1"/>
          <p:nvPr/>
        </p:nvSpPr>
        <p:spPr>
          <a:xfrm>
            <a:off x="8636508"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#EFEEE6</a:t>
            </a:r>
            <a:endParaRPr lang="en-US" sz="1200" dirty="0"/>
          </a:p>
        </p:txBody>
      </p:sp>
      <p:sp>
        <p:nvSpPr>
          <p:cNvPr id="27" name="Text 25"/>
          <p:cNvSpPr txBox="1"/>
          <p:nvPr/>
        </p:nvSpPr>
        <p:spPr>
          <a:xfrm>
            <a:off x="8636508"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Key concept, summary, quote backgrounds</a:t>
            </a:r>
            <a:endParaRPr lang="en-US" sz="1100" dirty="0"/>
          </a:p>
        </p:txBody>
      </p:sp>
      <p:sp>
        <p:nvSpPr>
          <p:cNvPr id="28" name="Shape 26"/>
          <p:cNvSpPr/>
          <p:nvPr/>
        </p:nvSpPr>
        <p:spPr>
          <a:xfrm>
            <a:off x="10254082" y="1371600"/>
            <a:ext cx="1388974" cy="1051560"/>
          </a:xfrm>
          <a:prstGeom prst="rect">
            <a:avLst/>
          </a:prstGeom>
          <a:solidFill>
            <a:srgbClr val="FBFAF6"/>
          </a:solidFill>
          <a:ln w="6350">
            <a:solidFill>
              <a:srgbClr val="C9CCD1"/>
            </a:solidFill>
            <a:prstDash val="solid"/>
          </a:ln>
        </p:spPr>
      </p:sp>
      <p:sp>
        <p:nvSpPr>
          <p:cNvPr id="29" name="Text 27"/>
          <p:cNvSpPr txBox="1"/>
          <p:nvPr/>
        </p:nvSpPr>
        <p:spPr>
          <a:xfrm>
            <a:off x="10254082"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Background</a:t>
            </a:r>
            <a:endParaRPr lang="en-US" sz="1300" dirty="0"/>
          </a:p>
        </p:txBody>
      </p:sp>
      <p:sp>
        <p:nvSpPr>
          <p:cNvPr id="30" name="Text 28"/>
          <p:cNvSpPr txBox="1"/>
          <p:nvPr/>
        </p:nvSpPr>
        <p:spPr>
          <a:xfrm>
            <a:off x="10254082"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#FBFAF6</a:t>
            </a:r>
            <a:endParaRPr lang="en-US" sz="1200" dirty="0"/>
          </a:p>
        </p:txBody>
      </p:sp>
      <p:sp>
        <p:nvSpPr>
          <p:cNvPr id="31" name="Text 29"/>
          <p:cNvSpPr txBox="1"/>
          <p:nvPr/>
        </p:nvSpPr>
        <p:spPr>
          <a:xfrm>
            <a:off x="10254082"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Content slides</a:t>
            </a:r>
            <a:endParaRPr lang="en-US" sz="1100" dirty="0"/>
          </a:p>
        </p:txBody>
      </p:sp>
      <p:sp>
        <p:nvSpPr>
          <p:cNvPr id="32" name="Shape 30"/>
          <p:cNvSpPr/>
          <p:nvPr/>
        </p:nvSpPr>
        <p:spPr>
          <a:xfrm>
            <a:off x="548640" y="3886200"/>
            <a:ext cx="11094415" cy="0"/>
          </a:xfrm>
          <a:prstGeom prst="line">
            <a:avLst/>
          </a:prstGeom>
          <a:noFill/>
          <a:ln w="12700">
            <a:solidFill>
              <a:srgbClr val="D5D9DF"/>
            </a:solidFill>
            <a:prstDash val="solid"/>
          </a:ln>
        </p:spPr>
      </p:sp>
      <p:sp>
        <p:nvSpPr>
          <p:cNvPr id="33" name="Text 31"/>
          <p:cNvSpPr txBox="1"/>
          <p:nvPr/>
        </p:nvSpPr>
        <p:spPr>
          <a:xfrm>
            <a:off x="548640" y="40690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FONT</a:t>
            </a:r>
            <a:endParaRPr lang="en-US" sz="1200" dirty="0"/>
          </a:p>
        </p:txBody>
      </p:sp>
      <p:sp>
        <p:nvSpPr>
          <p:cNvPr id="34" name="Text 32"/>
          <p:cNvSpPr txBox="1"/>
          <p:nvPr/>
        </p:nvSpPr>
        <p:spPr>
          <a:xfrm>
            <a:off x="548640" y="4343400"/>
            <a:ext cx="5394960" cy="54864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Avenir Next (bold titles, regular body). Export a PDF backup for other computers.</a:t>
            </a:r>
            <a:endParaRPr lang="en-US" sz="1300" dirty="0"/>
          </a:p>
        </p:txBody>
      </p:sp>
      <p:sp>
        <p:nvSpPr>
          <p:cNvPr id="35" name="Text 33"/>
          <p:cNvSpPr txBox="1"/>
          <p:nvPr/>
        </p:nvSpPr>
        <p:spPr>
          <a:xfrm>
            <a:off x="548640" y="49834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FIGURES IN R</a:t>
            </a:r>
            <a:endParaRPr lang="en-US" sz="1200" dirty="0"/>
          </a:p>
        </p:txBody>
      </p:sp>
      <p:sp>
        <p:nvSpPr>
          <p:cNvPr id="36" name="Shape 34"/>
          <p:cNvSpPr/>
          <p:nvPr/>
        </p:nvSpPr>
        <p:spPr>
          <a:xfrm>
            <a:off x="548640" y="5257800"/>
            <a:ext cx="5394960" cy="868680"/>
          </a:xfrm>
          <a:prstGeom prst="rect">
            <a:avLst/>
          </a:prstGeom>
          <a:solidFill>
            <a:srgbClr val="F1F2F4"/>
          </a:solidFill>
          <a:ln w="12700">
            <a:solidFill>
              <a:srgbClr val="F1F2F4"/>
            </a:solidFill>
            <a:prstDash val="solid"/>
          </a:ln>
        </p:spPr>
      </p:sp>
      <p:sp>
        <p:nvSpPr>
          <p:cNvPr id="37" name="Text 35"/>
          <p:cNvSpPr txBox="1"/>
          <p:nvPr/>
        </p:nvSpPr>
        <p:spPr>
          <a:xfrm>
            <a:off x="658368" y="5321808"/>
            <a:ext cx="5175504" cy="777240"/>
          </a:xfrm>
          <a:prstGeom prst="rect">
            <a:avLst/>
          </a:prstGeom>
          <a:noFill/>
          <a:ln/>
        </p:spPr>
        <p:txBody>
          <a:bodyPr wrap="square" lIns="0" tIns="0" rIns="0" bIns="0" rtlCol="0" anchor="t"/>
          <a:lstStyle/>
          <a:p>
            <a:pPr indent="0" marL="0">
              <a:buNone/>
            </a:pPr>
            <a:r>
              <a:rPr lang="en-US" sz="1100" dirty="0">
                <a:solidFill>
                  <a:srgbClr val="1F2623"/>
                </a:solidFill>
                <a:latin typeface="Menlo" pitchFamily="34" charset="0"/>
                <a:ea typeface="Menlo" pitchFamily="34" charset="-122"/>
                <a:cs typeface="Menlo" pitchFamily="34" charset="-120"/>
              </a:rPr>
              <a:t>scale_colour_manual(values = c("#6E6F68", "#1F4D3F", "#C08A2E", "#A4503A"))</a:t>
            </a:r>
            <a:endParaRPr lang="en-US" sz="1100" dirty="0"/>
          </a:p>
        </p:txBody>
      </p:sp>
      <p:sp>
        <p:nvSpPr>
          <p:cNvPr id="38" name="Text 36"/>
          <p:cNvSpPr txBox="1"/>
          <p:nvPr/>
        </p:nvSpPr>
        <p:spPr>
          <a:xfrm>
            <a:off x="6309360" y="40690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USAGE</a:t>
            </a:r>
            <a:endParaRPr lang="en-US" sz="1200" dirty="0"/>
          </a:p>
        </p:txBody>
      </p:sp>
      <p:sp>
        <p:nvSpPr>
          <p:cNvPr id="39" name="Text 37"/>
          <p:cNvSpPr txBox="1"/>
          <p:nvPr/>
        </p:nvSpPr>
        <p:spPr>
          <a:xfrm>
            <a:off x="6309360" y="43434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Main colour marks the course: keep it for titles and dark slides.</a:t>
            </a:r>
            <a:endParaRPr lang="en-US" sz="1300" dirty="0"/>
          </a:p>
        </p:txBody>
      </p:sp>
      <p:sp>
        <p:nvSpPr>
          <p:cNvPr id="40" name="Text 38"/>
          <p:cNvSpPr txBox="1"/>
          <p:nvPr/>
        </p:nvSpPr>
        <p:spPr>
          <a:xfrm>
            <a:off x="6309360" y="48006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Accent for the one thing to notice; never two accents competing on one slide.</a:t>
            </a:r>
            <a:endParaRPr lang="en-US" sz="1300" dirty="0"/>
          </a:p>
        </p:txBody>
      </p:sp>
      <p:sp>
        <p:nvSpPr>
          <p:cNvPr id="41" name="Text 39"/>
          <p:cNvSpPr txBox="1"/>
          <p:nvPr/>
        </p:nvSpPr>
        <p:spPr>
          <a:xfrm>
            <a:off x="6309360" y="52578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Figures: plot context in grey, the result in the main or accent colour.</a:t>
            </a:r>
            <a:endParaRPr lang="en-US" sz="1300" dirty="0"/>
          </a:p>
        </p:txBody>
      </p:sp>
      <p:sp>
        <p:nvSpPr>
          <p:cNvPr id="42" name="Text 40"/>
          <p:cNvSpPr txBox="1"/>
          <p:nvPr/>
        </p:nvSpPr>
        <p:spPr>
          <a:xfrm>
            <a:off x="6309360" y="57150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Course details are fixed in the layouts; edit them in Edit Slide Layouts.</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0.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7.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1.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2.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9.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0.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1.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2.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itle_tree.jpg"/>
          <p:cNvPicPr>
            <a:picLocks noGrp="1" noChangeAspect="1"/>
          </p:cNvPicPr>
          <p:nvPr>
            <p:ph type="pic" idx="100"/>
          </p:nvPr>
        </p:nvPicPr>
        <p:blipFill>
          <a:blip r:embed="rId2"/>
          <a:srcRect t="53" b="53"/>
          <a:stretch>
            <a:fillRect/>
          </a:stretch>
        </p:blipFill>
        <p:spPr/>
      </p:pic>
      <p:sp>
        <p:nvSpPr>
          <p:cNvPr id="3" name="Title 2"/>
          <p:cNvSpPr>
            <a:spLocks noGrp="1"/>
          </p:cNvSpPr>
          <p:nvPr>
            <p:ph type="title" idx="103"/>
          </p:nvPr>
        </p:nvSpPr>
        <p:spPr/>
        <p:txBody>
          <a:bodyPr/>
          <a:lstStyle/>
          <a:p>
            <a:pPr algn="l" indent="0" marL="0">
              <a:buNone/>
            </a:pPr>
            <a:r>
              <a:rPr b="1" sz="4000">
                <a:solidFill>
                  <a:schemeClr val="bg1"/>
                </a:solidFill>
                <a:latin typeface="Avenir Next" pitchFamily="34" charset="0"/>
                <a:ea typeface="Avenir Next" pitchFamily="34" charset="-122"/>
                <a:cs typeface="Avenir Next" pitchFamily="34" charset="-120"/>
              </a:rPr>
              <a:t>Darwin and his theories</a:t>
            </a:r>
          </a:p>
        </p:txBody>
      </p:sp>
      <p:sp>
        <p:nvSpPr>
          <p:cNvPr id="4" name="Text Placeholder 3"/>
          <p:cNvSpPr>
            <a:spLocks noGrp="1"/>
          </p:cNvSpPr>
          <p:nvPr>
            <p:ph type="body" idx="104"/>
          </p:nvPr>
        </p:nvSpPr>
        <p:spPr/>
        <p:txBody>
          <a:bodyPr/>
          <a:lstStyle/>
          <a:p>
            <a:pPr algn="l" indent="0" marL="0">
              <a:buNone/>
            </a:pPr>
            <a:r>
              <a:rPr>
                <a:solidFill>
                  <a:srgbClr val="D9E4DD"/>
                </a:solidFill>
                <a:latin typeface="Avenir Next" pitchFamily="34" charset="0"/>
                <a:ea typeface="Avenir Next" pitchFamily="34" charset="-122"/>
                <a:cs typeface="Avenir Next" pitchFamily="34" charset="-120"/>
              </a:rPr>
              <a:t>What is evolution, and how did Darwin convince the world that it happens?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00</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About the course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Two broad themes</a:t>
            </a:r>
          </a:p>
        </p:txBody>
      </p:sp>
      <p:sp>
        <p:nvSpPr>
          <p:cNvPr id="3" name="Text Placeholder 2"/>
          <p:cNvSpPr>
            <a:spLocks noGrp="1"/>
          </p:cNvSpPr>
          <p:nvPr>
            <p:ph type="body" idx="101"/>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POPULATION BIOLOGY</a:t>
            </a:r>
          </a:p>
        </p:txBody>
      </p:sp>
      <p:sp>
        <p:nvSpPr>
          <p:cNvPr id="4" name="Text Placeholder 3"/>
          <p:cNvSpPr>
            <a:spLocks noGrp="1"/>
          </p:cNvSpPr>
          <p:nvPr>
            <p:ph type="body" idx="103"/>
          </p:nvPr>
        </p:nvSpPr>
        <p:spPr/>
        <p:txBody>
          <a:bodyPr/>
          <a:lstStyle/>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How populations change in size, and how they interact with their environment and each other</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Part 2: Population growth models</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Part 4: Interactions between species and community structure</a:t>
            </a:r>
          </a:p>
        </p:txBody>
      </p:sp>
      <p:sp>
        <p:nvSpPr>
          <p:cNvPr id="5" name="Text Placeholder 4"/>
          <p:cNvSpPr>
            <a:spLocks noGrp="1"/>
          </p:cNvSpPr>
          <p:nvPr>
            <p:ph type="body" idx="104"/>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EVOLUTION</a:t>
            </a:r>
          </a:p>
        </p:txBody>
      </p:sp>
      <p:sp>
        <p:nvSpPr>
          <p:cNvPr id="6" name="Text Placeholder 5"/>
          <p:cNvSpPr>
            <a:spLocks noGrp="1"/>
          </p:cNvSpPr>
          <p:nvPr>
            <p:ph type="body" idx="106"/>
          </p:nvPr>
        </p:nvSpPr>
        <p:spPr/>
        <p:txBody>
          <a:bodyPr/>
          <a:lstStyle/>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How organisms have changed from earlier forms over the history of the earth</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Part 1: Evolution by natural selection</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Part 3: Population genetics and evolution</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Part 5: Behaviour, altruism and sexual selection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teachers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1017</a:t>
            </a:fld>
            <a:endParaRPr lang="en-US"/>
          </a:p>
        </p:txBody>
      </p:sp>
      <p:pic>
        <p:nvPicPr>
          <p:cNvPr id="26" name="Picture 25" descr="s04_1.png"/>
          <p:cNvPicPr>
            <a:picLocks noChangeAspect="1"/>
          </p:cNvPicPr>
          <p:nvPr/>
        </p:nvPicPr>
        <p:blipFill>
          <a:blip r:embed="rId3"/>
          <a:stretch>
            <a:fillRect/>
          </a:stretch>
        </p:blipFill>
        <p:spPr>
          <a:xfrm>
            <a:off x="731520" y="2011680"/>
            <a:ext cx="2426600" cy="3017520"/>
          </a:xfrm>
          <a:prstGeom prst="rect">
            <a:avLst/>
          </a:prstGeom>
        </p:spPr>
      </p:pic>
      <p:pic>
        <p:nvPicPr>
          <p:cNvPr id="27" name="Picture 26" descr="s04_2.jpg"/>
          <p:cNvPicPr>
            <a:picLocks noChangeAspect="1"/>
          </p:cNvPicPr>
          <p:nvPr/>
        </p:nvPicPr>
        <p:blipFill>
          <a:blip r:embed="rId4"/>
          <a:stretch>
            <a:fillRect/>
          </a:stretch>
        </p:blipFill>
        <p:spPr>
          <a:xfrm>
            <a:off x="6373368" y="2011680"/>
            <a:ext cx="2263140" cy="3017520"/>
          </a:xfrm>
          <a:prstGeom prst="rect">
            <a:avLst/>
          </a:prstGeom>
        </p:spPr>
      </p:pic>
      <p:sp>
        <p:nvSpPr>
          <p:cNvPr id="28" name="TextBox 27"/>
          <p:cNvSpPr txBox="1"/>
          <p:nvPr/>
        </p:nvSpPr>
        <p:spPr>
          <a:xfrm>
            <a:off x="3291840" y="2103120"/>
            <a:ext cx="2926080" cy="2743200"/>
          </a:xfrm>
          <a:prstGeom prst="rect">
            <a:avLst/>
          </a:prstGeom>
          <a:noFill/>
        </p:spPr>
        <p:txBody>
          <a:bodyPr wrap="square">
            <a:spAutoFit/>
          </a:bodyPr>
          <a:lstStyle/>
          <a:p>
            <a:pPr algn="l"/>
            <a:r>
              <a:rPr b="1" sz="1600">
                <a:solidFill>
                  <a:srgbClr val="1F2623"/>
                </a:solidFill>
                <a:latin typeface="Avenir Next"/>
              </a:rPr>
              <a:t>Owen Jones</a:t>
            </a:r>
          </a:p>
          <a:p>
            <a:pPr algn="l"/>
            <a:r>
              <a:rPr sz="1600">
                <a:solidFill>
                  <a:srgbClr val="1F2623"/>
                </a:solidFill>
                <a:latin typeface="Avenir Next"/>
              </a:rPr>
              <a:t>jones@biology.sdu.dk</a:t>
            </a:r>
          </a:p>
          <a:p>
            <a:pPr algn="l"/>
            <a:r>
              <a:rPr sz="1600">
                <a:solidFill>
                  <a:srgbClr val="1F2623"/>
                </a:solidFill>
                <a:latin typeface="Avenir Next"/>
              </a:rPr>
              <a:t>Associate Professor, SDU</a:t>
            </a:r>
          </a:p>
          <a:p>
            <a:pPr algn="l"/>
            <a:r>
              <a:rPr sz="1600">
                <a:solidFill>
                  <a:srgbClr val="1F2623"/>
                </a:solidFill>
                <a:latin typeface="Avenir Next"/>
              </a:rPr>
              <a:t>Comparative life-history evolution and demography</a:t>
            </a:r>
          </a:p>
        </p:txBody>
      </p:sp>
      <p:sp>
        <p:nvSpPr>
          <p:cNvPr id="29" name="TextBox 28"/>
          <p:cNvSpPr txBox="1"/>
          <p:nvPr/>
        </p:nvSpPr>
        <p:spPr>
          <a:xfrm>
            <a:off x="8915400" y="2103120"/>
            <a:ext cx="2743200" cy="2743200"/>
          </a:xfrm>
          <a:prstGeom prst="rect">
            <a:avLst/>
          </a:prstGeom>
          <a:noFill/>
        </p:spPr>
        <p:txBody>
          <a:bodyPr wrap="square">
            <a:spAutoFit/>
          </a:bodyPr>
          <a:lstStyle/>
          <a:p>
            <a:pPr algn="l"/>
            <a:r>
              <a:rPr b="1" sz="1600">
                <a:solidFill>
                  <a:srgbClr val="1F2623"/>
                </a:solidFill>
                <a:latin typeface="Avenir Next"/>
              </a:rPr>
              <a:t>Thomas Bjørneboe Berg</a:t>
            </a:r>
          </a:p>
          <a:p>
            <a:pPr algn="l"/>
            <a:r>
              <a:rPr sz="1600">
                <a:solidFill>
                  <a:srgbClr val="1F2623"/>
                </a:solidFill>
                <a:latin typeface="Avenir Next"/>
              </a:rPr>
              <a:t>thomas@naturama.dk</a:t>
            </a:r>
          </a:p>
          <a:p>
            <a:pPr algn="l"/>
            <a:r>
              <a:rPr sz="1600">
                <a:solidFill>
                  <a:srgbClr val="1F2623"/>
                </a:solidFill>
                <a:latin typeface="Avenir Next"/>
              </a:rPr>
              <a:t>Senior scientist, Naturama</a:t>
            </a:r>
          </a:p>
          <a:p>
            <a:pPr algn="l"/>
            <a:r>
              <a:rPr sz="1600">
                <a:solidFill>
                  <a:srgbClr val="1F2623"/>
                </a:solidFill>
                <a:latin typeface="Avenir Next"/>
              </a:rPr>
              <a:t>Population biology and species management, especially dormice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My own research</a:t>
            </a:r>
          </a:p>
        </p:txBody>
      </p:sp>
      <p:pic>
        <p:nvPicPr>
          <p:cNvPr id="3" name="Picture Placeholder 2" descr="research.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Comparative demography and life-history evolution across plants and animals. www.sdu.dk/staff/jones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How the course works</a:t>
            </a:r>
          </a:p>
        </p:txBody>
      </p:sp>
      <p:pic>
        <p:nvPicPr>
          <p:cNvPr id="3" name="Picture Placeholder 2" descr="neal_cover.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Each session: a lecture, then a practical exercise</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Between sessions: reading (and thinking), quizzes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Final exam: multiple choice and short answer</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Textbook: Neal (2018) </a:t>
            </a:r>
            <a:r>
              <a:rPr i="1" sz="1800">
                <a:solidFill>
                  <a:schemeClr val="tx1"/>
                </a:solidFill>
                <a:latin typeface="Avenir Next" pitchFamily="34" charset="0"/>
                <a:ea typeface="Avenir Next" pitchFamily="34" charset="-122"/>
                <a:cs typeface="Avenir Next" pitchFamily="34" charset="-120"/>
              </a:rPr>
              <a:t>Introduction to Population Biology</a:t>
            </a:r>
            <a:r>
              <a:rPr sz="1800">
                <a:solidFill>
                  <a:schemeClr val="tx1"/>
                </a:solidFill>
                <a:latin typeface="Avenir Next" pitchFamily="34" charset="0"/>
                <a:ea typeface="Avenir Next" pitchFamily="34" charset="-122"/>
                <a:cs typeface="Avenir Next" pitchFamily="34" charset="-120"/>
              </a:rPr>
              <a:t>, 2nd edn, Cambridge University Press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Further literature: cited in lectures, linked on itslearning</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course book</a:t>
            </a:r>
          </a:p>
        </p:txBody>
      </p:sp>
      <p:pic>
        <p:nvPicPr>
          <p:cNvPr id="3" name="Picture Placeholder 2" descr="website.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https://jonesor.github.io/BB512_Book/  (practicals, data, schedule and solutions)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lgn="ctr" indent="0" marL="0">
              <a:buNone/>
            </a:pPr>
            <a:r>
              <a:rPr b="1">
                <a:solidFill>
                  <a:schemeClr val="tx2"/>
                </a:solidFill>
                <a:latin typeface="Avenir Next" pitchFamily="34" charset="0"/>
                <a:ea typeface="Avenir Next" pitchFamily="34" charset="-122"/>
                <a:cs typeface="Avenir Next" pitchFamily="34" charset="-120"/>
              </a:rPr>
              <a:t>There will be maths. Don't be scared.</a:t>
            </a:r>
          </a:p>
        </p:txBody>
      </p:sp>
      <p:sp>
        <p:nvSpPr>
          <p:cNvPr id="3" name="Text Placeholder 2"/>
          <p:cNvSpPr>
            <a:spLocks noGrp="1"/>
          </p:cNvSpPr>
          <p:nvPr>
            <p:ph type="body" idx="103"/>
          </p:nvPr>
        </p:nvSpPr>
        <p:spPr/>
        <p:txBody>
          <a:bodyPr/>
          <a:lstStyle/>
          <a:p>
            <a:pPr algn="ctr" indent="0" marL="0">
              <a:buNone/>
            </a:pPr>
            <a:r>
              <a:rPr>
                <a:solidFill>
                  <a:schemeClr val="accent6"/>
                </a:solidFill>
                <a:latin typeface="Avenir Next" pitchFamily="34" charset="0"/>
                <a:ea typeface="Avenir Next" pitchFamily="34" charset="-122"/>
                <a:cs typeface="Avenir Next" pitchFamily="34" charset="-120"/>
              </a:rPr>
              <a:t>Keep in mind the processes the models try to capture, and remember that they are simplifications of real life.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1014</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Darwin and his theories</a:t>
            </a:r>
          </a:p>
        </p:txBody>
      </p:sp>
      <p:sp>
        <p:nvSpPr>
          <p:cNvPr id="3" name="Text Placeholder 2"/>
          <p:cNvSpPr>
            <a:spLocks noGrp="1"/>
          </p:cNvSpPr>
          <p:nvPr>
            <p:ph type="body" idx="103"/>
          </p:nvPr>
        </p:nvSpPr>
        <p:spPr/>
        <p:txBody>
          <a:bodyPr/>
          <a:lstStyle/>
          <a:p>
            <a:pPr algn="l" marL="342900" indent="-342900">
              <a:spcAft>
                <a:spcPts val="1400"/>
              </a:spcAft>
              <a:buSzPct val="100000"/>
              <a:buFont typeface="+mj-lt"/>
              <a:buAutoNum type="arabicPeriod" startAt="1"/>
            </a:pPr>
            <a:r>
              <a:rPr sz="1800">
                <a:solidFill>
                  <a:schemeClr val="tx1"/>
                </a:solidFill>
                <a:latin typeface="Avenir Next" pitchFamily="34" charset="0"/>
                <a:ea typeface="Avenir Next" pitchFamily="34" charset="-122"/>
                <a:cs typeface="Avenir Next" pitchFamily="34" charset="-120"/>
              </a:rPr>
              <a:t>Define evolution, and separate the pattern (common descent) from the mechanism (natural selection)</a:t>
            </a:r>
          </a:p>
          <a:p>
            <a:pPr algn="l" marL="342900" indent="-342900">
              <a:spcAft>
                <a:spcPts val="1400"/>
              </a:spcAft>
              <a:buSzPct val="100000"/>
              <a:buFont typeface="+mj-lt"/>
              <a:buAutoNum type="arabicPeriod" startAt="1"/>
            </a:pPr>
            <a:r>
              <a:rPr sz="1800">
                <a:solidFill>
                  <a:schemeClr val="tx1"/>
                </a:solidFill>
                <a:latin typeface="Avenir Next" pitchFamily="34" charset="0"/>
                <a:ea typeface="Avenir Next" pitchFamily="34" charset="-122"/>
                <a:cs typeface="Avenir Next" pitchFamily="34" charset="-120"/>
              </a:rPr>
              <a:t>Explain how Darwin's training and voyage led him to doubt that species are fixed</a:t>
            </a:r>
          </a:p>
          <a:p>
            <a:pPr algn="l" marL="342900" indent="-342900">
              <a:spcAft>
                <a:spcPts val="1400"/>
              </a:spcAft>
              <a:buSzPct val="100000"/>
              <a:buFont typeface="+mj-lt"/>
              <a:buAutoNum type="arabicPeriod" startAt="1"/>
            </a:pPr>
            <a:r>
              <a:rPr sz="1800">
                <a:solidFill>
                  <a:schemeClr val="tx1"/>
                </a:solidFill>
                <a:latin typeface="Avenir Next" pitchFamily="34" charset="0"/>
                <a:ea typeface="Avenir Next" pitchFamily="34" charset="-122"/>
                <a:cs typeface="Avenir Next" pitchFamily="34" charset="-120"/>
              </a:rPr>
              <a:t>Build the argument for natural selection from observable facts</a:t>
            </a:r>
          </a:p>
          <a:p>
            <a:pPr algn="l" marL="342900" indent="-342900">
              <a:spcAft>
                <a:spcPts val="1400"/>
              </a:spcAft>
              <a:buSzPct val="100000"/>
              <a:buFont typeface="+mj-lt"/>
              <a:buAutoNum type="arabicPeriod" startAt="1"/>
            </a:pPr>
            <a:r>
              <a:rPr sz="1800">
                <a:solidFill>
                  <a:schemeClr val="tx1"/>
                </a:solidFill>
                <a:latin typeface="Avenir Next" pitchFamily="34" charset="0"/>
                <a:ea typeface="Avenir Next" pitchFamily="34" charset="-122"/>
                <a:cs typeface="Avenir Next" pitchFamily="34" charset="-120"/>
              </a:rPr>
              <a:t>Evaluate evidence for common descent from fossils, geography and anatomy</a:t>
            </a:r>
          </a:p>
          <a:p>
            <a:pPr algn="l" marL="342900" indent="-342900">
              <a:spcAft>
                <a:spcPts val="1400"/>
              </a:spcAft>
              <a:buSzPct val="100000"/>
              <a:buFont typeface="+mj-lt"/>
              <a:buAutoNum type="arabicPeriod" startAt="1"/>
            </a:pPr>
            <a:r>
              <a:rPr sz="1800">
                <a:solidFill>
                  <a:schemeClr val="tx1"/>
                </a:solidFill>
                <a:latin typeface="Avenir Next" pitchFamily="34" charset="0"/>
                <a:ea typeface="Avenir Next" pitchFamily="34" charset="-122"/>
                <a:cs typeface="Avenir Next" pitchFamily="34" charset="-120"/>
              </a:rPr>
              <a:t>Explain why inheritance was the missing piece in Darwin's theory</a:t>
            </a:r>
          </a:p>
          <a:p>
            <a:pPr algn="l" marL="342900" indent="-342900">
              <a:spcAft>
                <a:spcPts val="1400"/>
              </a:spcAft>
              <a:buSzPct val="100000"/>
              <a:buFont typeface="+mj-lt"/>
              <a:buAutoNum type="arabicPeriod" startAt="1"/>
            </a:pPr>
            <a:r>
              <a:rPr sz="1800">
                <a:solidFill>
                  <a:schemeClr val="tx1"/>
                </a:solidFill>
                <a:latin typeface="Avenir Next" pitchFamily="34" charset="0"/>
                <a:ea typeface="Avenir Next" pitchFamily="34" charset="-122"/>
                <a:cs typeface="Avenir Next" pitchFamily="34" charset="-120"/>
              </a:rPr>
              <a:t>Explain why evolution was accepted quickly but natural selection was not</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1004</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Life is astonishingly diverse</a:t>
            </a:r>
          </a:p>
        </p:txBody>
      </p:sp>
      <p:pic>
        <p:nvPicPr>
          <p:cNvPr id="3" name="Picture Placeholder 2" descr="diversity.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What explains this diversity of form, colour, behaviour and distribution?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01</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What is evolution?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Evolution</a:t>
            </a:r>
          </a:p>
        </p:txBody>
      </p:sp>
      <p:sp>
        <p:nvSpPr>
          <p:cNvPr id="3" name="Text Placeholder 2"/>
          <p:cNvSpPr>
            <a:spLocks noGrp="1"/>
          </p:cNvSpPr>
          <p:nvPr>
            <p:ph type="body" idx="103"/>
          </p:nvPr>
        </p:nvSpPr>
        <p:spPr/>
        <p:txBody>
          <a:bodyPr/>
          <a:lstStyle/>
          <a:p>
            <a:pPr algn="l" indent="0" marL="0">
              <a:buNone/>
            </a:pPr>
            <a:r>
              <a:rPr>
                <a:solidFill>
                  <a:schemeClr val="tx1"/>
                </a:solidFill>
                <a:latin typeface="Avenir Next" pitchFamily="34" charset="0"/>
                <a:ea typeface="Avenir Next" pitchFamily="34" charset="-122"/>
                <a:cs typeface="Avenir Next" pitchFamily="34" charset="-120"/>
              </a:rPr>
              <a:t>Change in the heritable characteristics of a population over successive generations.</a:t>
            </a:r>
          </a:p>
        </p:txBody>
      </p:sp>
      <p:sp>
        <p:nvSpPr>
          <p:cNvPr id="4" name="Text Placeholder 3"/>
          <p:cNvSpPr>
            <a:spLocks noGrp="1"/>
          </p:cNvSpPr>
          <p:nvPr>
            <p:ph type="body" idx="105"/>
          </p:nvPr>
        </p:nvSpPr>
        <p:spPr/>
        <p:txBody>
          <a:bodyPr/>
          <a:lstStyle/>
          <a:p>
            <a:pPr algn="l" indent="0" marL="0">
              <a:spcAft>
                <a:spcPts val="1000"/>
              </a:spcAft>
              <a:buNone/>
            </a:pPr>
            <a:r>
              <a:rPr>
                <a:solidFill>
                  <a:schemeClr val="accent6"/>
                </a:solidFill>
                <a:latin typeface="Avenir Next" pitchFamily="34" charset="0"/>
                <a:ea typeface="Avenir Next" pitchFamily="34" charset="-122"/>
                <a:cs typeface="Avenir Next" pitchFamily="34" charset="-120"/>
              </a:rPr>
              <a:t>Populations evolve; individuals do not. A giraffe that stretches its neck does not evolve, but a population of giraffes can, if long-necked parents leave more offspring and pass the trait 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1009</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Darwin had two theories, not one</a:t>
            </a:r>
          </a:p>
        </p:txBody>
      </p:sp>
      <p:sp>
        <p:nvSpPr>
          <p:cNvPr id="3" name="Text Placeholder 2"/>
          <p:cNvSpPr>
            <a:spLocks noGrp="1"/>
          </p:cNvSpPr>
          <p:nvPr>
            <p:ph type="body" idx="101"/>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1. COMMON DESCENT (THE PATTERN)</a:t>
            </a:r>
          </a:p>
        </p:txBody>
      </p:sp>
      <p:sp>
        <p:nvSpPr>
          <p:cNvPr id="4" name="Text Placeholder 3"/>
          <p:cNvSpPr>
            <a:spLocks noGrp="1"/>
          </p:cNvSpPr>
          <p:nvPr>
            <p:ph type="body" idx="103"/>
          </p:nvPr>
        </p:nvSpPr>
        <p:spPr/>
        <p:txBody>
          <a:bodyPr/>
          <a:lstStyle/>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All organisms are related, descended from one or a few ancestors</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Explains why species fall into groups within groups</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Accepted by most scientists within about a decade of 1859</a:t>
            </a:r>
          </a:p>
        </p:txBody>
      </p:sp>
      <p:sp>
        <p:nvSpPr>
          <p:cNvPr id="5" name="Text Placeholder 4"/>
          <p:cNvSpPr>
            <a:spLocks noGrp="1"/>
          </p:cNvSpPr>
          <p:nvPr>
            <p:ph type="body" idx="104"/>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2. NATURAL SELECTION (THE MECHANISM)</a:t>
            </a:r>
          </a:p>
        </p:txBody>
      </p:sp>
      <p:sp>
        <p:nvSpPr>
          <p:cNvPr id="6" name="Text Placeholder 5"/>
          <p:cNvSpPr>
            <a:spLocks noGrp="1"/>
          </p:cNvSpPr>
          <p:nvPr>
            <p:ph type="body" idx="106"/>
          </p:nvPr>
        </p:nvSpPr>
        <p:spPr/>
        <p:txBody>
          <a:bodyPr/>
          <a:lstStyle/>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Heritable variants that survive and reproduce better become more common</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Explains adaptation: the fit between organism and environment</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Widely accepted only in the 1930s–40s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02</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How Darwin got there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Darwin's life and ideas</a:t>
            </a:r>
          </a:p>
        </p:txBody>
      </p:sp>
      <p:pic>
        <p:nvPicPr>
          <p:cNvPr id="3" name="Picture Placeholder 2" descr="01_timeline.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Key dates. Blue: the Beagle voyage. Gold: the 20 years between his key insight and publication.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Charles Darwin (1809–1882)</a:t>
            </a:r>
          </a:p>
        </p:txBody>
      </p:sp>
      <p:pic>
        <p:nvPicPr>
          <p:cNvPr id="3" name="Picture Placeholder 2" descr="sharple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Born in Shrewsbury into a wealthy family of physicians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Grandfathers: Erasmus Darwin (physician, poet and early evolutionist) and Josiah Wedgwood (potter)</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Edinburgh, medicine (1825–27): hated surgery, left in his second year</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Cambridge (1828–31): a degree on the way to becoming a clergyman</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Real passions: beetles, botany with John Henslow, and geology</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Geology: how fast does the earth change?</a:t>
            </a:r>
          </a:p>
        </p:txBody>
      </p:sp>
      <p:pic>
        <p:nvPicPr>
          <p:cNvPr id="3" name="Picture Placeholder 2" descr="strata.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Rock is laid down in layers (strata), each with its own fossils</a:t>
            </a:r>
          </a:p>
          <a:p>
            <a:pPr algn="l" marL="342900" indent="-342900">
              <a:spcAft>
                <a:spcPts val="1400"/>
              </a:spcAft>
              <a:buSzPct val="100000"/>
              <a:buChar char="•"/>
            </a:pPr>
            <a:r>
              <a:rPr b="1" sz="1800">
                <a:solidFill>
                  <a:schemeClr val="tx1"/>
                </a:solidFill>
                <a:latin typeface="Avenir Next" pitchFamily="34" charset="0"/>
                <a:ea typeface="Avenir Next" pitchFamily="34" charset="-122"/>
                <a:cs typeface="Avenir Next" pitchFamily="34" charset="-120"/>
              </a:rPr>
              <a:t>Catastrophism</a:t>
            </a:r>
            <a:r>
              <a:rPr sz="1800">
                <a:solidFill>
                  <a:schemeClr val="tx1"/>
                </a:solidFill>
                <a:latin typeface="Avenir Next" pitchFamily="34" charset="0"/>
                <a:ea typeface="Avenir Next" pitchFamily="34" charset="-122"/>
                <a:cs typeface="Avenir Next" pitchFamily="34" charset="-120"/>
              </a:rPr>
              <a:t> (Cuvier): sudden upheavals, a young earth, fossils that change in sequence</a:t>
            </a:r>
          </a:p>
          <a:p>
            <a:pPr algn="l" marL="342900" indent="-342900">
              <a:spcAft>
                <a:spcPts val="1400"/>
              </a:spcAft>
              <a:buSzPct val="100000"/>
              <a:buChar char="•"/>
            </a:pPr>
            <a:r>
              <a:rPr b="1" sz="1800">
                <a:solidFill>
                  <a:schemeClr val="tx1"/>
                </a:solidFill>
                <a:latin typeface="Avenir Next" pitchFamily="34" charset="0"/>
                <a:ea typeface="Avenir Next" pitchFamily="34" charset="-122"/>
                <a:cs typeface="Avenir Next" pitchFamily="34" charset="-120"/>
              </a:rPr>
              <a:t>Uniformitarianism</a:t>
            </a:r>
            <a:r>
              <a:rPr sz="1800">
                <a:solidFill>
                  <a:schemeClr val="tx1"/>
                </a:solidFill>
                <a:latin typeface="Avenir Next" pitchFamily="34" charset="0"/>
                <a:ea typeface="Avenir Next" pitchFamily="34" charset="-122"/>
                <a:cs typeface="Avenir Next" pitchFamily="34" charset="-120"/>
              </a:rPr>
              <a:t> (Hutton, Lyell): the same slow processes as today, a very old earth</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From Lyell, Darwin took </a:t>
            </a:r>
            <a:r>
              <a:rPr b="1" sz="1800">
                <a:solidFill>
                  <a:schemeClr val="tx1"/>
                </a:solidFill>
                <a:latin typeface="Avenir Next" pitchFamily="34" charset="0"/>
                <a:ea typeface="Avenir Next" pitchFamily="34" charset="-122"/>
                <a:cs typeface="Avenir Next" pitchFamily="34" charset="-120"/>
              </a:rPr>
              <a:t>deep time</a:t>
            </a:r>
            <a:r>
              <a:rPr sz="1800">
                <a:solidFill>
                  <a:schemeClr val="tx1"/>
                </a:solidFill>
                <a:latin typeface="Avenir Next" pitchFamily="34" charset="0"/>
                <a:ea typeface="Avenir Next" pitchFamily="34" charset="-122"/>
                <a:cs typeface="Avenir Next" pitchFamily="34" charset="-120"/>
              </a:rPr>
              <a:t> and </a:t>
            </a:r>
            <a:r>
              <a:rPr b="1" sz="1800">
                <a:solidFill>
                  <a:schemeClr val="tx1"/>
                </a:solidFill>
                <a:latin typeface="Avenir Next" pitchFamily="34" charset="0"/>
                <a:ea typeface="Avenir Next" pitchFamily="34" charset="-122"/>
                <a:cs typeface="Avenir Next" pitchFamily="34" charset="-120"/>
              </a:rPr>
              <a:t>small changes adding up</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Small changes add up: folded rock in Denmark</a:t>
            </a:r>
          </a:p>
        </p:txBody>
      </p:sp>
      <p:pic>
        <p:nvPicPr>
          <p:cNvPr id="3" name="Picture Placeholder 2" descr="moler.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Lower Eocene moler (diatomite), folded by glacier push, Limfjord area. Photo: Karsten Eig.</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Beagle voyage (1831–36)</a:t>
            </a:r>
          </a:p>
        </p:txBody>
      </p:sp>
      <p:pic>
        <p:nvPicPr>
          <p:cNvPr id="3" name="Picture Placeholder 2" descr="beagle_route.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MOSTLY A GEOLOGIST</a:t>
            </a:r>
          </a:p>
        </p:txBody>
      </p:sp>
      <p:sp>
        <p:nvSpPr>
          <p:cNvPr id="5" name="Text Placeholder 4"/>
          <p:cNvSpPr>
            <a:spLocks noGrp="1"/>
          </p:cNvSpPr>
          <p:nvPr>
            <p:ph type="body" idx="105"/>
          </p:nvPr>
        </p:nvSpPr>
        <p:spPr/>
        <p:txBody>
          <a:bodyPr/>
          <a:lstStyle/>
          <a:p>
            <a:pPr algn="l" indent="0" marL="0">
              <a:spcAft>
                <a:spcPts val="1400"/>
              </a:spcAft>
              <a:buNone/>
            </a:pPr>
            <a:r>
              <a:rPr sz="1700">
                <a:solidFill>
                  <a:schemeClr val="tx1"/>
                </a:solidFill>
                <a:latin typeface="Avenir Next" pitchFamily="34" charset="0"/>
                <a:ea typeface="Avenir Next" pitchFamily="34" charset="-122"/>
                <a:cs typeface="Avenir Next" pitchFamily="34" charset="-120"/>
              </a:rPr>
              <a:t>A naval survey of the South American coast. Darwin, the captain's unpaid companion, spent 39 months ashore and 18 at sea.</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Galápagos mockingbirds: a different species on each island</a:t>
            </a:r>
          </a:p>
        </p:txBody>
      </p:sp>
      <p:pic>
        <p:nvPicPr>
          <p:cNvPr id="3" name="Picture Placeholder 2" descr="mockingbird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Darwin noticed the mockingbirds differed between islands, and labelled them by island</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Gould (1837): three species, each on its own island, related to a mainland species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Why create different species, living the same way, on islands within sight of each other?</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More likely: one colonist from South America, diverging on each island</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famous finches came later</a:t>
            </a:r>
          </a:p>
        </p:txBody>
      </p:sp>
      <p:pic>
        <p:nvPicPr>
          <p:cNvPr id="3" name="Picture Placeholder 2" descr="finche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Darwin thought they were a mix of wrens, blackbirds, grosbeaks and finches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Gould: one group of 13 finch species (about 17–18 recognised today)</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Darwin rarely recorded which island each came from</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In his </a:t>
            </a:r>
            <a:r>
              <a:rPr i="1" sz="1800">
                <a:solidFill>
                  <a:schemeClr val="tx1"/>
                </a:solidFill>
                <a:latin typeface="Avenir Next" pitchFamily="34" charset="0"/>
                <a:ea typeface="Avenir Next" pitchFamily="34" charset="-122"/>
                <a:cs typeface="Avenir Next" pitchFamily="34" charset="-120"/>
              </a:rPr>
              <a:t>Journal of Researches</a:t>
            </a:r>
            <a:r>
              <a:rPr sz="1800">
                <a:solidFill>
                  <a:schemeClr val="tx1"/>
                </a:solidFill>
                <a:latin typeface="Avenir Next" pitchFamily="34" charset="0"/>
                <a:ea typeface="Avenir Next" pitchFamily="34" charset="-122"/>
                <a:cs typeface="Avenir Next" pitchFamily="34" charset="-120"/>
              </a:rPr>
              <a:t> (1845), but never mentioned in </a:t>
            </a:r>
            <a:r>
              <a:rPr i="1" sz="1800">
                <a:solidFill>
                  <a:schemeClr val="tx1"/>
                </a:solidFill>
                <a:latin typeface="Avenir Next" pitchFamily="34" charset="0"/>
                <a:ea typeface="Avenir Next" pitchFamily="34" charset="-122"/>
                <a:cs typeface="Avenir Next" pitchFamily="34" charset="-120"/>
              </a:rPr>
              <a:t>On the Origin of Species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A missed clue: giant tortoises</a:t>
            </a:r>
          </a:p>
        </p:txBody>
      </p:sp>
      <p:pic>
        <p:nvPicPr>
          <p:cNvPr id="3" name="Picture Placeholder 2" descr="tortoises.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Tortoise shell shape and habitat on different islands. Images: Sulloway (2009) </a:t>
            </a:r>
            <a:r>
              <a:rPr i="1">
                <a:solidFill>
                  <a:schemeClr val="accent6"/>
                </a:solidFill>
                <a:latin typeface="Avenir Next" pitchFamily="34" charset="0"/>
                <a:ea typeface="Avenir Next" pitchFamily="34" charset="-122"/>
                <a:cs typeface="Avenir Next" pitchFamily="34" charset="-120"/>
              </a:rPr>
              <a:t>Journal of the History of Biology</a:t>
            </a:r>
            <a:r>
              <a:rPr>
                <a:solidFill>
                  <a:schemeClr val="accent6"/>
                </a:solidFill>
                <a:latin typeface="Avenir Next" pitchFamily="34" charset="0"/>
                <a:ea typeface="Avenir Next" pitchFamily="34" charset="-122"/>
                <a:cs typeface="Avenir Next" pitchFamily="34" charset="-120"/>
              </a:rPr>
              <a:t>.</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Fossils resemble the living species in the same place</a:t>
            </a:r>
          </a:p>
        </p:txBody>
      </p:sp>
      <p:pic>
        <p:nvPicPr>
          <p:cNvPr id="3" name="Picture Placeholder 2" descr="fossils.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Extinct South American giants and their living relatives. Image credits in the notes.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ideas were not totally new</a:t>
            </a:r>
          </a:p>
        </p:txBody>
      </p:sp>
      <p:pic>
        <p:nvPicPr>
          <p:cNvPr id="3" name="Picture Placeholder 2" descr="predecessor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Al-Jāḥiẓ (9th c.): animals struggle to survive, shaped by environment</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Robert Hooke (17th c.): fossils are extinct species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Erasmus Darwin (1794): animals from one “living filament”</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Lamarck (1809): change by inheriting acquired characteristics</a:t>
            </a:r>
          </a:p>
          <a:p>
            <a:pPr algn="l" marL="342900" indent="-342900">
              <a:spcAft>
                <a:spcPts val="1400"/>
              </a:spcAft>
              <a:buSzPct val="100000"/>
              <a:buChar char="•"/>
            </a:pPr>
            <a:r>
              <a:rPr i="1" sz="1800">
                <a:solidFill>
                  <a:schemeClr val="tx1"/>
                </a:solidFill>
                <a:latin typeface="Avenir Next" pitchFamily="34" charset="0"/>
                <a:ea typeface="Avenir Next" pitchFamily="34" charset="-122"/>
                <a:cs typeface="Avenir Next" pitchFamily="34" charset="-120"/>
              </a:rPr>
              <a:t>Vestiges</a:t>
            </a:r>
            <a:r>
              <a:rPr sz="1800">
                <a:solidFill>
                  <a:schemeClr val="tx1"/>
                </a:solidFill>
                <a:latin typeface="Avenir Next" pitchFamily="34" charset="0"/>
                <a:ea typeface="Avenir Next" pitchFamily="34" charset="-122"/>
                <a:cs typeface="Avenir Next" pitchFamily="34" charset="-120"/>
              </a:rPr>
              <a:t> (1844, anonymous): popular, poor science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03</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The theory of natural selection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Start with what breeders know</a:t>
            </a:r>
          </a:p>
        </p:txBody>
      </p:sp>
      <p:pic>
        <p:nvPicPr>
          <p:cNvPr id="3" name="Picture Placeholder 2" descr="pigeons.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ARTIFICIAL SELECTION</a:t>
            </a:r>
          </a:p>
        </p:txBody>
      </p:sp>
      <p:sp>
        <p:nvSpPr>
          <p:cNvPr id="5" name="Text Placeholder 4"/>
          <p:cNvSpPr>
            <a:spLocks noGrp="1"/>
          </p:cNvSpPr>
          <p:nvPr>
            <p:ph type="body" idx="105"/>
          </p:nvPr>
        </p:nvSpPr>
        <p:spPr/>
        <p:txBody>
          <a:bodyPr/>
          <a:lstStyle/>
          <a:p>
            <a:pPr algn="l" indent="0" marL="0">
              <a:spcAft>
                <a:spcPts val="1400"/>
              </a:spcAft>
              <a:buNone/>
            </a:pPr>
            <a:r>
              <a:rPr sz="1700">
                <a:solidFill>
                  <a:schemeClr val="tx1"/>
                </a:solidFill>
                <a:latin typeface="Avenir Next" pitchFamily="34" charset="0"/>
                <a:ea typeface="Avenir Next" pitchFamily="34" charset="-122"/>
                <a:cs typeface="Avenir Next" pitchFamily="34" charset="-120"/>
              </a:rPr>
              <a:t>All these breeds descend from the rock dove, </a:t>
            </a:r>
            <a:r>
              <a:rPr i="1" sz="1700">
                <a:solidFill>
                  <a:schemeClr val="tx1"/>
                </a:solidFill>
                <a:latin typeface="Avenir Next" pitchFamily="34" charset="0"/>
                <a:ea typeface="Avenir Next" pitchFamily="34" charset="-122"/>
                <a:cs typeface="Avenir Next" pitchFamily="34" charset="-120"/>
              </a:rPr>
              <a:t>Columba livia</a:t>
            </a:r>
            <a:r>
              <a:rPr sz="1700">
                <a:solidFill>
                  <a:schemeClr val="tx1"/>
                </a:solidFill>
                <a:latin typeface="Avenir Next" pitchFamily="34" charset="0"/>
                <a:ea typeface="Avenir Next" pitchFamily="34" charset="-122"/>
                <a:cs typeface="Avenir Next" pitchFamily="34" charset="-120"/>
              </a:rPr>
              <a:t> (top left). Breeders select heritable variation. Could nature do the same?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Malthus: populations outrun their food</a:t>
            </a:r>
          </a:p>
        </p:txBody>
      </p:sp>
      <p:pic>
        <p:nvPicPr>
          <p:cNvPr id="3" name="Picture Placeholder 2" descr="02_malthus.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THE KEY IDEA</a:t>
            </a:r>
          </a:p>
        </p:txBody>
      </p:sp>
      <p:sp>
        <p:nvSpPr>
          <p:cNvPr id="5" name="Text Placeholder 4"/>
          <p:cNvSpPr>
            <a:spLocks noGrp="1"/>
          </p:cNvSpPr>
          <p:nvPr>
            <p:ph type="body" idx="105"/>
          </p:nvPr>
        </p:nvSpPr>
        <p:spPr/>
        <p:txBody>
          <a:bodyPr/>
          <a:lstStyle/>
          <a:p>
            <a:pPr algn="l" indent="0" marL="0">
              <a:spcAft>
                <a:spcPts val="1400"/>
              </a:spcAft>
              <a:buNone/>
            </a:pPr>
            <a:r>
              <a:rPr sz="1800">
                <a:solidFill>
                  <a:schemeClr val="tx1"/>
                </a:solidFill>
                <a:latin typeface="Avenir Next" pitchFamily="34" charset="0"/>
                <a:ea typeface="Avenir Next" pitchFamily="34" charset="-122"/>
                <a:cs typeface="Avenir Next" pitchFamily="34" charset="-120"/>
              </a:rPr>
              <a:t>Populations grow geometrically; food, at best, by a fixed amount</a:t>
            </a:r>
          </a:p>
          <a:p>
            <a:pPr algn="l" indent="0" marL="0">
              <a:spcAft>
                <a:spcPts val="1400"/>
              </a:spcAft>
              <a:buNone/>
            </a:pPr>
            <a:r>
              <a:rPr sz="1800">
                <a:solidFill>
                  <a:schemeClr val="tx1"/>
                </a:solidFill>
                <a:latin typeface="Avenir Next" pitchFamily="34" charset="0"/>
                <a:ea typeface="Avenir Next" pitchFamily="34" charset="-122"/>
                <a:cs typeface="Avenir Next" pitchFamily="34" charset="-120"/>
              </a:rPr>
              <a:t>So most offspring cannot survive</a:t>
            </a:r>
          </a:p>
          <a:p>
            <a:pPr algn="l" indent="0" marL="0">
              <a:spcAft>
                <a:spcPts val="1400"/>
              </a:spcAft>
              <a:buNone/>
            </a:pPr>
            <a:r>
              <a:rPr sz="1800">
                <a:solidFill>
                  <a:schemeClr val="tx1"/>
                </a:solidFill>
                <a:latin typeface="Avenir Next" pitchFamily="34" charset="0"/>
                <a:ea typeface="Avenir Next" pitchFamily="34" charset="-122"/>
                <a:cs typeface="Avenir Next" pitchFamily="34" charset="-120"/>
              </a:rPr>
              <a:t>Darwin read this in 1838 and applied it to all species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Natural selection is a logical argument</a:t>
            </a:r>
          </a:p>
        </p:txBody>
      </p:sp>
      <p:pic>
        <p:nvPicPr>
          <p:cNvPr id="3" name="Picture Placeholder 2" descr="03_facts_inferences.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Darwin's argument as five facts and three inferences (Neal 2004, after Mayr 1982).</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struggle for existence</a:t>
            </a:r>
          </a:p>
        </p:txBody>
      </p:sp>
      <p:pic>
        <p:nvPicPr>
          <p:cNvPr id="3" name="Picture Placeholder 2" descr="struggle.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Predation and competition produce winners and losers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Who wins is </a:t>
            </a:r>
            <a:r>
              <a:rPr b="1" sz="1800">
                <a:solidFill>
                  <a:schemeClr val="tx1"/>
                </a:solidFill>
                <a:latin typeface="Avenir Next" pitchFamily="34" charset="0"/>
                <a:ea typeface="Avenir Next" pitchFamily="34" charset="-122"/>
                <a:cs typeface="Avenir Next" pitchFamily="34" charset="-120"/>
              </a:rPr>
              <a:t>not random</a:t>
            </a:r>
            <a:r>
              <a:rPr sz="1800">
                <a:solidFill>
                  <a:schemeClr val="tx1"/>
                </a:solidFill>
                <a:latin typeface="Avenir Next" pitchFamily="34" charset="0"/>
                <a:ea typeface="Avenir Next" pitchFamily="34" charset="-122"/>
                <a:cs typeface="Avenir Next" pitchFamily="34" charset="-120"/>
              </a:rPr>
              <a:t>: it depends on their traits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If those traits are heritable, the population changes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“Struggle” is a metaphor: a desert plant struggles for water</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lgn="l" indent="0" marL="0">
              <a:buNone/>
            </a:pPr>
            <a:r>
              <a:rPr b="1" sz="3000">
                <a:solidFill>
                  <a:schemeClr val="tx2"/>
                </a:solidFill>
                <a:latin typeface="Avenir Next" pitchFamily="34" charset="0"/>
                <a:ea typeface="Avenir Next" pitchFamily="34" charset="-122"/>
                <a:cs typeface="Avenir Next" pitchFamily="34" charset="-120"/>
              </a:rPr>
              <a:t>Which is NOT needed for natural selection to cause evolution?</a:t>
            </a:r>
          </a:p>
        </p:txBody>
      </p:sp>
      <p:sp>
        <p:nvSpPr>
          <p:cNvPr id="3" name="Text Placeholder 2"/>
          <p:cNvSpPr>
            <a:spLocks noGrp="1"/>
          </p:cNvSpPr>
          <p:nvPr>
            <p:ph type="body" idx="105"/>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Individuals differ in a trait</a:t>
            </a:r>
          </a:p>
        </p:txBody>
      </p:sp>
      <p:sp>
        <p:nvSpPr>
          <p:cNvPr id="4" name="Text Placeholder 3"/>
          <p:cNvSpPr>
            <a:spLocks noGrp="1"/>
          </p:cNvSpPr>
          <p:nvPr>
            <p:ph type="body" idx="109"/>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The differences are heritable</a:t>
            </a:r>
          </a:p>
        </p:txBody>
      </p:sp>
      <p:sp>
        <p:nvSpPr>
          <p:cNvPr id="5" name="Text Placeholder 4"/>
          <p:cNvSpPr>
            <a:spLocks noGrp="1"/>
          </p:cNvSpPr>
          <p:nvPr>
            <p:ph type="body" idx="113"/>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The trait affects survival or reproduction</a:t>
            </a:r>
          </a:p>
        </p:txBody>
      </p:sp>
      <p:sp>
        <p:nvSpPr>
          <p:cNvPr id="6" name="Text Placeholder 5"/>
          <p:cNvSpPr>
            <a:spLocks noGrp="1"/>
          </p:cNvSpPr>
          <p:nvPr>
            <p:ph type="body" idx="117"/>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Individuals try to adapt to their environment</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1012</a:t>
            </a:fld>
            <a:endParaRPr lang="en-US"/>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From varieties to species: the tree of life</a:t>
            </a:r>
          </a:p>
        </p:txBody>
      </p:sp>
      <p:pic>
        <p:nvPicPr>
          <p:cNvPr id="3" name="Picture Placeholder 2" descr="origin_diagram.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Selection adapts populations to local conditions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Local varieties diverge: “incipient species”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Enough divergence: new species, then genera, families…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Many lines go extinct; some persist unchanged (F)</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Extend it: all life related by descent. Whoa!</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One species becomes two: allopatric speciation</a:t>
            </a:r>
          </a:p>
        </p:txBody>
      </p:sp>
      <p:pic>
        <p:nvPicPr>
          <p:cNvPr id="3" name="Picture Placeholder 2" descr="05_speciation_pump.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Schematic. Separation (here, a falling lake level) lets populations diverge by selection and drift.</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04</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Evidence for common descent</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Species fall into groups within groups</a:t>
            </a:r>
          </a:p>
        </p:txBody>
      </p:sp>
      <p:pic>
        <p:nvPicPr>
          <p:cNvPr id="3" name="Picture Placeholder 2" descr="nested.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lgn="l" indent="0" marL="0">
              <a:buNone/>
            </a:pPr>
            <a:r>
              <a:rPr>
                <a:solidFill>
                  <a:schemeClr val="accent6"/>
                </a:solidFill>
                <a:latin typeface="Avenir Next" pitchFamily="34" charset="0"/>
                <a:ea typeface="Avenir Next" pitchFamily="34" charset="-122"/>
                <a:cs typeface="Avenir Next" pitchFamily="34" charset="-120"/>
              </a:rPr>
              <a:t>Whales, cats, hoofed mammals and rodents: groups within groups, as a branching tree predicts.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Geography, not climate, predicts who is related</a:t>
            </a:r>
          </a:p>
        </p:txBody>
      </p:sp>
      <p:pic>
        <p:nvPicPr>
          <p:cNvPr id="3" name="Picture Placeholder 2" descr="panama.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Similar climates on different continents have unrelated species (American cacti, African euphorbias)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Barriers separate faunas: marine species either side of the Isthmus of Panama differ</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Closest relatives usually live nearby</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Islands: colonists and their descendants</a:t>
            </a:r>
          </a:p>
        </p:txBody>
      </p:sp>
      <p:pic>
        <p:nvPicPr>
          <p:cNvPr id="3" name="Picture Placeholder 2" descr="island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Island species resemble the nearest mainland, not islands with a similar climate</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Oceanic islands lack frogs and land mammals, but have bats and birds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Australia's marsupials radiated into roles filled by placental mammals elsewhere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Same bones, different jobs</a:t>
            </a:r>
          </a:p>
        </p:txBody>
      </p:sp>
      <p:pic>
        <p:nvPicPr>
          <p:cNvPr id="3" name="Picture Placeholder 2" descr="forelimb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Vertebrate forelimbs share one plan, used to grasp, run, swim and fly</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Early embryos of related animals look alike: human embryos have pharyngeal arches and a tail</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Vestigial organs: hip and leg bones in whales and some snakes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Today also in protein and DNA sequences</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Similar is not always related</a:t>
            </a:r>
          </a:p>
        </p:txBody>
      </p:sp>
      <p:sp>
        <p:nvSpPr>
          <p:cNvPr id="3" name="Text Placeholder 2"/>
          <p:cNvSpPr>
            <a:spLocks noGrp="1"/>
          </p:cNvSpPr>
          <p:nvPr>
            <p:ph type="body" idx="101"/>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HOMOLOGY</a:t>
            </a:r>
          </a:p>
        </p:txBody>
      </p:sp>
      <p:sp>
        <p:nvSpPr>
          <p:cNvPr id="4" name="Text Placeholder 3"/>
          <p:cNvSpPr>
            <a:spLocks noGrp="1"/>
          </p:cNvSpPr>
          <p:nvPr>
            <p:ph type="body" idx="103"/>
          </p:nvPr>
        </p:nvSpPr>
        <p:spPr/>
        <p:txBody>
          <a:bodyPr/>
          <a:lstStyle/>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Similarity inherited from a common ancestor</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Bat wing and human arm: the same bones</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Used to build evolutionary trees (phylogenies)</a:t>
            </a:r>
          </a:p>
        </p:txBody>
      </p:sp>
      <p:sp>
        <p:nvSpPr>
          <p:cNvPr id="5" name="Text Placeholder 4"/>
          <p:cNvSpPr>
            <a:spLocks noGrp="1"/>
          </p:cNvSpPr>
          <p:nvPr>
            <p:ph type="body" idx="104"/>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HOMOPLASY (CONVERGENCE)</a:t>
            </a:r>
          </a:p>
        </p:txBody>
      </p:sp>
      <p:sp>
        <p:nvSpPr>
          <p:cNvPr id="6" name="Text Placeholder 5"/>
          <p:cNvSpPr>
            <a:spLocks noGrp="1"/>
          </p:cNvSpPr>
          <p:nvPr>
            <p:ph type="body" idx="106"/>
          </p:nvPr>
        </p:nvSpPr>
        <p:spPr/>
        <p:txBody>
          <a:bodyPr/>
          <a:lstStyle/>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Similarity that evolved independently</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Bat wing and bird wing, </a:t>
            </a:r>
            <a:r>
              <a:rPr i="1" sz="1900">
                <a:solidFill>
                  <a:schemeClr val="tx1"/>
                </a:solidFill>
                <a:latin typeface="Avenir Next" pitchFamily="34" charset="0"/>
                <a:ea typeface="Avenir Next" pitchFamily="34" charset="-122"/>
                <a:cs typeface="Avenir Next" pitchFamily="34" charset="-120"/>
              </a:rPr>
              <a:t>as wings</a:t>
            </a:r>
          </a:p>
          <a:p>
            <a:pPr algn="l" marL="342900" indent="-342900">
              <a:spcAft>
                <a:spcPts val="1400"/>
              </a:spcAft>
              <a:buSzPct val="100000"/>
              <a:buChar char="•"/>
            </a:pPr>
            <a:r>
              <a:rPr sz="1900">
                <a:solidFill>
                  <a:schemeClr val="tx1"/>
                </a:solidFill>
                <a:latin typeface="Avenir Next" pitchFamily="34" charset="0"/>
                <a:ea typeface="Avenir Next" pitchFamily="34" charset="-122"/>
                <a:cs typeface="Avenir Next" pitchFamily="34" charset="-120"/>
              </a:rPr>
              <a:t>Cacti and euphorbias: same shape, unrelated</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lgn="l" indent="0" marL="0">
              <a:buNone/>
            </a:pPr>
            <a:r>
              <a:rPr b="1" sz="2800">
                <a:solidFill>
                  <a:schemeClr val="tx2"/>
                </a:solidFill>
                <a:latin typeface="Avenir Next" pitchFamily="34" charset="0"/>
                <a:ea typeface="Avenir Next" pitchFamily="34" charset="-122"/>
                <a:cs typeface="Avenir Next" pitchFamily="34" charset="-120"/>
              </a:rPr>
              <a:t>Which observation is best explained by common descent, not by adaptation to local conditions?</a:t>
            </a:r>
          </a:p>
        </p:txBody>
      </p:sp>
      <p:sp>
        <p:nvSpPr>
          <p:cNvPr id="3" name="Text Placeholder 2"/>
          <p:cNvSpPr>
            <a:spLocks noGrp="1"/>
          </p:cNvSpPr>
          <p:nvPr>
            <p:ph type="body" idx="105"/>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Desert animals conserve water</a:t>
            </a:r>
          </a:p>
        </p:txBody>
      </p:sp>
      <p:sp>
        <p:nvSpPr>
          <p:cNvPr id="4" name="Text Placeholder 3"/>
          <p:cNvSpPr>
            <a:spLocks noGrp="1"/>
          </p:cNvSpPr>
          <p:nvPr>
            <p:ph type="body" idx="109"/>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Cacti and euphorbias look alike</a:t>
            </a:r>
          </a:p>
        </p:txBody>
      </p:sp>
      <p:sp>
        <p:nvSpPr>
          <p:cNvPr id="5" name="Text Placeholder 4"/>
          <p:cNvSpPr>
            <a:spLocks noGrp="1"/>
          </p:cNvSpPr>
          <p:nvPr>
            <p:ph type="body" idx="113"/>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Different marine species either side of Panama</a:t>
            </a:r>
          </a:p>
        </p:txBody>
      </p:sp>
      <p:sp>
        <p:nvSpPr>
          <p:cNvPr id="6" name="Text Placeholder 5"/>
          <p:cNvSpPr>
            <a:spLocks noGrp="1"/>
          </p:cNvSpPr>
          <p:nvPr>
            <p:ph type="body" idx="117"/>
          </p:nvPr>
        </p:nvSpPr>
        <p:spPr/>
        <p:txBody>
          <a:bodyPr/>
          <a:lstStyle/>
          <a:p>
            <a:pPr algn="l" indent="0" marL="0">
              <a:spcAft>
                <a:spcPts val="1000"/>
              </a:spcAft>
              <a:buNone/>
            </a:pPr>
            <a:r>
              <a:rPr>
                <a:solidFill>
                  <a:schemeClr val="tx1"/>
                </a:solidFill>
                <a:latin typeface="Avenir Next" pitchFamily="34" charset="0"/>
                <a:ea typeface="Avenir Next" pitchFamily="34" charset="-122"/>
                <a:cs typeface="Avenir Next" pitchFamily="34" charset="-120"/>
              </a:rPr>
              <a:t>Arctic animals are often white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1012</a:t>
            </a:fld>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05</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Difficulties Darwin faced</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Darwin had no theory of inheritance</a:t>
            </a:r>
          </a:p>
        </p:txBody>
      </p:sp>
      <p:pic>
        <p:nvPicPr>
          <p:cNvPr id="3" name="Picture Placeholder 2" descr="04_blending.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lgn="l" indent="0" marL="0">
              <a:buNone/>
            </a:pPr>
            <a:r>
              <a:rPr b="1" spc="300" kern="0">
                <a:solidFill>
                  <a:schemeClr val="accent3"/>
                </a:solidFill>
                <a:latin typeface="Avenir Next" pitchFamily="34" charset="0"/>
                <a:ea typeface="Avenir Next" pitchFamily="34" charset="-122"/>
                <a:cs typeface="Avenir Next" pitchFamily="34" charset="-120"/>
              </a:rPr>
              <a:t>THE PROBLEM</a:t>
            </a:r>
          </a:p>
        </p:txBody>
      </p:sp>
      <p:sp>
        <p:nvSpPr>
          <p:cNvPr id="5" name="Text Placeholder 4"/>
          <p:cNvSpPr>
            <a:spLocks noGrp="1"/>
          </p:cNvSpPr>
          <p:nvPr>
            <p:ph type="body" idx="105"/>
          </p:nvPr>
        </p:nvSpPr>
        <p:spPr/>
        <p:txBody>
          <a:bodyPr/>
          <a:lstStyle/>
          <a:p>
            <a:pPr algn="l" indent="0" marL="0">
              <a:spcAft>
                <a:spcPts val="1400"/>
              </a:spcAft>
              <a:buNone/>
            </a:pPr>
            <a:r>
              <a:rPr sz="1700">
                <a:solidFill>
                  <a:schemeClr val="tx1"/>
                </a:solidFill>
                <a:latin typeface="Avenir Next" pitchFamily="34" charset="0"/>
                <a:ea typeface="Avenir Next" pitchFamily="34" charset="-122"/>
                <a:cs typeface="Avenir Next" pitchFamily="34" charset="-120"/>
              </a:rPr>
              <a:t>If offspring are a blend of their parents, variation halves every generation and selection soon runs out of material. Mendel's particles keep it.</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Organs of extreme perfection</a:t>
            </a:r>
          </a:p>
        </p:txBody>
      </p:sp>
      <p:pic>
        <p:nvPicPr>
          <p:cNvPr id="3" name="Picture Placeholder 2" descr="watch.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William Paley (1802): a watch found on a heath implies a watchmaker; so does an eye</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Darwin: every intermediate step must itself be useful</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Living molluscs show the series: light-sensitive patch, cup, pinhole, lens eye</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Today's practical: the Blind Watchmaker</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Complex behaviour, and sterile workers</a:t>
            </a:r>
          </a:p>
        </p:txBody>
      </p:sp>
      <p:pic>
        <p:nvPicPr>
          <p:cNvPr id="3" name="Picture Placeholder 2" descr="dog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Darwin himself raised cuckoos and slave-making ants as difficulties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Behaviour varies and is heritable: compare dog breeds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So instincts can evolve like any other trait</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Hardest case: sterile worker insects, which leave no offspring</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lgn="l" indent="0" marL="0">
              <a:buNone/>
            </a:pPr>
            <a:r>
              <a:rPr b="1">
                <a:solidFill>
                  <a:schemeClr val="accent2"/>
                </a:solidFill>
                <a:latin typeface="Avenir Next" pitchFamily="34" charset="0"/>
                <a:ea typeface="Avenir Next" pitchFamily="34" charset="-122"/>
                <a:cs typeface="Avenir Next" pitchFamily="34" charset="-120"/>
              </a:rPr>
              <a:t>06</a:t>
            </a:r>
          </a:p>
        </p:txBody>
      </p:sp>
      <p:sp>
        <p:nvSpPr>
          <p:cNvPr id="3" name="Title 2"/>
          <p:cNvSpPr>
            <a:spLocks noGrp="1"/>
          </p:cNvSpPr>
          <p:nvPr>
            <p:ph type="title" idx="103"/>
          </p:nvPr>
        </p:nvSpPr>
        <p:spPr/>
        <p:txBody>
          <a:bodyPr/>
          <a:lstStyle/>
          <a:p>
            <a:pPr algn="l" indent="0" marL="0">
              <a:buNone/>
            </a:pPr>
            <a:r>
              <a:rPr b="1">
                <a:solidFill>
                  <a:schemeClr val="bg1"/>
                </a:solidFill>
                <a:latin typeface="Avenir Next" pitchFamily="34" charset="0"/>
                <a:ea typeface="Avenir Next" pitchFamily="34" charset="-122"/>
                <a:cs typeface="Avenir Next" pitchFamily="34" charset="-120"/>
              </a:rPr>
              <a:t>Publication and reception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Why wait 20 years?</a:t>
            </a:r>
          </a:p>
        </p:txBody>
      </p:sp>
      <p:sp>
        <p:nvSpPr>
          <p:cNvPr id="3" name="Text Placeholder 2"/>
          <p:cNvSpPr>
            <a:spLocks noGrp="1"/>
          </p:cNvSpPr>
          <p:nvPr>
            <p:ph type="body" idx="101"/>
          </p:nvPr>
        </p:nvSpPr>
        <p:spPr/>
        <p:txBody>
          <a:bodyPr/>
          <a:lstStyle/>
          <a:p>
            <a:pPr algn="l" marL="342900" indent="-342900">
              <a:spcAft>
                <a:spcPts val="1400"/>
              </a:spcAft>
              <a:buSzPct val="100000"/>
              <a:buChar char="•"/>
            </a:pPr>
            <a:r>
              <a:rPr sz="2000">
                <a:solidFill>
                  <a:schemeClr val="tx1"/>
                </a:solidFill>
                <a:latin typeface="Avenir Next" pitchFamily="34" charset="0"/>
                <a:ea typeface="Avenir Next" pitchFamily="34" charset="-122"/>
                <a:cs typeface="Avenir Next" pitchFamily="34" charset="-120"/>
              </a:rPr>
              <a:t>1842 sketch and 1844 essay: unpublished, with instructions to his wife to publish if he died</a:t>
            </a:r>
          </a:p>
          <a:p>
            <a:pPr algn="l" marL="342900" indent="-342900">
              <a:spcAft>
                <a:spcPts val="1400"/>
              </a:spcAft>
              <a:buSzPct val="100000"/>
              <a:buChar char="•"/>
            </a:pPr>
            <a:r>
              <a:rPr sz="2000">
                <a:solidFill>
                  <a:schemeClr val="tx1"/>
                </a:solidFill>
                <a:latin typeface="Avenir Next" pitchFamily="34" charset="0"/>
                <a:ea typeface="Avenir Next" pitchFamily="34" charset="-122"/>
                <a:cs typeface="Avenir Next" pitchFamily="34" charset="-120"/>
              </a:rPr>
              <a:t>Saw scientists savage </a:t>
            </a:r>
            <a:r>
              <a:rPr i="1" sz="2000">
                <a:solidFill>
                  <a:schemeClr val="tx1"/>
                </a:solidFill>
                <a:latin typeface="Avenir Next" pitchFamily="34" charset="0"/>
                <a:ea typeface="Avenir Next" pitchFamily="34" charset="-122"/>
                <a:cs typeface="Avenir Next" pitchFamily="34" charset="-120"/>
              </a:rPr>
              <a:t>Vestiges</a:t>
            </a:r>
            <a:r>
              <a:rPr sz="2000">
                <a:solidFill>
                  <a:schemeClr val="tx1"/>
                </a:solidFill>
                <a:latin typeface="Avenir Next" pitchFamily="34" charset="0"/>
                <a:ea typeface="Avenir Next" pitchFamily="34" charset="-122"/>
                <a:cs typeface="Avenir Next" pitchFamily="34" charset="-120"/>
              </a:rPr>
              <a:t> (1844)</a:t>
            </a:r>
          </a:p>
          <a:p>
            <a:pPr algn="l" marL="342900" indent="-342900">
              <a:spcAft>
                <a:spcPts val="1400"/>
              </a:spcAft>
              <a:buSzPct val="100000"/>
              <a:buChar char="•"/>
            </a:pPr>
            <a:r>
              <a:rPr sz="2000">
                <a:solidFill>
                  <a:schemeClr val="tx1"/>
                </a:solidFill>
                <a:latin typeface="Avenir Next" pitchFamily="34" charset="0"/>
                <a:ea typeface="Avenir Next" pitchFamily="34" charset="-122"/>
                <a:cs typeface="Avenir Next" pitchFamily="34" charset="-120"/>
              </a:rPr>
              <a:t>“It is like confessing a murder”: letter to Joseph Hooker, 1844</a:t>
            </a:r>
          </a:p>
          <a:p>
            <a:pPr algn="l" marL="342900" indent="-342900">
              <a:spcAft>
                <a:spcPts val="1400"/>
              </a:spcAft>
              <a:buSzPct val="100000"/>
              <a:buChar char="•"/>
            </a:pPr>
            <a:r>
              <a:rPr sz="2000">
                <a:solidFill>
                  <a:schemeClr val="tx1"/>
                </a:solidFill>
                <a:latin typeface="Avenir Next" pitchFamily="34" charset="0"/>
                <a:ea typeface="Avenir Next" pitchFamily="34" charset="-122"/>
                <a:cs typeface="Avenir Next" pitchFamily="34" charset="-120"/>
              </a:rPr>
              <a:t>Eight years classifying barnacles (1846–54)</a:t>
            </a:r>
          </a:p>
          <a:p>
            <a:pPr algn="l" marL="342900" indent="-342900">
              <a:spcAft>
                <a:spcPts val="1400"/>
              </a:spcAft>
              <a:buSzPct val="100000"/>
              <a:buChar char="•"/>
            </a:pPr>
            <a:r>
              <a:rPr sz="2000">
                <a:solidFill>
                  <a:schemeClr val="tx1"/>
                </a:solidFill>
                <a:latin typeface="Avenir Next" pitchFamily="34" charset="0"/>
                <a:ea typeface="Avenir Next" pitchFamily="34" charset="-122"/>
                <a:cs typeface="Avenir Next" pitchFamily="34" charset="-120"/>
              </a:rPr>
              <a:t>1856: began a huge book, with no hurry</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1005</a:t>
            </a:fld>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The final push: Wallace</a:t>
            </a:r>
          </a:p>
        </p:txBody>
      </p:sp>
      <p:pic>
        <p:nvPicPr>
          <p:cNvPr id="3" name="Picture Placeholder 2" descr="wallace.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Alfred Russel Wallace (1823–1913), collecting in the Malay Archipelago</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June 1858: sent Darwin an essay describing natural selection</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Lyell and Hooker arranged a joint reading at the Linnean Society, 1 July 1858</a:t>
            </a:r>
          </a:p>
          <a:p>
            <a:pPr algn="l" marL="342900" indent="-342900">
              <a:spcAft>
                <a:spcPts val="1400"/>
              </a:spcAft>
              <a:buSzPct val="100000"/>
              <a:buChar char="•"/>
            </a:pPr>
            <a:r>
              <a:rPr i="1" sz="1800">
                <a:solidFill>
                  <a:schemeClr val="tx1"/>
                </a:solidFill>
                <a:latin typeface="Avenir Next" pitchFamily="34" charset="0"/>
                <a:ea typeface="Avenir Next" pitchFamily="34" charset="-122"/>
                <a:cs typeface="Avenir Next" pitchFamily="34" charset="-120"/>
              </a:rPr>
              <a:t>On the Origin of Species</a:t>
            </a:r>
            <a:r>
              <a:rPr sz="1800">
                <a:solidFill>
                  <a:schemeClr val="tx1"/>
                </a:solidFill>
                <a:latin typeface="Avenir Next" pitchFamily="34" charset="0"/>
                <a:ea typeface="Avenir Next" pitchFamily="34" charset="-122"/>
                <a:cs typeface="Avenir Next" pitchFamily="34" charset="-120"/>
              </a:rPr>
              <a:t> followed in November 1859</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How the world reacted</a:t>
            </a:r>
          </a:p>
        </p:txBody>
      </p:sp>
      <p:pic>
        <p:nvPicPr>
          <p:cNvPr id="3" name="Picture Placeholder 2" descr="linnean.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Common descent: accepted by most scientists within about a decade</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Natural selection: doubted, even by supporters such as Thomas Huxley</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Accepted only with the “Modern Synthesis” of Darwin and Mendel, 1930s–40s</a:t>
            </a:r>
          </a:p>
          <a:p>
            <a:pPr algn="l" marL="342900" indent="-342900">
              <a:spcAft>
                <a:spcPts val="1400"/>
              </a:spcAft>
              <a:buSzPct val="100000"/>
              <a:buChar char="•"/>
            </a:pPr>
            <a:r>
              <a:rPr sz="1800">
                <a:solidFill>
                  <a:schemeClr val="tx1"/>
                </a:solidFill>
                <a:latin typeface="Avenir Next" pitchFamily="34" charset="0"/>
                <a:ea typeface="Avenir Next" pitchFamily="34" charset="-122"/>
                <a:cs typeface="Avenir Next" pitchFamily="34" charset="-120"/>
              </a:rPr>
              <a:t>That synthesis is the population genetics of this course</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lgn="l" indent="0" marL="0">
              <a:buNone/>
            </a:pPr>
            <a:r>
              <a:rPr b="1">
                <a:solidFill>
                  <a:schemeClr val="tx2"/>
                </a:solidFill>
                <a:latin typeface="Avenir Next" pitchFamily="34" charset="0"/>
                <a:ea typeface="Avenir Next" pitchFamily="34" charset="-122"/>
                <a:cs typeface="Avenir Next" pitchFamily="34" charset="-120"/>
              </a:rPr>
              <a:t>Key points</a:t>
            </a:r>
          </a:p>
        </p:txBody>
      </p:sp>
      <p:sp>
        <p:nvSpPr>
          <p:cNvPr id="3" name="Text Placeholder 2"/>
          <p:cNvSpPr>
            <a:spLocks noGrp="1"/>
          </p:cNvSpPr>
          <p:nvPr>
            <p:ph type="body" idx="102"/>
          </p:nvPr>
        </p:nvSpPr>
        <p:spPr/>
        <p:txBody>
          <a:bodyPr/>
          <a:lstStyle/>
          <a:p>
            <a:pPr algn="l" marL="342900" indent="-342900">
              <a:spcAft>
                <a:spcPts val="1400"/>
              </a:spcAft>
              <a:buSzPct val="100000"/>
              <a:buChar char="•"/>
            </a:pPr>
            <a:r>
              <a:rPr sz="1700">
                <a:solidFill>
                  <a:schemeClr val="tx1"/>
                </a:solidFill>
                <a:latin typeface="Avenir Next" pitchFamily="34" charset="0"/>
                <a:ea typeface="Avenir Next" pitchFamily="34" charset="-122"/>
                <a:cs typeface="Avenir Next" pitchFamily="34" charset="-120"/>
              </a:rPr>
              <a:t>Evolution: heritable change in populations</a:t>
            </a:r>
          </a:p>
          <a:p>
            <a:pPr algn="l" marL="342900" indent="-342900">
              <a:spcAft>
                <a:spcPts val="1400"/>
              </a:spcAft>
              <a:buSzPct val="100000"/>
              <a:buChar char="•"/>
            </a:pPr>
            <a:r>
              <a:rPr sz="1700">
                <a:solidFill>
                  <a:schemeClr val="tx1"/>
                </a:solidFill>
                <a:latin typeface="Avenir Next" pitchFamily="34" charset="0"/>
                <a:ea typeface="Avenir Next" pitchFamily="34" charset="-122"/>
                <a:cs typeface="Avenir Next" pitchFamily="34" charset="-120"/>
              </a:rPr>
              <a:t>Two theories: common descent (pattern) and natural selection (mechanism)</a:t>
            </a:r>
          </a:p>
          <a:p>
            <a:pPr algn="l" marL="342900" indent="-342900">
              <a:spcAft>
                <a:spcPts val="1400"/>
              </a:spcAft>
              <a:buSzPct val="100000"/>
              <a:buChar char="•"/>
            </a:pPr>
            <a:r>
              <a:rPr sz="1700">
                <a:solidFill>
                  <a:schemeClr val="tx1"/>
                </a:solidFill>
                <a:latin typeface="Avenir Next" pitchFamily="34" charset="0"/>
                <a:ea typeface="Avenir Next" pitchFamily="34" charset="-122"/>
                <a:cs typeface="Avenir Next" pitchFamily="34" charset="-120"/>
              </a:rPr>
              <a:t>Selection follows from variation, heritability and overproduction</a:t>
            </a:r>
          </a:p>
          <a:p>
            <a:pPr algn="l" marL="342900" indent="-342900">
              <a:spcAft>
                <a:spcPts val="1400"/>
              </a:spcAft>
              <a:buSzPct val="100000"/>
              <a:buChar char="•"/>
            </a:pPr>
            <a:r>
              <a:rPr sz="1700">
                <a:solidFill>
                  <a:schemeClr val="tx1"/>
                </a:solidFill>
                <a:latin typeface="Avenir Next" pitchFamily="34" charset="0"/>
                <a:ea typeface="Avenir Next" pitchFamily="34" charset="-122"/>
                <a:cs typeface="Avenir Next" pitchFamily="34" charset="-120"/>
              </a:rPr>
              <a:t>Fossils, geography and anatomy support common descent</a:t>
            </a:r>
          </a:p>
          <a:p>
            <a:pPr algn="l" marL="342900" indent="-342900">
              <a:spcAft>
                <a:spcPts val="1400"/>
              </a:spcAft>
              <a:buSzPct val="100000"/>
              <a:buChar char="•"/>
            </a:pPr>
            <a:r>
              <a:rPr sz="1700">
                <a:solidFill>
                  <a:schemeClr val="tx1"/>
                </a:solidFill>
                <a:latin typeface="Avenir Next" pitchFamily="34" charset="0"/>
                <a:ea typeface="Avenir Next" pitchFamily="34" charset="-122"/>
                <a:cs typeface="Avenir Next" pitchFamily="34" charset="-120"/>
              </a:rPr>
              <a:t>Missing piece: particulate (Mendelian) inheritance</a:t>
            </a:r>
          </a:p>
        </p:txBody>
      </p:sp>
      <p:sp>
        <p:nvSpPr>
          <p:cNvPr id="4" name="Text Placeholder 3"/>
          <p:cNvSpPr>
            <a:spLocks noGrp="1"/>
          </p:cNvSpPr>
          <p:nvPr>
            <p:ph type="body" idx="106"/>
          </p:nvPr>
        </p:nvSpPr>
        <p:spPr/>
        <p:txBody>
          <a:bodyPr/>
          <a:lstStyle/>
          <a:p>
            <a:pPr algn="l" marL="342900" indent="-342900">
              <a:spcAft>
                <a:spcPts val="1000"/>
              </a:spcAft>
              <a:buSzPct val="100000"/>
              <a:buChar char="•"/>
            </a:pPr>
            <a:r>
              <a:rPr b="1" sz="1500">
                <a:solidFill>
                  <a:schemeClr val="tx1"/>
                </a:solidFill>
                <a:latin typeface="Avenir Next" pitchFamily="34" charset="0"/>
                <a:ea typeface="Avenir Next" pitchFamily="34" charset="-122"/>
                <a:cs typeface="Avenir Next" pitchFamily="34" charset="-120"/>
              </a:rPr>
              <a:t>Read:</a:t>
            </a:r>
            <a:r>
              <a:rPr sz="1500">
                <a:solidFill>
                  <a:schemeClr val="tx1"/>
                </a:solidFill>
                <a:latin typeface="Avenir Next" pitchFamily="34" charset="0"/>
                <a:ea typeface="Avenir Next" pitchFamily="34" charset="-122"/>
                <a:cs typeface="Avenir Next" pitchFamily="34" charset="-120"/>
              </a:rPr>
              <a:t> Neal, chapters 1 and 2</a:t>
            </a:r>
          </a:p>
          <a:p>
            <a:pPr algn="l" marL="342900" indent="-342900">
              <a:spcAft>
                <a:spcPts val="1000"/>
              </a:spcAft>
              <a:buSzPct val="100000"/>
              <a:buChar char="•"/>
            </a:pPr>
            <a:r>
              <a:rPr b="1" sz="1500">
                <a:solidFill>
                  <a:schemeClr val="tx1"/>
                </a:solidFill>
                <a:latin typeface="Avenir Next" pitchFamily="34" charset="0"/>
                <a:ea typeface="Avenir Next" pitchFamily="34" charset="-122"/>
                <a:cs typeface="Avenir Next" pitchFamily="34" charset="-120"/>
              </a:rPr>
              <a:t>Practical:</a:t>
            </a:r>
            <a:r>
              <a:rPr sz="1500">
                <a:solidFill>
                  <a:schemeClr val="tx1"/>
                </a:solidFill>
                <a:latin typeface="Avenir Next" pitchFamily="34" charset="0"/>
                <a:ea typeface="Avenir Next" pitchFamily="34" charset="-122"/>
                <a:cs typeface="Avenir Next" pitchFamily="34" charset="-120"/>
              </a:rPr>
              <a:t> The Blind Watchmaker</a:t>
            </a:r>
          </a:p>
          <a:p>
            <a:pPr algn="l" marL="342900" indent="-342900">
              <a:spcAft>
                <a:spcPts val="1000"/>
              </a:spcAft>
              <a:buSzPct val="100000"/>
              <a:buChar char="•"/>
            </a:pPr>
            <a:r>
              <a:rPr b="1" sz="1500">
                <a:solidFill>
                  <a:schemeClr val="tx1"/>
                </a:solidFill>
                <a:latin typeface="Avenir Next" pitchFamily="34" charset="0"/>
                <a:ea typeface="Avenir Next" pitchFamily="34" charset="-122"/>
                <a:cs typeface="Avenir Next" pitchFamily="34" charset="-120"/>
              </a:rPr>
              <a:t>Next:</a:t>
            </a:r>
            <a:r>
              <a:rPr sz="1500">
                <a:solidFill>
                  <a:schemeClr val="tx1"/>
                </a:solidFill>
                <a:latin typeface="Avenir Next" pitchFamily="34" charset="0"/>
                <a:ea typeface="Avenir Next" pitchFamily="34" charset="-122"/>
                <a:cs typeface="Avenir Next" pitchFamily="34" charset="-120"/>
              </a:rPr>
              <a:t> Understanding natural selection (Neal ch. 3)</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1015</a:t>
            </a:fld>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pPr algn="l" indent="0" marL="0">
              <a:buNone/>
            </a:pPr>
            <a:r>
              <a:rPr b="1" spc="300" kern="0">
                <a:solidFill>
                  <a:srgbClr val="3A2A0C"/>
                </a:solidFill>
                <a:latin typeface="Avenir Next" pitchFamily="34" charset="0"/>
                <a:ea typeface="Avenir Next" pitchFamily="34" charset="-122"/>
                <a:cs typeface="Avenir Next" pitchFamily="34" charset="-120"/>
              </a:rPr>
              <a:t>PRACTICAL · R</a:t>
            </a:r>
          </a:p>
        </p:txBody>
      </p:sp>
      <p:sp>
        <p:nvSpPr>
          <p:cNvPr id="3" name="Title 2"/>
          <p:cNvSpPr>
            <a:spLocks noGrp="1"/>
          </p:cNvSpPr>
          <p:nvPr>
            <p:ph type="title" idx="102"/>
          </p:nvPr>
        </p:nvSpPr>
        <p:spPr/>
        <p:txBody>
          <a:bodyPr/>
          <a:lstStyle/>
          <a:p>
            <a:pPr algn="l" indent="0" marL="0">
              <a:buNone/>
            </a:pPr>
            <a:r>
              <a:rPr b="1" sz="3200">
                <a:solidFill>
                  <a:schemeClr val="tx1"/>
                </a:solidFill>
                <a:latin typeface="Avenir Next" pitchFamily="34" charset="0"/>
                <a:ea typeface="Avenir Next" pitchFamily="34" charset="-122"/>
                <a:cs typeface="Avenir Next" pitchFamily="34" charset="-120"/>
              </a:rPr>
              <a:t>Can random typing plus selection write a sentence?</a:t>
            </a:r>
          </a:p>
        </p:txBody>
      </p:sp>
      <p:sp>
        <p:nvSpPr>
          <p:cNvPr id="4" name="Text Placeholder 3"/>
          <p:cNvSpPr>
            <a:spLocks noGrp="1"/>
          </p:cNvSpPr>
          <p:nvPr>
            <p:ph type="body" idx="103"/>
          </p:nvPr>
        </p:nvSpPr>
        <p:spPr/>
        <p:txBody>
          <a:bodyPr/>
          <a:lstStyle/>
          <a:p>
            <a:pPr algn="l" marL="342900" indent="-342900">
              <a:spcAft>
                <a:spcPts val="1400"/>
              </a:spcAft>
              <a:buSzPct val="100000"/>
              <a:buFont typeface="+mj-lt"/>
              <a:buAutoNum type="arabicPeriod" startAt="1"/>
            </a:pPr>
            <a:r>
              <a:rPr>
                <a:solidFill>
                  <a:schemeClr val="tx1"/>
                </a:solidFill>
                <a:latin typeface="Avenir Next" pitchFamily="34" charset="0"/>
                <a:ea typeface="Avenir Next" pitchFamily="34" charset="-122"/>
                <a:cs typeface="Avenir Next" pitchFamily="34" charset="-120"/>
              </a:rPr>
              <a:t>Run the code with </a:t>
            </a:r>
            <a:r>
              <a:rPr>
                <a:solidFill>
                  <a:schemeClr val="tx1"/>
                </a:solidFill>
                <a:latin typeface="Menlo" pitchFamily="34" charset="0"/>
                <a:ea typeface="Avenir Next" pitchFamily="34" charset="-122"/>
                <a:cs typeface="Avenir Next" pitchFamily="34" charset="-120"/>
              </a:rPr>
              <a:t>selection &lt;- TRUE</a:t>
            </a:r>
            <a:r>
              <a:rPr>
                <a:solidFill>
                  <a:schemeClr val="tx1"/>
                </a:solidFill>
                <a:latin typeface="Avenir Next" pitchFamily="34" charset="0"/>
                <a:ea typeface="Avenir Next" pitchFamily="34" charset="-122"/>
                <a:cs typeface="Avenir Next" pitchFamily="34" charset="-120"/>
              </a:rPr>
              <a:t>, then with </a:t>
            </a:r>
            <a:r>
              <a:rPr>
                <a:solidFill>
                  <a:schemeClr val="tx1"/>
                </a:solidFill>
                <a:latin typeface="Menlo" pitchFamily="34" charset="0"/>
                <a:ea typeface="Avenir Next" pitchFamily="34" charset="-122"/>
                <a:cs typeface="Avenir Next" pitchFamily="34" charset="-120"/>
              </a:rPr>
              <a:t>selection &lt;- FALSE</a:t>
            </a:r>
          </a:p>
          <a:p>
            <a:pPr algn="l" marL="342900" indent="-342900">
              <a:spcAft>
                <a:spcPts val="1400"/>
              </a:spcAft>
              <a:buSzPct val="100000"/>
              <a:buFont typeface="+mj-lt"/>
              <a:buAutoNum type="arabicPeriod" startAt="1"/>
            </a:pPr>
            <a:r>
              <a:rPr>
                <a:solidFill>
                  <a:schemeClr val="tx1"/>
                </a:solidFill>
                <a:latin typeface="Avenir Next" pitchFamily="34" charset="0"/>
                <a:ea typeface="Avenir Next" pitchFamily="34" charset="-122"/>
                <a:cs typeface="Avenir Next" pitchFamily="34" charset="-120"/>
              </a:rPr>
              <a:t>How many generations does your phrase need? Try a longer phrase</a:t>
            </a:r>
          </a:p>
          <a:p>
            <a:pPr algn="l" marL="342900" indent="-342900">
              <a:spcAft>
                <a:spcPts val="1400"/>
              </a:spcAft>
              <a:buSzPct val="100000"/>
              <a:buFont typeface="+mj-lt"/>
              <a:buAutoNum type="arabicPeriod" startAt="1"/>
            </a:pPr>
            <a:r>
              <a:rPr>
                <a:solidFill>
                  <a:schemeClr val="tx1"/>
                </a:solidFill>
                <a:latin typeface="Avenir Next" pitchFamily="34" charset="0"/>
                <a:ea typeface="Avenir Next" pitchFamily="34" charset="-122"/>
                <a:cs typeface="Avenir Next" pitchFamily="34" charset="-120"/>
              </a:rPr>
              <a:t>In what ways is this unlike real natural selection?</a:t>
            </a:r>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3A2A0C"/>
                </a:solidFill>
                <a:latin typeface="Avenir Next"/>
                <a:ea typeface="Avenir Next"/>
                <a:cs typeface="Avenir Next"/>
              </a:defRPr>
            </a:lvl1pPr>
          </a:lstStyle>
          <a:p>
            <a:pPr algn="r"/>
            <a:fld id="{F7021451-1387-4CA6-816F-3879F97B5CBC}" type="slidenum">
              <a:rPr b="0" lang="en-US"/>
              <a:t>1011</a:t>
            </a:fld>
            <a:endParaRPr lang="en-US"/>
          </a:p>
        </p:txBody>
      </p:sp>
    </p:spTree>
  </p:cSld>
  <p:clrMapOvr>
    <a:masterClrMapping/>
  </p:clrMapOvr>
</p:sld>
</file>

<file path=ppt/theme/theme1.xml><?xml version="1.0" encoding="utf-8"?>
<a:theme xmlns:a="http://schemas.openxmlformats.org/drawingml/2006/main" name="BB512 Population Biology and Evolution">
  <a:themeElements>
    <a:clrScheme name="BB512 Population Biology and Evolution">
      <a:dk1>
        <a:srgbClr val="1F2623"/>
      </a:dk1>
      <a:lt1>
        <a:srgbClr val="FBFAF6"/>
      </a:lt1>
      <a:dk2>
        <a:srgbClr val="1F4D3F"/>
      </a:dk2>
      <a:lt2>
        <a:srgbClr val="EFEEE6"/>
      </a:lt2>
      <a:accent1>
        <a:srgbClr val="1F4D3F"/>
      </a:accent1>
      <a:accent2>
        <a:srgbClr val="C08A2E"/>
      </a:accent2>
      <a:accent3>
        <a:srgbClr val="A4503A"/>
      </a:accent3>
      <a:accent4>
        <a:srgbClr val="3E6E7E"/>
      </a:accent4>
      <a:accent5>
        <a:srgbClr val="9AAE9F"/>
      </a:accent5>
      <a:accent6>
        <a:srgbClr val="6E6F68"/>
      </a:accent6>
      <a:hlink>
        <a:srgbClr val="2D6F8A"/>
      </a:hlink>
      <a:folHlink>
        <a:srgbClr val="6B4E8A"/>
      </a:folHlink>
    </a:clrScheme>
    <a:fontScheme name="BB512 Population Biology and Evolution">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BB512 Population Biology and Evolution</dc:title>
  <dc:subject>PptxGenJS Presentation</dc:subject>
  <dc:creator>Owen Jones</dc:creator>
  <cp:lastModifiedBy>Owen Jones</cp:lastModifiedBy>
  <cp:revision>1</cp:revision>
  <dcterms:created xsi:type="dcterms:W3CDTF">2026-10-14T08:25:59Z</dcterms:created>
  <dcterms:modified xsi:type="dcterms:W3CDTF">2026-10-14T08:25:59Z</dcterms:modified>
</cp:coreProperties>
</file>